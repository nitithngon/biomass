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3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5C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90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Good morning / afternoon, advisor and committee. My name is Nitith Ngonchaiyaphum, a Master of</a:t>
            </a:r>
          </a:p>
          <a:p>
            <a:r>
              <a:t>Engineering student in Computer Engineering, Plan A2. Today I will present my thesis proposal:</a:t>
            </a:r>
          </a:p>
          <a:p>
            <a:r>
              <a:t>"Individual Tree Segmentation from Handheld LiDAR Point Clouds for DBH Estimation in Rubber</a:t>
            </a:r>
          </a:p>
          <a:p>
            <a:r>
              <a:t>Plantations using a Multi-channel CNN." My advisor is Dr. Sukhum Sattaratnamai.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outline. I will start with the introduction and the problem statement, review the</a:t>
            </a:r>
          </a:p>
          <a:p>
            <a:r>
              <a:t>most relevant prior work, define the scope, then walk through the methodology and what I have</a:t>
            </a:r>
          </a:p>
          <a:p>
            <a:r>
              <a:t>already done. Finally I will cover the experimental design, the expected outcome, and the timeline.</a:t>
            </a:r>
          </a:p>
          <a:p>
            <a:r>
              <a:t>Every slide is numbered to make questions easy during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DBH, the trunk diameter at breast height, is one of the most important variables for estimating</a:t>
            </a:r>
          </a:p>
          <a:p>
            <a:r>
              <a:t>biomass and for forest inventory. Traditionally it is measured by hand, tree by tree, which is</a:t>
            </a:r>
          </a:p>
          <a:p>
            <a:r>
              <a:t>slow and labor-intensive across a whole plantation. Handheld or backpack LiDAR changes the data</a:t>
            </a:r>
          </a:p>
          <a:p>
            <a:r>
              <a:t>side of this problem: walking through a plot with SLAM mapping, we capture a dense 3D point cloud</a:t>
            </a:r>
          </a:p>
          <a:p>
            <a:r>
              <a:t>in just minutes. The remaining challenge is turning that raw point cloud into reliable, per-tree</a:t>
            </a:r>
          </a:p>
          <a:p>
            <a:r>
              <a:t>DBH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get DBH per tree we really need two things: first separate the plot into individual trees, then</a:t>
            </a:r>
          </a:p>
          <a:p>
            <a:r>
              <a:t>fit the trunk near breast height. Classical point-cloud pipelines do this with hand-tuned rules —</a:t>
            </a:r>
          </a:p>
          <a:p>
            <a:r>
              <a:t>trunk extraction, clustering radius, height slicing — and they break down with occlusion, uneven</a:t>
            </a:r>
          </a:p>
          <a:p>
            <a:r>
              <a:t>point density, shrubs, and different scan paths. On the other end, 3D deep-learning methods such as</a:t>
            </a:r>
          </a:p>
          <a:p>
            <a:r>
              <a:t>TreeLearn segment very well, but they need a lot of GPU memory and domain-specific fine-tuning.</a:t>
            </a:r>
          </a:p>
          <a:p>
            <a:r>
              <a:t>So there is a missing middle: a method that stays lightweight like a 2D density CNN, yet keeps the</a:t>
            </a:r>
          </a:p>
          <a:p>
            <a:r>
              <a:t>vertical and breast-height evidence that the density-only image throws away. That gap is what this</a:t>
            </a:r>
          </a:p>
          <a:p>
            <a:r>
              <a:t>thesis targets.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can compress the whole thesis into one question: How can we transform handheld-LiDAR point clouds</a:t>
            </a:r>
          </a:p>
          <a:p>
            <a:r>
              <a:t>of row-planted rubber plantations into accurate individual-tree segments and breast-height DBH</a:t>
            </a:r>
          </a:p>
          <a:p>
            <a:r>
              <a:t>estimates, using a lightweight multi-channel top-view CNN that preserves vertical and breast-height</a:t>
            </a:r>
          </a:p>
          <a:p>
            <a:r>
              <a:t>evidence — while staying more efficient than, and at least as accurate as, heavy 3D methods such as</a:t>
            </a:r>
          </a:p>
          <a:p>
            <a:r>
              <a:t>TreeLearn on the same plots? Everything after this slide — scope, method, experiments — is in service</a:t>
            </a:r>
          </a:p>
          <a:p>
            <a:r>
              <a:t>of answering this one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Liu and colleagues, 2021, is my main reference because it follows the same two-stage logic I use:</a:t>
            </a:r>
          </a:p>
          <a:p>
            <a:r>
              <a:t>first segment individual trunks, then estimate DBH. They segment trunks from mobile-LiDAR point</a:t>
            </a:r>
          </a:p>
          <a:p>
            <a:r>
              <a:t>clouds using relative point density, and then fit circles at multiple heights with outlier removal</a:t>
            </a:r>
          </a:p>
          <a:p>
            <a:r>
              <a:t>to get DBH. The weakness is that the segmentation step depends on hand-crafted density scales and</a:t>
            </a:r>
          </a:p>
          <a:p>
            <a:r>
              <a:t>trunk assumptions that change with plot structure and scan path. My work keeps their segment-then-fit</a:t>
            </a:r>
          </a:p>
          <a:p>
            <a:r>
              <a:t>idea but replaces the rule-based front-end with a learned multi-channel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Proudman and colleagues, 2021, show that a handheld LiDAR is sufficient to estimate DBH online,</a:t>
            </a:r>
          </a:p>
          <a:p>
            <a:r>
              <a:t>processing each tree trunk during or just after scanning. This supports my efficiency motivation —</a:t>
            </a:r>
          </a:p>
          <a:p>
            <a:r>
              <a:t>we do not need a heavy survey-grade setup. However, their per-tree separation still struggles with</a:t>
            </a:r>
          </a:p>
          <a:p>
            <a:r>
              <a:t>occluded and noisy trunk observations. The figure shows the breast-height slice between one and one</a:t>
            </a:r>
          </a:p>
          <a:p>
            <a:r>
              <a:t>point six meters, which is the trunk evidence both they and I rely on for DBH.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Henrich and colleagues, 2024, propose TreeLearn, which is my main 3D comparison. It uses a 3D</a:t>
            </a:r>
          </a:p>
          <a:p>
            <a:r>
              <a:t>sparse-convolution network to predict, for every point, whether it belongs to a tree and an offset</a:t>
            </a:r>
          </a:p>
          <a:p>
            <a:r>
              <a:t>toward the tree center, then clusters those points into individual-tree instances. It is fully</a:t>
            </a:r>
          </a:p>
          <a:p>
            <a:r>
              <a:t>automatic and very accurate, but it needs 3D deep-learning infrastructure, significant GPU memory,</a:t>
            </a:r>
          </a:p>
          <a:p>
            <a:r>
              <a:t>and may need fine-tuning for a new domain. I will run TreeLearn on my rubber plots and compare both</a:t>
            </a:r>
          </a:p>
          <a:p>
            <a:r>
              <a:t>accuracy and efficiency against my lightweight 2D approach. The figure shows a plot segmented into</a:t>
            </a:r>
          </a:p>
          <a:p>
            <a:r>
              <a:t>individual trees, one color per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Shao and colleagues, 2024, perform large-scale forest inventory with mobile LiDAR using deep</a:t>
            </a:r>
          </a:p>
          <a:p>
            <a:r>
              <a:t>semantic segmentation and stem mapping, then fit DBH from the detected stems. It demonstrates that</a:t>
            </a:r>
          </a:p>
          <a:p>
            <a:r>
              <a:t>learned segmentation scales up to real inventory. But it is designed for large and complex natural</a:t>
            </a:r>
          </a:p>
          <a:p>
            <a:r>
              <a:t>forests, which makes it computationally heavy and harder to generalize to a small, structured,</a:t>
            </a:r>
          </a:p>
          <a:p>
            <a:r>
              <a:t>row-planted rubber plantation. That contrast is exactly the lighter niche my method aims for.</a:t>
            </a:r>
          </a:p>
          <a:p>
            <a:r>
              <a:t>The figure shows detected stem positions from a top-down view, which is also how I build my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scope is deliberately narrow. The target is row-planted rubber plantations, where trees already</a:t>
            </a:r>
          </a:p>
          <a:p>
            <a:r>
              <a:t>grow in regular rows — this structure is something the method can exploit. The sensor is handheld</a:t>
            </a:r>
          </a:p>
          <a:p>
            <a:r>
              <a:t>LiDAR with SLAM, and I have twelve plots. The approach is a multi-channel top-view raster fed to a</a:t>
            </a:r>
          </a:p>
          <a:p>
            <a:r>
              <a:t>CNN/YOLO detector for tree locations, followed by circle or cylinder fitting for DBH. I compare</a:t>
            </a:r>
          </a:p>
          <a:p>
            <a:r>
              <a:t>against a single-channel density CNN, against TreeLearn as the 3D method, and against a point-cloud</a:t>
            </a:r>
          </a:p>
          <a:p>
            <a:r>
              <a:t>baseline, measuring both accuracy and efficiency. Out of scope: other species or natural forests</a:t>
            </a:r>
          </a:p>
          <a:p>
            <a:r>
              <a:t>and non-row layouts, real-time on-device inference, and designing the LiDAR hardware or the SLAM</a:t>
            </a:r>
          </a:p>
          <a:p>
            <a:r>
              <a:t>algorithm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overall system. Reading left to right: the gray boxes — LiDAR capture with SLAM, and the</a:t>
            </a:r>
          </a:p>
          <a:p>
            <a:r>
              <a:t>downstream biomass estimation — are out of scope; I use the captured clouds and stop at DBH. The blue</a:t>
            </a:r>
          </a:p>
          <a:p>
            <a:r>
              <a:t>boxes are my four modules. Green dots mean a module is already implemented: data preparation, feature</a:t>
            </a:r>
          </a:p>
          <a:p>
            <a:r>
              <a:t>rasterization, and individual-tree segmentation are done. The red dot on module four means DBH</a:t>
            </a:r>
          </a:p>
          <a:p>
            <a:r>
              <a:t>extraction and evaluation is the main remaining work, together with running the TreeLearn and</a:t>
            </a:r>
          </a:p>
          <a:p>
            <a:r>
              <a:t>point-cloud baselines for the comparison. The next slides describe each module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one, data preparation, is done. First I standardize the raw scans — convert PCD or LAS,</a:t>
            </a:r>
          </a:p>
          <a:p>
            <a:r>
              <a:t>filter noise, rotate, and align the coordinate frame to the field tree-location labels. Second I</a:t>
            </a:r>
          </a:p>
          <a:p>
            <a:r>
              <a:t>estimate the local ground surface, compute height-above-ground for every point, and split the twelve</a:t>
            </a:r>
          </a:p>
          <a:p>
            <a:r>
              <a:t>plots at the plot level so no plot leaks between train, validation, and test. My contribution here</a:t>
            </a:r>
          </a:p>
          <a:p>
            <a:r>
              <a:t>is the complete, repeatable preparation workflow across all twelve 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two, feature rasterization, is also done. I turn each 3D plot into a top-view image with</a:t>
            </a:r>
          </a:p>
          <a:p>
            <a:r>
              <a:t>three physically meaningful channels. Red is point density, like the old single-channel work. Green</a:t>
            </a:r>
          </a:p>
          <a:p>
            <a:r>
              <a:t>is the ninety-fifth percentile of height above ground, capturing canopy and vertical structure</a:t>
            </a:r>
          </a:p>
          <a:p>
            <a:r>
              <a:t>robustly. Blue counts points in the one-to-one-point-six-meter band, emphasizing trunk evidence near</a:t>
            </a:r>
          </a:p>
          <a:p>
            <a:r>
              <a:t>breast height. The result is an ordinary RGB image, so the existing CNN pipeline works unchanged, but</a:t>
            </a:r>
          </a:p>
          <a:p>
            <a:r>
              <a:t>now it carries vertical and breast-height information, not just density.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three, individual-tree segmentation, is implemented for our detector. I train a YOLOv11 model</a:t>
            </a:r>
          </a:p>
          <a:p>
            <a:r>
              <a:t>on the three-channel raster to predict tree centers, using fixed two-meter boxes from the field X-Y</a:t>
            </a:r>
          </a:p>
          <a:p>
            <a:r>
              <a:t>labels. Importantly, because the channels are physical features, I disable color augmentation — color</a:t>
            </a:r>
          </a:p>
          <a:p>
            <a:r>
              <a:t>jitter would corrupt their meaning — while still allowing geometric augmentation. For the comparison,</a:t>
            </a:r>
          </a:p>
          <a:p>
            <a:r>
              <a:t>I use the same plot split against a single-channel density CNN, against TreeLearn, and against a</a:t>
            </a:r>
          </a:p>
          <a:p>
            <a:r>
              <a:t>point-cloud baseline. The density-CNN comparison is done; running TreeLearn on these plots is part of</a:t>
            </a:r>
          </a:p>
          <a:p>
            <a:r>
              <a:t>the remaining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Module four, DBH extraction and evaluation, is the main remaining work. For each predicted tree, I</a:t>
            </a:r>
          </a:p>
          <a:p>
            <a:r>
              <a:t>crop candidate trunk points around the breast-height band, then fit a circle or cylinder near one</a:t>
            </a:r>
          </a:p>
          <a:p>
            <a:r>
              <a:t>point three meters to estimate DBH, using multiple height bins with RANSAC and outlier removal to</a:t>
            </a:r>
          </a:p>
          <a:p>
            <a:r>
              <a:t>handle noisy trunks. Finally I compare estimated DBH against the field measurements. This module is</a:t>
            </a:r>
          </a:p>
          <a:p>
            <a:r>
              <a:t>not implemented yet — it is the core contribution I will build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is already done. Modules one through three run end-to-end over all twelve plots. I have</a:t>
            </a:r>
          </a:p>
          <a:p>
            <a:r>
              <a:t>generated the multi-channel rasters and trained YOLOv11 detectors, and I trained four multi-channel</a:t>
            </a:r>
          </a:p>
          <a:p>
            <a:r>
              <a:t>configurations and compared them against the single-channel density baseline on the same split. The</a:t>
            </a:r>
          </a:p>
          <a:p>
            <a:r>
              <a:t>best multi-channel model reaches about zero point six one mAP at 50-95, and about zero point nine nine</a:t>
            </a:r>
          </a:p>
          <a:p>
            <a:r>
              <a:t>at mAP-50. The clearest finding so far is that initializing from a density-pretrained model strongly</a:t>
            </a:r>
          </a:p>
          <a:p>
            <a:r>
              <a:t>beats generic pretraining — about zero point six one versus zero point three six — so transfer from the</a:t>
            </a:r>
          </a:p>
          <a:p>
            <a:r>
              <a:t>single-channel task really helps. What remains is the DBH module, the TreeLearn and point-cloud</a:t>
            </a:r>
          </a:p>
          <a:p>
            <a:r>
              <a:t>comparison, and the efficiency measurements.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measure three things. First, segmentation accuracy — precision, recall, F1, tree detection rate,</a:t>
            </a:r>
          </a:p>
          <a:p>
            <a:r>
              <a:t>and mAP at fifty and fifty-to-ninety-five. Second, DBH accuracy — mean absolute error and RMSE against</a:t>
            </a:r>
          </a:p>
          <a:p>
            <a:r>
              <a:t>field DBH, any bias across plots, and how missed or merged trees propagate into DBH error. Third,</a:t>
            </a:r>
          </a:p>
          <a:p>
            <a:r>
              <a:t>efficiency — runtime for preprocessing and inference, and peak memory, directly versus TreeLearn on</a:t>
            </a:r>
          </a:p>
          <a:p>
            <a:r>
              <a:t>the same plots. The key to fairness is that every method uses the identical plot-level split, image</a:t>
            </a:r>
          </a:p>
          <a:p>
            <a:r>
              <a:t>size, box size, epoch budget, and augmentation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dataset is twelve rubber-plantation plots captured with handheld LiDAR and SLAM. Labels are</a:t>
            </a:r>
          </a:p>
          <a:p>
            <a:r>
              <a:t>field-measured tree X-Y positions and DBH, one CSV per plot. Each plot becomes a single three-hundred-</a:t>
            </a:r>
          </a:p>
          <a:p>
            <a:r>
              <a:t>twenty by three-hundred-twenty top-view image at twelve-and-a-half centimeters per pixel, covering</a:t>
            </a:r>
          </a:p>
          <a:p>
            <a:r>
              <a:t>about forty meters. I split by plot to prevent leakage. Two characteristics matter: the trees grow in</a:t>
            </a:r>
          </a:p>
          <a:p>
            <a:r>
              <a:t>regular rows, which is a strong spatial prior the model can exploit; and with only twelve plots this</a:t>
            </a:r>
          </a:p>
          <a:p>
            <a:r>
              <a:t>is a small-data regime, which is why transfer learning and augmentation are important. The figures</a:t>
            </a:r>
          </a:p>
          <a:p>
            <a:r>
              <a:t>show one segmented plot and the rasterized inputs.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expect four outcomes. One: a validated multi-channel segmentation pipeline that turns handheld-LiDAR</a:t>
            </a:r>
          </a:p>
          <a:p>
            <a:r>
              <a:t>clouds into per-tree detections using density, height, and breast-height evidence. Two: DBH-ready tree</a:t>
            </a:r>
          </a:p>
          <a:p>
            <a:r>
              <a:t>crops — the trunk points for each predicted tree, ready for fitting. Three: a controlled accuracy-and-</a:t>
            </a:r>
          </a:p>
          <a:p>
            <a:r>
              <a:t>efficiency benchmark comparing the multi-channel CNN against the density CNN, TreeLearn, and a</a:t>
            </a:r>
          </a:p>
          <a:p>
            <a:r>
              <a:t>point-cloud baseline on the same plots. And four: an analysis of how segmentation errors — missed,</a:t>
            </a:r>
          </a:p>
          <a:p>
            <a:r>
              <a:t>merged, or false trees — propagate into DBH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plan runs about four months of work from the literature review through to publication, plus one</a:t>
            </a:r>
          </a:p>
          <a:p>
            <a:r>
              <a:t>to two months for the presentation and examination. Data preparation and feature rasterization are</a:t>
            </a:r>
          </a:p>
          <a:p>
            <a:r>
              <a:t>already finished. Segmentation and the baseline-and-TreeLearn comparison run through the summer; the</a:t>
            </a:r>
          </a:p>
          <a:p>
            <a:r>
              <a:t>DBH module follows; then experiments and the accuracy-efficiency analysis; and finally writing,</a:t>
            </a:r>
          </a:p>
          <a:p>
            <a:r>
              <a:t>publication, and the defense. The shaded cells show the planned span of each task.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Thank you for your attention. I am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8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AB443-B28F-429B-8A98-3F1AB79B9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D9D9A4-7AFF-4701-AD6B-9CF7D9F06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DE3E21-EA7A-4932-863D-E14408232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05C35-DB3C-4945-BAAC-4C8A6BD5078D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D596F2-D16A-466A-8823-BB0EB86CC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06C63-26D0-4005-9B7F-A5B3D971A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AC2407-5E29-4FF0-9185-718B880FA5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D7E29D-E78B-4CAB-93E6-55CE8AFF6B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8428" y="539963"/>
            <a:ext cx="2721301" cy="98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017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11721-13A2-45F3-BC00-B69732C38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BAA96E-51BD-42A9-9E29-755B46904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3C2243-E35A-41A5-B360-E8E51B46C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6BB20-4AC4-4165-B2FE-33C5A279E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9CEAA8B1-1CD8-4CCA-8D5D-8A66C5BCA5F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CDE1C8-795C-4114-8F6A-5CE49F3E8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167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8A2C0-F021-413A-81DA-3DA36E1DC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2" y="2315418"/>
            <a:ext cx="10515600" cy="1306091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036C10-4E80-49B4-AB60-D47990A1F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6712" y="364849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7793-A95D-41EA-90F9-BA32DE321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03EC6-78B3-4A29-B694-656B24564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F0953-9452-40BF-8F76-CDE095C27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A0B976B-A4FF-465F-9D0A-DA1236A0C08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022" y="286155"/>
            <a:ext cx="2314575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566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8D600237-BB04-40BF-8F11-DF1FB90693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B9FF0-5109-4B7A-8E5C-B33FA44EC0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49BF98-7719-4943-9AE5-EE3E8E559B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CD66A5-65F0-4577-9C6A-4B6E5E130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46FC2F-2EC2-4D49-AFFA-417C3F122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C7C693-D167-4473-81F0-060ED586B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693FCFB-43C4-4CFD-A5F8-951AF5CE9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6120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307A27B4-8C48-48BA-A185-88DC01DB51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C6957-9DE9-4B0F-BA3E-B628B82356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FEB2AC-ABDD-449D-9B27-6947A13E88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7266F5-D5CA-4FF3-8062-D0F919520A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9121D6-CB7F-4AC8-8E55-12AEB3FA7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12C8448-E6C2-4B6B-8ECB-8FD1F228B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64E75E-CF15-44BC-AA46-49E280EC6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54EDF-AB64-4046-A841-C769FD658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032BFEA-1782-421D-A808-8FEFB59D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5610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7FDCC-8011-4A73-A1BA-AE883F359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E911AD-85C1-4D79-8FB5-7B18EB2F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EEAE58-F660-4873-99B3-5C1F2BBA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17FCF27-DFE6-45BF-8B97-455F814520A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C02B6A6-26C8-4BED-87C6-DCA123464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1998"/>
            <a:ext cx="9145385" cy="485775"/>
          </a:xfrm>
        </p:spPr>
        <p:txBody>
          <a:bodyPr>
            <a:noAutofit/>
          </a:bodyPr>
          <a:lstStyle>
            <a:lvl1pPr>
              <a:defRPr sz="3200" b="0">
                <a:solidFill>
                  <a:schemeClr val="bg1"/>
                </a:solidFill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25088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842280-686F-42D9-953D-E18A6E1B0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DD8D1D-C986-40D9-BF17-DC1720B9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EDD1DB-8010-45A0-8513-0DD132E4D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113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E2CC-5022-44A0-B943-E81BBEE7A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1F0BF-77BF-49E0-B2B6-F752465636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 sz="2800"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 sz="2400"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 sz="2000"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 sz="2000"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D70A2E-3B92-4BD9-90DF-016DAA5CB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BB13D-2DDD-4407-82C7-C2DAAD568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C3787E-B4C5-45F4-8073-9CF7919E5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FBC7E-B042-45FC-8690-D6499952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8E099FC-652C-4934-917E-A186B3BF89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14CF809-E8F1-4C64-9867-A6D7E026C5F3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5424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C7C4C-9CE0-48FB-96F0-FC2ACC6C5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3DAF1F-CAA5-41D3-BC28-488C4F9E18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586646-5BC3-4B11-9F0B-977108417C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434828-6B04-4AEB-88E3-B9435C74C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D64CF5-2ABE-4459-8437-87CCB6525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4A871-4618-4134-B3A9-C604D2AAE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9B80203-704A-46C9-AED0-0D199AC95BB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C646AD71-C27F-433F-9E42-0F2B61952FB7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154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E56E2F-323D-4C6E-9975-F2788B3624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35847-82F4-4FFA-8C15-BF861E824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A437B-30C2-4669-BC30-A768B9544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DA8FB-CBEC-4DD4-9F11-266F8FED5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72E1EE9-2AD5-408B-9272-770376D8950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AD983AA-00DF-4B90-BFA2-D00FADAF33C8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659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91473F-B276-4D83-A63E-EA562F0095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1148575"/>
            <a:ext cx="2628900" cy="5028388"/>
          </a:xfrm>
        </p:spPr>
        <p:txBody>
          <a:bodyPr vert="eaVert"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661843-944E-4434-B310-4526D4E2A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148575"/>
            <a:ext cx="7734300" cy="5028387"/>
          </a:xfrm>
        </p:spPr>
        <p:txBody>
          <a:bodyPr vert="eaVert"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  <a:lvl2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2pPr>
            <a:lvl3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3pPr>
            <a:lvl4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4pPr>
            <a:lvl5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072E5-541B-402E-B435-119295176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7EE05C35-DB3C-4945-BAAC-4C8A6BD5078D}" type="datetimeFigureOut">
              <a:rPr lang="en-US" smtClean="0"/>
              <a:pPr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3031E-F732-4FCD-A1D7-B6F699D7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B08CDD-FF32-4653-AB76-732DF31F7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CHULALONGKORN" panose="02000506050000020004" pitchFamily="50" charset="-34"/>
                <a:cs typeface="CHULALONGKORN" panose="02000506050000020004" pitchFamily="50" charset="-34"/>
              </a:defRPr>
            </a:lvl1pPr>
          </a:lstStyle>
          <a:p>
            <a:fld id="{2EAC2407-5E29-4FF0-9185-718B880FA5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48DD8EC-3596-49D0-9B92-DC43F1946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0" cy="946150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49FF1EC4-8767-4C38-9694-AA33D19F165C}"/>
              </a:ext>
            </a:extLst>
          </p:cNvPr>
          <p:cNvSpPr txBox="1">
            <a:spLocks/>
          </p:cNvSpPr>
          <p:nvPr userDrawn="1"/>
        </p:nvSpPr>
        <p:spPr>
          <a:xfrm>
            <a:off x="838200" y="281998"/>
            <a:ext cx="9145385" cy="48577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kern="1200">
                <a:solidFill>
                  <a:schemeClr val="bg1"/>
                </a:solidFill>
                <a:latin typeface="CHULALONGKORN" panose="02000506050000020004" pitchFamily="50" charset="-34"/>
                <a:ea typeface="+mj-ea"/>
                <a:cs typeface="CHULALONGKORN" panose="02000506050000020004" pitchFamily="50" charset="-34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07271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F81AEF-D596-45E0-813C-5333F97E5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C71BE-C14B-4ED1-BE1E-F42470EBE4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D304CB-F0D8-45FD-95B7-39B283804D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05C35-DB3C-4945-BAAC-4C8A6BD5078D}" type="datetimeFigureOut">
              <a:rPr lang="en-US" smtClean="0"/>
              <a:t>7/21/2020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61AC8D-52DD-434E-A5C2-0DB22466D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AD6AAB-B7BC-424C-869E-DF5CB2C0E7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2407-5E29-4FF0-9185-718B880FA5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85544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6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5840" y="1325880"/>
            <a:ext cx="10149840" cy="201168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2900" b="1" i="0">
                <a:solidFill>
                  <a:srgbClr val="FFFFFF"/>
                </a:solidFill>
                <a:latin typeface="Arial"/>
              </a:rPr>
              <a:t>Individual Tree Segmentation from Handheld LiDAR Point Clouds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Arial"/>
              </a:rPr>
              <a:t>for DBH Estimation in Rubber Plantations using Multi-channel 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11880"/>
            <a:ext cx="85039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THESIS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97680"/>
            <a:ext cx="8503920" cy="1828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FFFFFF"/>
                </a:solidFill>
                <a:latin typeface="Arial"/>
              </a:rPr>
              <a:t>Nitith Ngonchaiyaphum   6872046721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Master of Engineering: Computer Engineering (CM)  Plan A2</a:t>
            </a:r>
          </a:p>
          <a:p>
            <a:pPr algn="ctr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FFFFFF"/>
                </a:solidFill>
                <a:latin typeface="Arial"/>
              </a:rPr>
              <a:t>Advisor:  Dr. Sukhum Sattaratnamai</a:t>
            </a:r>
          </a:p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Department of Computer Engineering, Faculty of Engineering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rial"/>
              </a:rPr>
              <a:t>Chulalongkorn University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37360"/>
            <a:ext cx="9601200" cy="45720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1.   Introduction  (motivation → problem statement)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2.   Literature Review &amp; Related Work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3.   Scope of Work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4.   Methodology  (system overview, modules, preliminary work)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5.   Experimental Design &amp; Dataset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6.   Expected Outcome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0" i="0">
                <a:solidFill>
                  <a:srgbClr val="222B2E"/>
                </a:solidFill>
                <a:latin typeface="Arial"/>
              </a:rPr>
              <a:t>7.   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438912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22B2E"/>
                </a:solidFill>
                <a:latin typeface="Arial"/>
              </a:rPr>
              <a:t>•  DBH (diameter at breast height, ~1.3 m) is a key tree-level variable for biomass and forest inventory.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22B2E"/>
                </a:solidFill>
                <a:latin typeface="Arial"/>
              </a:rPr>
              <a:t>•  Measuring DBH by hand over a whole plantation is slow and labor-intensive.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22B2E"/>
                </a:solidFill>
                <a:latin typeface="Arial"/>
              </a:rPr>
              <a:t>•  Handheld / backpack LiDAR with SLAM captures dense 3D structure of a plot in minutes.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00"/>
              </a:spcAft>
            </a:pPr>
            <a:r>
              <a:rPr sz="1700" b="0" i="0">
                <a:solidFill>
                  <a:srgbClr val="222B2E"/>
                </a:solidFill>
                <a:latin typeface="Arial"/>
              </a:rPr>
              <a:t>•  But a raw point cloud is not an answer yet — it must become per-tree measurements.</a:t>
            </a:r>
          </a:p>
        </p:txBody>
      </p:sp>
      <p:pic>
        <p:nvPicPr>
          <p:cNvPr id="5" name="Picture 4" descr="pc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43272"/>
            <a:ext cx="5120640" cy="2988575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4868423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Handheld-LiDAR point cloud of one rubber plot (colored by height)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Introduction — The Gap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943600" cy="23774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Getting per-tree DBH needs two steps: separate individual trees, then fit the trunk.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Rule-based point-cloud pipelines (trunk extraction, clustering, slicing) are sensitive to occlusion, uneven density, shrubs, and scan path.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3D deep methods (e.g. TreeLearn) segment well but need GPU memory and domain fine-tuning.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297680"/>
            <a:ext cx="3383280" cy="1417320"/>
          </a:xfrm>
          <a:prstGeom prst="roundRect">
            <a:avLst/>
          </a:prstGeom>
          <a:solidFill>
            <a:srgbClr val="E2E4E6"/>
          </a:solidFill>
          <a:ln w="15875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22B2E"/>
                </a:solidFill>
                <a:latin typeface="Arial"/>
              </a:rPr>
              <a:t>Single-channel
density CNN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light, but loses 3D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4297680"/>
            <a:ext cx="3383280" cy="1417320"/>
          </a:xfrm>
          <a:prstGeom prst="roundRect">
            <a:avLst/>
          </a:prstGeom>
          <a:solidFill>
            <a:srgbClr val="DDECF7"/>
          </a:solidFill>
          <a:ln w="15875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143A5C"/>
                </a:solidFill>
                <a:latin typeface="Arial"/>
              </a:rPr>
              <a:t>Multi-channel CNN
(this work)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43A5C"/>
                </a:solidFill>
                <a:latin typeface="Arial"/>
              </a:rPr>
              <a:t>light + keeps vertical / breast-height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66760" y="4297680"/>
            <a:ext cx="3383280" cy="1417320"/>
          </a:xfrm>
          <a:prstGeom prst="roundRect">
            <a:avLst/>
          </a:prstGeom>
          <a:solidFill>
            <a:srgbClr val="E2E4E6"/>
          </a:solidFill>
          <a:ln w="15875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222B2E"/>
                </a:solidFill>
                <a:latin typeface="Arial"/>
              </a:rPr>
              <a:t>3D point-cloud
(TreeLearn)</a:t>
            </a:r>
          </a:p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accurate, but heavy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977639"/>
            <a:ext cx="1060704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A0006D"/>
                </a:solidFill>
                <a:latin typeface="Arial"/>
              </a:rPr>
              <a:t>The “missing middle”: an efficient method that still preserves DBH-relevant 3D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332720" cy="2468880"/>
          </a:xfrm>
          <a:prstGeom prst="roundRect">
            <a:avLst>
              <a:gd name="adj" fmla="val 6000"/>
            </a:avLst>
          </a:prstGeom>
          <a:solidFill>
            <a:srgbClr val="F7E8F1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A0006D"/>
                </a:solidFill>
                <a:latin typeface="Arial"/>
              </a:rPr>
              <a:t>How can we transform handheld-LiDAR point clouds of row-planted rubber plantations into accurate individual-tree segments and breast-height (DBH) estimates using a lightweight multi-channel top-view CNN that preserves vertical and breast-height evidence — while staying more efficient than, and at least as accurate as, heavy 3D point-cloud methods such as TreeLearn on the same plots?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00600"/>
            <a:ext cx="10332720" cy="4572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606A6E"/>
                </a:solidFill>
                <a:latin typeface="Arial"/>
              </a:rPr>
              <a:t>This single question defines what the thesis will build, compare, and measure.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800" b="1" i="0">
                <a:solidFill>
                  <a:srgbClr val="FFFFFF"/>
                </a:solidFill>
                <a:latin typeface="Arial"/>
              </a:rPr>
              <a:t>Related Work — Liu et al. 2021  (main reference)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What they 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Segment trunks from mobile-LiDAR point clouds using relative point density, then estimate DBH by multi-height circle fitting with outlier removal.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Relation to this work: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Closest pipeline to ours (segment → DBH). It relies on hand-crafted density scales and trunk assumptions — we replace the segmentation front-end with a learned multi-channel CNN.</a:t>
            </a:r>
          </a:p>
        </p:txBody>
      </p:sp>
      <p:pic>
        <p:nvPicPr>
          <p:cNvPr id="5" name="Picture 4" descr="raster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787" y="1783080"/>
            <a:ext cx="3532706" cy="329184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5111496"/>
            <a:ext cx="50749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Top-view density raster of one rubber plot — rows of trees are clearly visible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solidFill>
            <a:srgbClr val="F7ECF3"/>
          </a:solidFill>
          <a:ln w="9525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06A6E"/>
                </a:solidFill>
                <a:latin typeface="Arial"/>
              </a:rPr>
              <a:t>[1] Liu, L., Zhang, A., Xiao, S., Hu, S., He, N., Pang, H., Zhang, X., Yang, S. 2021. “Single Tree Segmentation and Diameter at Breast Height Estimation With Mobile LiDAR.” IEEE Access 9: 24314–24325.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Related Work — Proudman et al. 2021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What they 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Estimate DBH online from a handheld-LiDAR SLAM map with per-tree trunk processing during/after scanning.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Relation to this work: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Confirms handheld LiDAR is enough for DBH and motivates the efficiency goal; their tree separation is still sensitive to occluded / noisy trunks — our learned segmentation aims to be more robust.</a:t>
            </a:r>
          </a:p>
        </p:txBody>
      </p:sp>
      <p:pic>
        <p:nvPicPr>
          <p:cNvPr id="5" name="Picture 4" descr="breast_s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990310"/>
            <a:ext cx="5074920" cy="287738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4904266"/>
            <a:ext cx="50749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Breast-height slice (1.0–1.6 m) across the rows — the trunk evidence used for DBH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solidFill>
            <a:srgbClr val="F7ECF3"/>
          </a:solidFill>
          <a:ln w="9525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06A6E"/>
                </a:solidFill>
                <a:latin typeface="Arial"/>
              </a:rPr>
              <a:t>[2] Proudman, A., Ramezani, M., Fallon, M. 2021. “Online Estimation of Diameter at Breast Height (DBH) of Forest Trees Using a Handheld LiDAR.” 2021 European Conference on Mobile Robots (ECMR): 1–7.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1800" b="1" i="0">
                <a:solidFill>
                  <a:srgbClr val="FFFFFF"/>
                </a:solidFill>
                <a:latin typeface="Arial"/>
              </a:rPr>
              <a:t>Related Work — Henrich et al. 2024  (TreeLearn)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What they 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A 3D sparse-convolution network predicts tree/non-tree scores and per-point offsets, then clusters points into individual-tree instances (fully automatic).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Relation to this work: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This is my main 3D comparison — strong, general segmentation, but needs 3D DL infrastructure, GPU memory, and possible fine-tuning. I benchmark accuracy AND efficiency against it on the same plots.</a:t>
            </a:r>
          </a:p>
        </p:txBody>
      </p:sp>
      <p:pic>
        <p:nvPicPr>
          <p:cNvPr id="5" name="Picture 4" descr="pc_segme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060631"/>
            <a:ext cx="5074920" cy="2736737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4833944"/>
            <a:ext cx="50749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3D point cloud segmented into individual trees (each color = one tree instance)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solidFill>
            <a:srgbClr val="F7ECF3"/>
          </a:solidFill>
          <a:ln w="9525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06A6E"/>
                </a:solidFill>
                <a:latin typeface="Arial"/>
              </a:rPr>
              <a:t>[3] Henrich, J., van Delden, J., Seidel, D., Kneib, T., Ecker, A. S. 2024. “TreeLearn: A Deep Learning Method for Segmenting Individual Trees from Ground-Based LiDAR Forest Point Clouds.” Ecological Informatics 84: 102888.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Related Work — Shao et al.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852160" cy="32918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What they do: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Deep semantic segmentation + stem mapping for large-scale natural-forest inventory, fitting DBH from detected stems.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600" b="0" i="0">
                <a:solidFill>
                  <a:srgbClr val="222B2E"/>
                </a:solidFill>
                <a:latin typeface="Arial"/>
              </a:rPr>
              <a:t>•  Relation to this work: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0" i="0">
                <a:solidFill>
                  <a:srgbClr val="606A6E"/>
                </a:solidFill>
                <a:latin typeface="Arial"/>
              </a:rPr>
              <a:t>      –  Shows learned segmentation scales to inventory, but is built for large, complex natural forests — heavier than needed for structured, row-planted rubber plots, which is exactly our lighter niche.</a:t>
            </a:r>
          </a:p>
        </p:txBody>
      </p:sp>
      <p:pic>
        <p:nvPicPr>
          <p:cNvPr id="5" name="Picture 4" descr="stems_t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67689"/>
            <a:ext cx="5074920" cy="2522621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4726886"/>
            <a:ext cx="50749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Top-down view of detected stem positions used as tree-location labels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897880"/>
            <a:ext cx="11064240" cy="566928"/>
          </a:xfrm>
          <a:prstGeom prst="rect">
            <a:avLst/>
          </a:prstGeom>
          <a:solidFill>
            <a:srgbClr val="F7ECF3"/>
          </a:solidFill>
          <a:ln w="9525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606A6E"/>
                </a:solidFill>
                <a:latin typeface="Arial"/>
              </a:rPr>
              <a:t>[4] Shao, J., Lin, Y.-C., Wingren, C., Shin, S.-Y., Fei, W., Carpenter, J., Habib, A., Fei, S. 2024. “Large-Scale Inventory in Natural Forests with Mobile LiDAR Point Clouds.” Science of Remote Sensing 10: 100168.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Scope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943600" cy="448056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Target area: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606A6E"/>
                </a:solidFill>
                <a:latin typeface="Arial"/>
              </a:rPr>
              <a:t>      –  Row-planted rubber plantations (trees already grow in regular rows).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Sensor: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606A6E"/>
                </a:solidFill>
                <a:latin typeface="Arial"/>
              </a:rPr>
              <a:t>      –  Handheld LiDAR point clouds with SLAM mapping (12 plots).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Approach: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606A6E"/>
                </a:solidFill>
                <a:latin typeface="Arial"/>
              </a:rPr>
              <a:t>      –  Multi-channel top-view raster + CNN/YOLO for tree detection; DBH by circle/cylinder fitting.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550" b="0" i="0">
                <a:solidFill>
                  <a:srgbClr val="222B2E"/>
                </a:solidFill>
                <a:latin typeface="Arial"/>
              </a:rPr>
              <a:t>•  Compared against: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450" b="0" i="0">
                <a:solidFill>
                  <a:srgbClr val="606A6E"/>
                </a:solidFill>
                <a:latin typeface="Arial"/>
              </a:rPr>
              <a:t>      –  Single-channel density CNN, TreeLearn (3D), and a point-cloud baseline — on accuracy and efficiency.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720840" y="1783080"/>
            <a:ext cx="4937760" cy="2011680"/>
          </a:xfrm>
          <a:prstGeom prst="roundRect">
            <a:avLst>
              <a:gd name="adj" fmla="val 6000"/>
            </a:avLst>
          </a:prstGeom>
          <a:solidFill>
            <a:srgbClr val="F7EEEE"/>
          </a:solidFill>
          <a:ln w="12700">
            <a:solidFill>
              <a:srgbClr val="CC9A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52400"/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C6282D"/>
                </a:solidFill>
                <a:latin typeface="Arial"/>
              </a:rPr>
              <a:t>Out of scope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06A6E"/>
                </a:solidFill>
                <a:latin typeface="Arial"/>
              </a:rPr>
              <a:t>–  Other species / natural-forest or non-row layouts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06A6E"/>
                </a:solidFill>
                <a:latin typeface="Arial"/>
              </a:rPr>
              <a:t>–  Real-time / on-device inference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606A6E"/>
                </a:solidFill>
                <a:latin typeface="Arial"/>
              </a:rPr>
              <a:t>–  LiDAR hardware and SLAM algorithm design</a:t>
            </a:r>
          </a:p>
        </p:txBody>
      </p:sp>
      <p:pic>
        <p:nvPicPr>
          <p:cNvPr id="6" name="Picture 5" descr="raster_dens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5749" y="3977639"/>
            <a:ext cx="2207941" cy="205740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35240" y="6071615"/>
            <a:ext cx="310896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Row structure of a rubber plot (density raster)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Methodology — System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E2E4E6"/>
          </a:solidFill>
          <a:ln w="19050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06A6E"/>
                </a:solidFill>
                <a:latin typeface="Arial"/>
              </a:rPr>
              <a:t>LiDAR Capture
&amp; SLAM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90241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DDECF7"/>
          </a:solidFill>
          <a:ln w="1905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3A5C"/>
                </a:solidFill>
                <a:latin typeface="Arial"/>
              </a:rPr>
              <a:t>1  Data
Preparation</a:t>
            </a:r>
          </a:p>
        </p:txBody>
      </p:sp>
      <p:sp>
        <p:nvSpPr>
          <p:cNvPr id="6" name="Oval 5"/>
          <p:cNvSpPr/>
          <p:nvPr/>
        </p:nvSpPr>
        <p:spPr>
          <a:xfrm>
            <a:off x="3770985" y="2359152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23283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DDECF7"/>
          </a:solidFill>
          <a:ln w="1905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3A5C"/>
                </a:solidFill>
                <a:latin typeface="Arial"/>
              </a:rPr>
              <a:t>2  Feature
Rasterization</a:t>
            </a:r>
          </a:p>
        </p:txBody>
      </p:sp>
      <p:sp>
        <p:nvSpPr>
          <p:cNvPr id="8" name="Oval 7"/>
          <p:cNvSpPr/>
          <p:nvPr/>
        </p:nvSpPr>
        <p:spPr>
          <a:xfrm>
            <a:off x="5704027" y="2359152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56324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DDECF7"/>
          </a:solidFill>
          <a:ln w="1905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3A5C"/>
                </a:solidFill>
                <a:latin typeface="Arial"/>
              </a:rPr>
              <a:t>3  Individual Tree
Segmentation</a:t>
            </a:r>
          </a:p>
        </p:txBody>
      </p:sp>
      <p:sp>
        <p:nvSpPr>
          <p:cNvPr id="10" name="Oval 9"/>
          <p:cNvSpPr/>
          <p:nvPr/>
        </p:nvSpPr>
        <p:spPr>
          <a:xfrm>
            <a:off x="7637068" y="2359152"/>
            <a:ext cx="219456" cy="219456"/>
          </a:xfrm>
          <a:prstGeom prst="ellipse">
            <a:avLst/>
          </a:prstGeom>
          <a:solidFill>
            <a:srgbClr val="2E7D3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89366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DDECF7"/>
          </a:solidFill>
          <a:ln w="1905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43A5C"/>
                </a:solidFill>
                <a:latin typeface="Arial"/>
              </a:rPr>
              <a:t>4  DBH Extraction
&amp; Evaluation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570110" y="2359152"/>
            <a:ext cx="219456" cy="219456"/>
          </a:xfrm>
          <a:prstGeom prst="ellipse">
            <a:avLst/>
          </a:prstGeom>
          <a:solidFill>
            <a:srgbClr val="C6282D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122407" y="2286000"/>
            <a:ext cx="1673352" cy="1325880"/>
          </a:xfrm>
          <a:prstGeom prst="roundRect">
            <a:avLst>
              <a:gd name="adj" fmla="val 10000"/>
            </a:avLst>
          </a:prstGeom>
          <a:solidFill>
            <a:srgbClr val="E2E4E6"/>
          </a:solidFill>
          <a:ln w="19050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606A6E"/>
                </a:solidFill>
                <a:latin typeface="Arial"/>
              </a:rPr>
              <a:t>Biomass
Estimation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2161714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4094755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6027797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7960838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9893880" y="2839212"/>
            <a:ext cx="197364" cy="219456"/>
          </a:xfrm>
          <a:prstGeom prst="rightArrow">
            <a:avLst/>
          </a:prstGeom>
          <a:solidFill>
            <a:srgbClr val="8A97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4297680"/>
            <a:ext cx="310896" cy="256032"/>
          </a:xfrm>
          <a:prstGeom prst="roundRect">
            <a:avLst/>
          </a:prstGeom>
          <a:solidFill>
            <a:srgbClr val="DDECF7"/>
          </a:solidFill>
          <a:ln w="1270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98448" y="4279392"/>
            <a:ext cx="2103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Our modules</a:t>
            </a:r>
          </a:p>
        </p:txBody>
      </p:sp>
      <p:sp>
        <p:nvSpPr>
          <p:cNvPr id="21" name="Oval 20"/>
          <p:cNvSpPr/>
          <p:nvPr/>
        </p:nvSpPr>
        <p:spPr>
          <a:xfrm>
            <a:off x="3657600" y="4325112"/>
            <a:ext cx="201168" cy="201168"/>
          </a:xfrm>
          <a:prstGeom prst="ellipse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41648" y="4279392"/>
            <a:ext cx="2103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Completed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4325112"/>
            <a:ext cx="201168" cy="201168"/>
          </a:xfrm>
          <a:prstGeom prst="ellipse">
            <a:avLst/>
          </a:prstGeom>
          <a:solidFill>
            <a:srgbClr val="C6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84848" y="4279392"/>
            <a:ext cx="2103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Not done yet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4297680"/>
            <a:ext cx="310896" cy="256032"/>
          </a:xfrm>
          <a:prstGeom prst="roundRect">
            <a:avLst/>
          </a:prstGeom>
          <a:solidFill>
            <a:srgbClr val="E2E4E6"/>
          </a:solidFill>
          <a:ln w="12700">
            <a:solidFill>
              <a:srgbClr val="9A9FA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28048" y="4279392"/>
            <a:ext cx="210312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Out of scope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1064240" cy="12801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A0006D"/>
                </a:solidFill>
                <a:latin typeface="Arial"/>
              </a:rPr>
              <a:t>Pipeline:  point cloud → multi-channel raster → CNN/YOLO tree detection → trunk crop → DBH fitting → evaluation.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606A6E"/>
                </a:solidFill>
                <a:latin typeface="Arial"/>
              </a:rPr>
              <a:t>Modules 1–3 are implemented; module 4 (DBH extraction &amp; evaluation) and the TreeLearn / baseline comparison are the remaining work.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Module 1 — Data Preparation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02920"/>
            <a:ext cx="19659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0006D"/>
                </a:solidFill>
                <a:latin typeface="Arial"/>
              </a:rPr>
              <a:t>1.1  Point-cloud standardization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Convert source scans (PCD/LAS), filter, rotate, and align coordinates to the tree-location labels.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72968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0006D"/>
                </a:solidFill>
                <a:latin typeface="Arial"/>
              </a:rPr>
              <a:t>1.2  Ground normalization &amp; split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Estimate local ground, compute height-above-ground (HAG) per point, split the 12 plots by plot.</a:t>
            </a:r>
          </a:p>
        </p:txBody>
      </p:sp>
      <p:pic>
        <p:nvPicPr>
          <p:cNvPr id="7" name="Picture 6" descr="pc_he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54743"/>
            <a:ext cx="4846320" cy="2828473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12280" y="4719792"/>
            <a:ext cx="4846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Standardized plot point cloud (height-colored) ready for rasterization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0016"/>
            <a:ext cx="6035040" cy="868680"/>
          </a:xfrm>
          <a:prstGeom prst="roundRect">
            <a:avLst/>
          </a:prstGeom>
          <a:solidFill>
            <a:srgbClr val="F7E8F1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0006D"/>
                </a:solidFill>
                <a:latin typeface="Arial"/>
              </a:rPr>
              <a:t>Our part:  Built the full standardize → align → ground/HAG → per-plot split workflow over all 12 plots.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Module 2 — Feature Rasterization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02920"/>
            <a:ext cx="19659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0006D"/>
                </a:solidFill>
                <a:latin typeface="Arial"/>
              </a:rPr>
              <a:t>2.1  Density &amp; height channels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Top-view grid: R = point density, G = hag_p95 (95th-pct height above ground).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72968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0006D"/>
                </a:solidFill>
                <a:latin typeface="Arial"/>
              </a:rPr>
              <a:t>2.2  Breast-height evidence channel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B = dbh_band_density: point count in the 1.0–1.6 m band, emphasizing stem evidence.</a:t>
            </a:r>
          </a:p>
        </p:txBody>
      </p:sp>
      <p:pic>
        <p:nvPicPr>
          <p:cNvPr id="7" name="Picture 6" descr="raster_multi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9540" y="1783080"/>
            <a:ext cx="2971800" cy="297180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12280" y="4791456"/>
            <a:ext cx="4846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Synthetic 3-channel image (R=density, G=hag_p95, B=dbh-band) fed to the CNN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0016"/>
            <a:ext cx="6035040" cy="868680"/>
          </a:xfrm>
          <a:prstGeom prst="roundRect">
            <a:avLst/>
          </a:prstGeom>
          <a:solidFill>
            <a:srgbClr val="F7E8F1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0006D"/>
                </a:solidFill>
                <a:latin typeface="Arial"/>
              </a:rPr>
              <a:t>Our part:  Implemented the rasterizer producing the 3-channel image used by the detector.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Module 3 — Individual Tree Segmentation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02920"/>
            <a:ext cx="1965960" cy="45720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Completed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0006D"/>
                </a:solidFill>
                <a:latin typeface="Arial"/>
              </a:rPr>
              <a:t>3.1  Multi-channel CNN / YOLO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Train a YOLOv11 detector on the 3-channel raster to predict tree centers (2 m boxes).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72968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0006D"/>
                </a:solidFill>
                <a:latin typeface="Arial"/>
              </a:rPr>
              <a:t>3.2  Baseline &amp; 3D comparison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Same plot split vs. single-channel density CNN, TreeLearn, and a point-cloud baseline.</a:t>
            </a:r>
          </a:p>
        </p:txBody>
      </p:sp>
      <p:pic>
        <p:nvPicPr>
          <p:cNvPr id="7" name="Picture 6" descr="pc_segme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962249"/>
            <a:ext cx="4846320" cy="2613461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12280" y="4612286"/>
            <a:ext cx="4846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Goal: each tree separated as its own instance (shown in 3D for intuition)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0016"/>
            <a:ext cx="6035040" cy="868680"/>
          </a:xfrm>
          <a:prstGeom prst="roundRect">
            <a:avLst/>
          </a:prstGeom>
          <a:solidFill>
            <a:srgbClr val="F7E8F1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0006D"/>
                </a:solidFill>
                <a:latin typeface="Arial"/>
              </a:rPr>
              <a:t>Our part:  Detector trained; baseline comparison done — TreeLearn / point-cloud comparison still in progress.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Module 4 — DBH Extraction &amp; Evaluation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692640" y="502920"/>
            <a:ext cx="1965960" cy="457200"/>
          </a:xfrm>
          <a:prstGeom prst="roundRect">
            <a:avLst/>
          </a:prstGeom>
          <a:solidFill>
            <a:srgbClr val="C628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rial"/>
              </a:rPr>
              <a:t>Remaining 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0006D"/>
                </a:solidFill>
                <a:latin typeface="Arial"/>
              </a:rPr>
              <a:t>4.1  Tree-level trunk crop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Around each predicted tree, collect candidate trunk points near the breast-height band.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172968"/>
            <a:ext cx="6035040" cy="132588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D8A8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r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A0006D"/>
                </a:solidFill>
                <a:latin typeface="Arial"/>
              </a:rPr>
              <a:t>4.2  Circle / cylinder fitting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22B2E"/>
                </a:solidFill>
                <a:latin typeface="Arial"/>
              </a:rPr>
              <a:t>Fit DBH near 1.3 m with multi-height bins + RANSAC / outlier removal; compare to field DBH.</a:t>
            </a:r>
          </a:p>
        </p:txBody>
      </p:sp>
      <p:pic>
        <p:nvPicPr>
          <p:cNvPr id="7" name="Picture 6" descr="breast_sl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895095"/>
            <a:ext cx="4846320" cy="2747769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6812280" y="4679440"/>
            <a:ext cx="484632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Breast-height slice from which the trunk circle / cylinder is fitted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700016"/>
            <a:ext cx="6035040" cy="868680"/>
          </a:xfrm>
          <a:prstGeom prst="roundRect">
            <a:avLst/>
          </a:prstGeom>
          <a:solidFill>
            <a:srgbClr val="F7E8F1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/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A0006D"/>
                </a:solidFill>
                <a:latin typeface="Arial"/>
              </a:rPr>
              <a:t>Our part:  Not yet implemented — this is the core remaining contribution of the thesis.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Preliminary Work — What Is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852160" cy="411480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Modules 1–3 implemented end-to-end over all 12 rubber plots.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Multi-channel rasters generated; YOLOv11 detectors trained.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Trained &amp; compared 4 multi-channel runs vs. the single-channel density baseline (same split).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Best multi-channel model: mAP50-95 ≈ 0.61 (mAP50 ≈ 0.99).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Key finding: transfer from a density-pretrained model ≫ generic pretraining (0.61 vs 0.36).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Next: DBH module (4) + TreeLearn / point-cloud comparison + efficiency measurement.</a:t>
            </a:r>
          </a:p>
        </p:txBody>
      </p:sp>
      <p:pic>
        <p:nvPicPr>
          <p:cNvPr id="5" name="Picture 4" descr="results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25980"/>
            <a:ext cx="5120640" cy="288036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583680" y="5042916"/>
            <a:ext cx="512064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Model comparison so far (ranked by mAP50-95)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Experimental Design — How We Measure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828800"/>
            <a:ext cx="3611880" cy="640080"/>
          </a:xfrm>
          <a:prstGeom prst="roundRect">
            <a:avLst/>
          </a:prstGeom>
          <a:solidFill>
            <a:srgbClr val="A0006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Segmentation accuracy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697480"/>
            <a:ext cx="3154680" cy="20116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Precision, Recall, F1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Tree detection rate (TDR)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mAP50, mAP50-95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16552" y="182880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F6F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416552" y="1828800"/>
            <a:ext cx="3611880" cy="640080"/>
          </a:xfrm>
          <a:prstGeom prst="roundRect">
            <a:avLst/>
          </a:prstGeom>
          <a:solidFill>
            <a:srgbClr val="2F6F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DBH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697480"/>
            <a:ext cx="3154680" cy="20116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MAE / RMSE vs. field DBH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Bias across plots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Effect of missed / merged trees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84464" y="1828800"/>
            <a:ext cx="361188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8A6D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84464" y="1828800"/>
            <a:ext cx="3611880" cy="640080"/>
          </a:xfrm>
          <a:prstGeom prst="roundRect">
            <a:avLst/>
          </a:prstGeom>
          <a:solidFill>
            <a:srgbClr val="8A6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</a:rPr>
              <a:t>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13064" y="2697480"/>
            <a:ext cx="3154680" cy="201168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Runtime (preprocess + infer)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Peak GPU / CPU memory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>
                <a:solidFill>
                  <a:srgbClr val="222B2E"/>
                </a:solidFill>
                <a:latin typeface="Arial"/>
              </a:rPr>
              <a:t>•  vs. TreeLearn on same plots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11064240" cy="91440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A0006D"/>
                </a:solidFill>
                <a:latin typeface="Arial"/>
              </a:rPr>
              <a:t>Fair comparison: identical plot-level split, image size, box size, epochs, and augmentation policy across all methods.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5943600" cy="4206240"/>
          </a:xfrm>
          <a:prstGeom prst="rect">
            <a:avLst/>
          </a:prstGeom>
          <a:noFill/>
        </p:spPr>
        <p:txBody>
          <a:bodyPr wrap="square" lIns="25400" rIns="25400" tIns="12700" bIns="1270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12 rubber-plantation plots, captured with handheld LiDAR + SLAM.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Labels: field-measured tree X/Y positions and DBH (DBHaverage.csv per plot).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Rasterized to one 320×320 top-view image per plot (0.125 m / pixel, ~40 m area).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Split by plot (train/val/test) to prevent leakage.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Characteristic: trees in regular rows → strong, exploitable spatial prior.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222B2E"/>
                </a:solidFill>
                <a:latin typeface="Arial"/>
              </a:rPr>
              <a:t>•  Small-data regime → transfer learning and augmentation matter.</a:t>
            </a:r>
          </a:p>
        </p:txBody>
      </p:sp>
      <p:pic>
        <p:nvPicPr>
          <p:cNvPr id="5" name="Picture 4" descr="pc_segmen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720" y="1737360"/>
            <a:ext cx="4832560" cy="260604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629400" y="4379976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One plot, point cloud segmented to individual trees</a:t>
            </a:r>
          </a:p>
        </p:txBody>
      </p:sp>
      <p:pic>
        <p:nvPicPr>
          <p:cNvPr id="7" name="Picture 6" descr="raster_multi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4800600"/>
            <a:ext cx="1417320" cy="141732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pic>
        <p:nvPicPr>
          <p:cNvPr id="8" name="Picture 7" descr="raster_den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4800600"/>
            <a:ext cx="1521026" cy="1417320"/>
          </a:xfrm>
          <a:prstGeom prst="rect">
            <a:avLst/>
          </a:prstGeom>
          <a:ln w="9525">
            <a:solidFill>
              <a:srgbClr val="BBC4BD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629400" y="6309360"/>
            <a:ext cx="5029200" cy="292608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606A6E"/>
                </a:solidFill>
                <a:latin typeface="Arial"/>
              </a:rPr>
              <a:t>Rasterized inputs derived per plot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Expected Outcome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8308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A0006D"/>
                </a:solidFill>
                <a:latin typeface="Arial"/>
              </a:rPr>
              <a:t>Multi-channel segmentation pipeline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2B2E"/>
                </a:solidFill>
                <a:latin typeface="Arial"/>
              </a:rPr>
              <a:t>A validated workflow turning handheld-LiDAR clouds into per-tree detections using density, height, and breast-height evidence.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783080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A0006D"/>
                </a:solidFill>
                <a:latin typeface="Arial"/>
              </a:rPr>
              <a:t>DBH-ready tree crops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2B2E"/>
                </a:solidFill>
                <a:latin typeface="Arial"/>
              </a:rPr>
              <a:t>Trunk-point subset for each predicted tree, enabling DBH fitting from breast-height slices.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977639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A0006D"/>
                </a:solidFill>
                <a:latin typeface="Arial"/>
              </a:rPr>
              <a:t>Accuracy–efficiency benchmark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2B2E"/>
                </a:solidFill>
                <a:latin typeface="Arial"/>
              </a:rPr>
              <a:t>A controlled comparison of multi-channel CNN vs. density CNN, TreeLearn, and a point-cloud baseline on the same plots.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3977639"/>
            <a:ext cx="5486400" cy="1965960"/>
          </a:xfrm>
          <a:prstGeom prst="roundRect">
            <a:avLst>
              <a:gd name="adj" fmla="val 6000"/>
            </a:avLst>
          </a:prstGeom>
          <a:solidFill>
            <a:srgbClr val="F7ECF3"/>
          </a:solidFill>
          <a:ln w="12700">
            <a:solidFill>
              <a:srgbClr val="A000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52400" tIns="12700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600" b="1" i="0">
                <a:solidFill>
                  <a:srgbClr val="A0006D"/>
                </a:solidFill>
                <a:latin typeface="Arial"/>
              </a:rPr>
              <a:t>Segmentation→DBH error analysis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22B2E"/>
                </a:solidFill>
                <a:latin typeface="Arial"/>
              </a:rPr>
              <a:t>Evidence of how missed, merged, and false detections affect downstream DBH estimates.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 wrap="square" anchor="ctr"/>
          <a:lstStyle/>
          <a:p>
            <a:r>
              <a:rPr sz="2100" b="1" i="0">
                <a:solidFill>
                  <a:srgbClr val="FFFFFF"/>
                </a:solidFill>
                <a:latin typeface="Arial"/>
              </a:rPr>
              <a:t>Milestones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691640"/>
          <a:ext cx="11064236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862148"/>
                <a:gridCol w="862148"/>
                <a:gridCol w="862148"/>
                <a:gridCol w="862148"/>
                <a:gridCol w="862148"/>
                <a:gridCol w="862148"/>
                <a:gridCol w="86214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Task</a:t>
                      </a:r>
                    </a:p>
                  </a:txBody>
                  <a:tcPr anchor="ctr"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Jun</a:t>
                      </a:r>
                    </a:p>
                  </a:txBody>
                  <a:tcPr anchor="ctr"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Jul</a:t>
                      </a:r>
                    </a:p>
                  </a:txBody>
                  <a:tcPr anchor="ctr"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Aug</a:t>
                      </a:r>
                    </a:p>
                  </a:txBody>
                  <a:tcPr anchor="ctr"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Sep</a:t>
                      </a:r>
                    </a:p>
                  </a:txBody>
                  <a:tcPr anchor="ctr"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Oct</a:t>
                      </a:r>
                    </a:p>
                  </a:txBody>
                  <a:tcPr anchor="ctr"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Nov</a:t>
                      </a:r>
                    </a:p>
                  </a:txBody>
                  <a:tcPr anchor="ctr"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Arial"/>
                        </a:rPr>
                        <a:t>Dec</a:t>
                      </a:r>
                    </a:p>
                  </a:txBody>
                  <a:tcPr anchor="ctr">
                    <a:solidFill>
                      <a:srgbClr val="A0006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Literature review &amp; related work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Data preparation &amp; feature rasterization (done)</a:t>
                      </a:r>
                    </a:p>
                  </a:txBody>
                  <a:tcPr anchor="ctr"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Individual tree segmentation + baseline / TreeLearn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DBH extraction &amp; evaluation</a:t>
                      </a:r>
                    </a:p>
                  </a:txBody>
                  <a:tcPr anchor="ctr"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Experiments &amp; accuracy–efficiency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Thesis writing &amp; publication</a:t>
                      </a:r>
                    </a:p>
                  </a:txBody>
                  <a:tcPr anchor="ctr"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1F5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22B2E"/>
                          </a:solidFill>
                          <a:latin typeface="Arial"/>
                        </a:rPr>
                        <a:t>Proposal / final defense &amp; exam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/>
                      </a:r>
                    </a:p>
                  </a:txBody>
                  <a:tcPr>
                    <a:solidFill>
                      <a:srgbClr val="A0006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606A6E"/>
                </a:solidFill>
                <a:latin typeface="Arial"/>
              </a:rPr>
              <a:t>~4 months of work (literature review → publication), plus 1–2 months for presentation and examination.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606A6E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68880"/>
            <a:ext cx="9418320" cy="1828800"/>
          </a:xfrm>
          <a:prstGeom prst="rect">
            <a:avLst/>
          </a:prstGeom>
          <a:noFill/>
        </p:spPr>
        <p:txBody>
          <a:bodyPr wrap="square" lIns="25400" rIns="25400" tIns="12700" bIns="1270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4400" b="1" i="0">
                <a:solidFill>
                  <a:srgbClr val="FFFFFF"/>
                </a:solidFill>
                <a:latin typeface="Arial"/>
              </a:rPr>
              <a:t>Thank You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FFFFFF"/>
                </a:solidFill>
                <a:latin typeface="Arial"/>
              </a:rPr>
              <a:t>Questions &amp; Answers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369040" y="6400800"/>
            <a:ext cx="640080" cy="320040"/>
          </a:xfrm>
          <a:prstGeom prst="rect">
            <a:avLst/>
          </a:prstGeom>
          <a:noFill/>
        </p:spPr>
        <p:txBody>
          <a:bodyPr wrap="square" lIns="25400" rIns="25400" tIns="12700" bIns="1270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werpointChula-Template" id="{26F538F0-73E6-4E92-BC00-3520D85CC478}" vid="{1185C732-8A23-4955-95E2-AC7C590C1EC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16</Slides>
  <Company>Chulalongkorn University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Individual Tree Segmentation from Handheld LiDAR Point Clouds for DBH Estimation in Rubber Plantations using Multi-channel CNN</dc:title>
  <dc:creator>Codex</dc:creator>
  <cp:lastModifiedBy>Codex</cp:lastModifiedBy>
  <dcterms:created xsi:type="dcterms:W3CDTF">2026-05-15T09:05:34+00:00</dcterms:created>
  <dcterms:modified xsi:type="dcterms:W3CDTF">2026-05-15T09:05:34+00:00</dcterms:modified>
</cp:coreProperties>
</file>