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00000" y="820000"/>
            <a:ext cx="106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การแบ่งแยกต้นไม้รายต้นจาก Handheld LiDAR Point Cloud สำหรับประเมิน DBH ในสวนยางพาราโดยใช้ Multi-channel CNN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0000" y="2700000"/>
            <a:ext cx="104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800">
                <a:solidFill>
                  <a:srgbClr val="47645b"/>
                </a:solidFill>
                <a:latin typeface="TH Sarabun New"/>
                <a:ea typeface="TH Sarabun New"/>
                <a:cs typeface="TH Sarabun New"/>
              </a:rPr>
              <a:t>Individual Tree Segmentation from Handheld LiDAR Point Clouds for DBH Estimation in Rubber Plantations using Multi-channel CNN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0000" y="4300000"/>
            <a:ext cx="85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9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เสนอโดย: [ชื่อ-รหัสนิสิต]</a:t>
            </a:r>
          </a:p>
          <a:p>
            <a:pPr/>
            <a:r>
              <a:rPr lang="th-TH" sz="19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อาจารย์ที่ปรึกษา: [ชื่ออาจารย์]</a:t>
            </a:r>
          </a:p>
          <a:p>
            <a:pPr/>
            <a:r>
              <a:rPr lang="th-TH" sz="19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Department of Computer Engineering, Chulalongkorn University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Forest inventory needs tree-level measurement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DBH เป็นตัวแปรสำคัญของ forest inventory, biomass/carbon estimation และการติดตามการเติบโต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การวัดด้วยมือใช้เวลาและแรงงานสูง โดยเฉพาะเมื่อต้องทำหลายแปลงหรือทำซ้ำ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Handheld LiDAR เก็บข้อมูล 3D รอบลำต้นได้เร็วและเหมาะกับพื้นที่ใต้เรือนยอด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คอขวดสำคัญคือการแยก point cloud ออกเป็นต้นไม้รายต้นอย่างถูกต้อง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จาก point cloud 12 แปลง ไปสู่ต้นไม้รายต้นและ DBH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Input: point cloud ของสวนยางพารา 12 แปลง พร้อม ground truth ตำแหน่งต้นไม้และ DBH รายต้น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Output: ตำแหน่ง/ขอบเขตของต้นไม้แต่ละต้น และค่า DBH ที่คำนวณจากจุดบริเวณ breast height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Challenges: ความหนาแน่นจุดไม่สม่ำเสมอ, occlusion, วัชพืช/กิ่ง/ใบปะปน, ต้นยางเรียงใกล้กันเป็นแถว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คำถามหลัก: จะแยกต้นไม้รายต้นให้แม่นขึ้น โดยยังประมวลผลเบากว่าวิธี 3D point-cloud-based ได้หรือไม่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Related Work Landscape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แนวทางที่พบจากตาราง Sumarlize และ literature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Classical pipeline: ground removal, trunk extraction, clustering, circle/cylinder fitting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Handheld/mobile LiDAR DBH: segment/track trees, accumulate scans, fit DBH at breast height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Large-scale MLS inventory: ForestSPG ทำ semantic segmentation แล้ว stem mapping และ circle fitting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TreeLearn: 3D sparse CNN ทำนาย tree/non-tree และ offset เพื่อทำ instance segmentation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TreeScope/SLOAM: robotics LiDAR datasets และ benchmark สำหรับ semantic/stem/diameter estimation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Research Gap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ช่องว่างที่ proposal นี้ต้องการตอบ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งานเดิมมักแยกเป็น semantic segmentation -&gt; stem mapping/instance segmentation -&gt; DBH fitting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DBH error มักเกิดจาก segmentation ผิด, ลำต้นถูกบัง, slice ระดับอกมีจุดไม่ครบวง หรือมีกิ่ง/ใบปะปน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Rule-based methods ต้องปรับ radius, density threshold, voxel size และ RANSAC setting ตามข้อมูล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TreeLearn แม่นและอัตโนมัติ แต่ใช้ทรัพยากรสูงและอาจต้อง fine-tune เมื่อเปลี่ยน domain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Single-channel density image เบา แต่ทิ้งข้อมูลแนวดิ่งและสัญญาณบริเวณ DBH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Research Objective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วัตถุประสงค์ของงานวิจัย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พัฒนา pipeline สำหรับ individual tree segmentation จาก handheld LiDAR point cloud ของสวนยางพาราโดยใช้ multi-channel CNN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เปรียบเทียบ multi-channel CNN กับ single-channel CNN baseline และ TreeLearn บนข้อมูลชุดเดียวกัน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ประเมินผลกระทบของ segmentation ต่อการประมาณค่า DBH รายต้น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เปรียบเทียบ runtime, memory/VRAM usage, model size และความง่ายในการนำไปใช้งาน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Research Questions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คำถามวิจัยและสมมติฐาน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RQ1: multi-channel CNN ให้ Precision, Recall, F1 ดีกว่า density-only หรือไม่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RQ2: เมื่อใช้ test plots เดียวกัน multi-channel CNN เทียบกับ TreeLearn ได้มากน้อยเพียงใด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RQ3: multi-channel CNN ลด runtime และ resource usage เมื่อเทียบกับ 3D point-cloud-based method ได้หรือไม่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H1: การเพิ่ม hag_p95 และ dbh_band_density ช่วยลด false positive/false negative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H2: segmentation ที่ดีขึ้นจะลด DBH error ใน downstream fitting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Dataset and Ground Truth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Rubber plantation point clouds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ข้อมูลหลัก: สวนยางพารา 12 แปลง หรือ 12 point clouds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Ground truth: ตำแหน่งต้นไม้ X/Y และค่า DBH รายต้นจาก CSV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Preprocessing: PCD/LAS conversion, filtering, rotation และจัดระบบพิกัดให้ตรงกับ label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Train/validation/test split ระดับ plot เพื่อป้องกัน leakage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ควบคุม seed, image size, pixel size, box size และ augmentation ให้เทียบกันได้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Proposed System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ตำแหน่งของ multi-channel CNN ใน pipeline</a:t>
            </a:r>
          </a:p>
        </p:txBody>
      </p:sp>
      <p:sp>
        <p:nvSpPr>
          <p:cNvPr id="7" name="Shape 7"/>
          <p:cNvSpPr/>
          <p:nvPr/>
        </p:nvSpPr>
        <p:spPr>
          <a:xfrm>
            <a:off x="620000" y="1750000"/>
            <a:ext cx="1680000" cy="760000"/>
          </a:xfrm>
          <a:prstGeom prst="roundRect">
            <a:avLst/>
          </a:prstGeom>
          <a:solidFill>
            <a:srgbClr val="EAF2EA"/>
          </a:solidFill>
          <a:ln>
            <a:solidFill>
              <a:srgbClr val="9BBF9D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20000" y="1910000"/>
            <a:ext cx="148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7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Point cloud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325000" y="2130000"/>
            <a:ext cx="190000" cy="1"/>
          </a:xfrm>
          <a:prstGeom prst="straightConnector1">
            <a:avLst/>
          </a:prstGeom>
          <a:ln w="25400">
            <a:solidFill>
              <a:srgbClr val="2F6F5E"/>
            </a:solidFill>
            <a:tailEnd type="none"/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2540000" y="1750000"/>
            <a:ext cx="1680000" cy="760000"/>
          </a:xfrm>
          <a:prstGeom prst="roundRect">
            <a:avLst/>
          </a:prstGeom>
          <a:solidFill>
            <a:srgbClr val="EAF2EA"/>
          </a:solidFill>
          <a:ln>
            <a:solidFill>
              <a:srgbClr val="9BBF9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640000" y="1910000"/>
            <a:ext cx="148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7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Feature</a:t>
            </a:r>
          </a:p>
          <a:p>
            <a:pPr/>
            <a:r>
              <a:rPr lang="th-TH" sz="1700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raster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4245000" y="2130000"/>
            <a:ext cx="190000" cy="1"/>
          </a:xfrm>
          <a:prstGeom prst="straightConnector1">
            <a:avLst/>
          </a:prstGeom>
          <a:ln w="25400">
            <a:solidFill>
              <a:srgbClr val="2F6F5E"/>
            </a:solidFill>
            <a:tailEnd type="none"/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4460000" y="1750000"/>
            <a:ext cx="1680000" cy="760000"/>
          </a:xfrm>
          <a:prstGeom prst="roundRect">
            <a:avLst/>
          </a:prstGeom>
          <a:solidFill>
            <a:srgbClr val="EAF2EA"/>
          </a:solidFill>
          <a:ln>
            <a:solidFill>
              <a:srgbClr val="9BBF9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560000" y="1910000"/>
            <a:ext cx="148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7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CNN/YOLO</a:t>
            </a:r>
          </a:p>
        </p:txBody>
      </p:sp>
      <p:cxnSp>
        <p:nvCxnSpPr>
          <p:cNvPr id="15" name="Connector 15"/>
          <p:cNvCxnSpPr/>
          <p:nvPr/>
        </p:nvCxnSpPr>
        <p:spPr>
          <a:xfrm>
            <a:off x="6165000" y="2130000"/>
            <a:ext cx="190000" cy="1"/>
          </a:xfrm>
          <a:prstGeom prst="straightConnector1">
            <a:avLst/>
          </a:prstGeom>
          <a:ln w="25400">
            <a:solidFill>
              <a:srgbClr val="2F6F5E"/>
            </a:solidFill>
            <a:tailEnd type="none"/>
            <a:headEnd type="triangle"/>
          </a:ln>
        </p:spPr>
      </p:cxnSp>
      <p:sp>
        <p:nvSpPr>
          <p:cNvPr id="16" name="Shape 16"/>
          <p:cNvSpPr/>
          <p:nvPr/>
        </p:nvSpPr>
        <p:spPr>
          <a:xfrm>
            <a:off x="6380000" y="1750000"/>
            <a:ext cx="1680000" cy="760000"/>
          </a:xfrm>
          <a:prstGeom prst="roundRect">
            <a:avLst/>
          </a:prstGeom>
          <a:solidFill>
            <a:srgbClr val="EAF2EA"/>
          </a:solidFill>
          <a:ln>
            <a:solidFill>
              <a:srgbClr val="9BBF9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480000" y="1910000"/>
            <a:ext cx="148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7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Trunk crop</a:t>
            </a:r>
          </a:p>
        </p:txBody>
      </p:sp>
      <p:cxnSp>
        <p:nvCxnSpPr>
          <p:cNvPr id="18" name="Connector 18"/>
          <p:cNvCxnSpPr/>
          <p:nvPr/>
        </p:nvCxnSpPr>
        <p:spPr>
          <a:xfrm>
            <a:off x="8085000" y="2130000"/>
            <a:ext cx="190000" cy="1"/>
          </a:xfrm>
          <a:prstGeom prst="straightConnector1">
            <a:avLst/>
          </a:prstGeom>
          <a:ln w="25400">
            <a:solidFill>
              <a:srgbClr val="2F6F5E"/>
            </a:solidFill>
            <a:tailEnd type="none"/>
            <a:headEnd type="triangle"/>
          </a:ln>
        </p:spPr>
      </p:cxnSp>
      <p:sp>
        <p:nvSpPr>
          <p:cNvPr id="19" name="Shape 19"/>
          <p:cNvSpPr/>
          <p:nvPr/>
        </p:nvSpPr>
        <p:spPr>
          <a:xfrm>
            <a:off x="8300000" y="1750000"/>
            <a:ext cx="1680000" cy="760000"/>
          </a:xfrm>
          <a:prstGeom prst="roundRect">
            <a:avLst/>
          </a:prstGeom>
          <a:solidFill>
            <a:srgbClr val="EAF2EA"/>
          </a:solidFill>
          <a:ln>
            <a:solidFill>
              <a:srgbClr val="9BBF9D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00000" y="1910000"/>
            <a:ext cx="148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7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DBH fitting</a:t>
            </a:r>
          </a:p>
        </p:txBody>
      </p:sp>
      <p:cxnSp>
        <p:nvCxnSpPr>
          <p:cNvPr id="21" name="Connector 21"/>
          <p:cNvCxnSpPr/>
          <p:nvPr/>
        </p:nvCxnSpPr>
        <p:spPr>
          <a:xfrm>
            <a:off x="10005000" y="2130000"/>
            <a:ext cx="190000" cy="1"/>
          </a:xfrm>
          <a:prstGeom prst="straightConnector1">
            <a:avLst/>
          </a:prstGeom>
          <a:ln w="25400">
            <a:solidFill>
              <a:srgbClr val="2F6F5E"/>
            </a:solidFill>
            <a:tailEnd type="none"/>
            <a:headEnd type="triangle"/>
          </a:ln>
        </p:spPr>
      </p:cxnSp>
      <p:sp>
        <p:nvSpPr>
          <p:cNvPr id="22" name="Shape 22"/>
          <p:cNvSpPr/>
          <p:nvPr/>
        </p:nvSpPr>
        <p:spPr>
          <a:xfrm>
            <a:off x="10220000" y="1750000"/>
            <a:ext cx="1680000" cy="760000"/>
          </a:xfrm>
          <a:prstGeom prst="roundRect">
            <a:avLst/>
          </a:prstGeom>
          <a:solidFill>
            <a:srgbClr val="EAF2EA"/>
          </a:solidFill>
          <a:ln>
            <a:solidFill>
              <a:srgbClr val="9BBF9D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320000" y="1910000"/>
            <a:ext cx="1480000" cy="5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7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Metrics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000" y="3050000"/>
            <a:ext cx="10400000" cy="26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Handheld LiDAR scan -&gt; Point cloud preprocessing</a:t>
            </a:r>
          </a:p>
          <a:p>
            <a:pPr marL="342900" indent="-228600">
              <a:buChar char="•"/>
            </a:pPr>
            <a:r>
              <a:rPr lang="th-TH" sz="18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Feature rasterization -&gt; Multi-channel CNN/YOLO</a:t>
            </a:r>
          </a:p>
          <a:p>
            <a:pPr marL="342900" indent="-228600">
              <a:buChar char="•"/>
            </a:pPr>
            <a:r>
              <a:rPr lang="th-TH" sz="18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Tree centers/boxes -&gt; Extract trunk points around each predicted tree</a:t>
            </a:r>
          </a:p>
          <a:p>
            <a:pPr marL="342900" indent="-228600">
              <a:buChar char="•"/>
            </a:pPr>
            <a:r>
              <a:rPr lang="th-TH" sz="180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DBH fitting at breast-height band -&gt; Evaluation against ground truth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Multi-channel CNN Input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Synthetic RGB from physical LiDAR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R = density: จำนวนจุดในแต่ละ top-view grid cell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G = hag_p95: 95th percentile ของ height above ground ในแต่ละ cell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B = dbh_band_density: จำนวนจุดในช่วง 1.0-1.6 m เหนือพื้น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ใช้เป็น RGB image เพื่อ train กับ YOLO/CNN pipeline เดิมได้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ปิด color augmentation เพราะสีเป็น feature channel ไม่ใช่ natural image color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Baselines and Comparison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วิธีที่จะเปรียบเทียบ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Single-channel CNN: top-view density image + YOLO/CNN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Proposed multi-channel CNN: density + hag_p95 + dbh_band_density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TreeLearn: deep learning instance segmentation บน 3D point cloud โดยตรง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Point-cloud processing baseline: ground filtering + trunk extraction + clustering + circle fitting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Optional reference: SLOAM/TreeScope-style evaluation for stem mapping and diameter estimation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Experiment Design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Controlled experiments on the same plots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Experiment 1: single-channel vs multi-channel CNN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Experiment 2: channel ablation: density, density+hag_p95, density+dbh_band_density, all channels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Experiment 3: multi-channel CNN vs TreeLearn on the same test plots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Experiment 4: DBH fitting from each method: single slice vs multi-height bins + RANSAC/outlier rejection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Experiment 5: efficiency benchmark: preprocessing, inference time, RAM/VRAM, model size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Evaluation Metrics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Accuracy and efficiency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Tree detection/segmentation: Precision, Recall, F1-score, Tree Detection Rate, count error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Localization: center error after matching prediction to ground truth, omission error, commission error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Instance quality: coverage / IoU / point-level metric if instance labels are available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DBH: MAE, RMSE, bias, relative error, percent within ±2 cm or ±5 cm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Efficiency: runtime per plot, peak CPU memory, peak GPU memory, throughput, model size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Expected Contributions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สิ่งที่คาดว่าจะได้จากงานวิจัย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Pipeline สำหรับแยกต้นยางรายต้นและประเมิน DBH จาก handheld LiDAR point cloud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Multi-channel raster representation ที่เพิ่มข้อมูลความสูงและสัญญาณบริเวณ DBH แต่ยังใช้ CNN/YOLO ได้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Benchmark เปรียบเทียบ single-channel CNN, multi-channel CNN และ TreeLearn บนข้อมูล 12 แปลงเดียวกัน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ข้อเสนอแนะเชิงปฏิบัติว่าเมื่อใดควรใช้ 2D multi-channel CNN และเมื่อใดควรใช้ 3D point-cloud segmentation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8"/>
          </a:solidFill>
          <a:ln>
            <a:solidFill>
              <a:srgbClr val="F7FAF8"/>
            </a:solidFill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90000" cy="6858000"/>
          </a:xfrm>
          <a:prstGeom prst="rect">
            <a:avLst/>
          </a:prstGeom>
          <a:solidFill>
            <a:srgbClr val="2F6F5E"/>
          </a:solidFill>
          <a:ln>
            <a:solidFill>
              <a:srgbClr val="2F6F5E"/>
            </a:solidFill>
          </a:ln>
        </p:spPr>
      </p:sp>
      <p:sp>
        <p:nvSpPr>
          <p:cNvPr id="4" name="Shape 4"/>
          <p:cNvSpPr/>
          <p:nvPr/>
        </p:nvSpPr>
        <p:spPr>
          <a:xfrm>
            <a:off x="190000" y="0"/>
            <a:ext cx="12002000" cy="105000"/>
          </a:xfrm>
          <a:prstGeom prst="rect">
            <a:avLst/>
          </a:prstGeom>
          <a:solidFill>
            <a:srgbClr val="88B04B"/>
          </a:solidFill>
          <a:ln>
            <a:solidFill>
              <a:srgbClr val="88B04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80000" y="360000"/>
            <a:ext cx="10400000" cy="65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3100" b="1">
                <a:solidFill>
                  <a:srgbClr val="17352c"/>
                </a:solidFill>
                <a:latin typeface="TH Sarabun New"/>
                <a:ea typeface="TH Sarabun New"/>
                <a:cs typeface="TH Sarabun New"/>
              </a:rPr>
              <a:t>Planning and References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000" y="1030000"/>
            <a:ext cx="10400000" cy="38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650">
                <a:solidFill>
                  <a:srgbClr val="5a6d66"/>
                </a:solidFill>
                <a:latin typeface="TH Sarabun New"/>
                <a:ea typeface="TH Sarabun New"/>
                <a:cs typeface="TH Sarabun New"/>
              </a:rPr>
              <a:t>Tentative plan: May-Dec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0000" y="1660000"/>
            <a:ext cx="10300000" cy="4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May-Jun: literature review, finalize problem statement, inspect data/ground truth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Jun-Jul: reproduce single-channel baseline and define evaluation protocol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Jul-Aug: implement and train multi-channel CNN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Aug-Sep: run TreeLearn / point-cloud baselines on same plots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Sep-Oct: DBH fitting, ablation, resource benchmark, error analysis</a:t>
            </a:r>
          </a:p>
          <a:p>
            <a:pPr marL="342900" indent="-228600">
              <a:buChar char="•"/>
            </a:pPr>
            <a:r>
              <a:rPr lang="th-TH" sz="1850">
                <a:solidFill>
                  <a:srgbClr val="24342f"/>
                </a:solidFill>
                <a:latin typeface="TH Sarabun New"/>
                <a:ea typeface="TH Sarabun New"/>
                <a:cs typeface="TH Sarabun New"/>
              </a:rPr>
              <a:t>References: Liu 2021; Proudman 2021; Shao 2024; Cheng 2023/2024; Henrich 2024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00000" y="6400000"/>
            <a:ext cx="700000" cy="22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/>
            <a:r>
              <a:rPr lang="th-TH" sz="1300">
                <a:solidFill>
                  <a:srgbClr val="6d7c76"/>
                </a:solidFill>
                <a:latin typeface="TH Sarabun New"/>
                <a:ea typeface="TH Sarabun New"/>
                <a:cs typeface="TH Sarabun New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massProposal">
  <a:themeElements>
    <a:clrScheme name="Biomass">
      <a:dk1>
        <a:srgbClr val="17352C"/>
      </a:dk1>
      <a:lt1>
        <a:srgbClr val="FFFFFF"/>
      </a:lt1>
      <a:dk2>
        <a:srgbClr val="24342F"/>
      </a:dk2>
      <a:lt2>
        <a:srgbClr val="F7FAF8"/>
      </a:lt2>
      <a:accent1>
        <a:srgbClr val="2F6F5E"/>
      </a:accent1>
      <a:accent2>
        <a:srgbClr val="88B04B"/>
      </a:accent2>
      <a:accent3>
        <a:srgbClr val="D89A3A"/>
      </a:accent3>
      <a:accent4>
        <a:srgbClr val="4C7A93"/>
      </a:accent4>
      <a:accent5>
        <a:srgbClr val="A65D5D"/>
      </a:accent5>
      <a:accent6>
        <a:srgbClr val="7B6D8D"/>
      </a:accent6>
      <a:hlink>
        <a:srgbClr val="2F6F5E"/>
      </a:hlink>
      <a:folHlink>
        <a:srgbClr val="7B6D8D"/>
      </a:folHlink>
    </a:clrScheme>
    <a:fontScheme name="TH">
      <a:majorFont>
        <a:latin typeface="TH Sarabun New"/>
        <a:ea typeface="TH Sarabun New"/>
        <a:cs typeface="TH Sarabun New"/>
      </a:majorFont>
      <a:minorFont>
        <a:latin typeface="TH Sarabun New"/>
        <a:ea typeface="TH Sarabun New"/>
        <a:cs typeface="TH Sarabun New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15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การแบ่งแยกต้นไม้รายต้นจาก Handheld LiDAR Point Cloud สำหรับประเมิน DBH ในสวนยางพาราโดยใช้ Multi-channel CNN</dc:title>
  <dc:creator>Codex</dc:creator>
  <cp:lastModifiedBy>Codex</cp:lastModifiedBy>
  <dcterms:created xsi:type="dcterms:W3CDTF">2026-05-15T08:12:03+00:00</dcterms:created>
  <dcterms:modified xsi:type="dcterms:W3CDTF">2026-05-15T08:12:03+00:00</dcterms:modified>
</cp:coreProperties>
</file>