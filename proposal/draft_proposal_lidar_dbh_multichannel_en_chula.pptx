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  <p:sldId id="271" r:id="rId1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5C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Relationship Id="rId101" Type="http://schemas.openxmlformats.org/officeDocument/2006/relationships/slide" Target="slides/slide1.xml" /><Relationship Id="rId102" Type="http://schemas.openxmlformats.org/officeDocument/2006/relationships/slide" Target="slides/slide2.xml" /><Relationship Id="rId103" Type="http://schemas.openxmlformats.org/officeDocument/2006/relationships/slide" Target="slides/slide3.xml" /><Relationship Id="rId104" Type="http://schemas.openxmlformats.org/officeDocument/2006/relationships/slide" Target="slides/slide4.xml" /><Relationship Id="rId105" Type="http://schemas.openxmlformats.org/officeDocument/2006/relationships/slide" Target="slides/slide5.xml" /><Relationship Id="rId106" Type="http://schemas.openxmlformats.org/officeDocument/2006/relationships/slide" Target="slides/slide6.xml" /><Relationship Id="rId107" Type="http://schemas.openxmlformats.org/officeDocument/2006/relationships/slide" Target="slides/slide7.xml" /><Relationship Id="rId108" Type="http://schemas.openxmlformats.org/officeDocument/2006/relationships/slide" Target="slides/slide8.xml" /><Relationship Id="rId109" Type="http://schemas.openxmlformats.org/officeDocument/2006/relationships/slide" Target="slides/slide9.xml" /><Relationship Id="rId110" Type="http://schemas.openxmlformats.org/officeDocument/2006/relationships/slide" Target="slides/slide10.xml" /><Relationship Id="rId111" Type="http://schemas.openxmlformats.org/officeDocument/2006/relationships/slide" Target="slides/slide11.xml" /><Relationship Id="rId112" Type="http://schemas.openxmlformats.org/officeDocument/2006/relationships/slide" Target="slides/slide12.xml" /><Relationship Id="rId113" Type="http://schemas.openxmlformats.org/officeDocument/2006/relationships/slide" Target="slides/slide13.xml" /><Relationship Id="rId114" Type="http://schemas.openxmlformats.org/officeDocument/2006/relationships/slide" Target="slides/slide14.xml" /><Relationship Id="rId115" Type="http://schemas.openxmlformats.org/officeDocument/2006/relationships/slide" Target="slides/slide15.xml" /><Relationship Id="rId116" Type="http://schemas.openxmlformats.org/officeDocument/2006/relationships/slide" Target="slides/slide16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B443-B28F-429B-8A98-3F1AB79B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9D9A4-7AFF-4701-AD6B-9CF7D9F06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3E21-EA7A-4932-863D-E1440823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5C35-DB3C-4945-BAAC-4C8A6BD5078D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596F2-D16A-466A-8823-BB0EB86C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06C63-26D0-4005-9B7F-A5B3D971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D7E29D-E78B-4CAB-93E6-55CE8AFF6B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428" y="539963"/>
            <a:ext cx="2721301" cy="98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1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11721-13A2-45F3-BC00-B69732C38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AA96E-51BD-42A9-9E29-755B46904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C2243-E35A-41A5-B360-E8E51B46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BB20-4AC4-4165-B2FE-33C5A279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EAA8B1-1CD8-4CCA-8D5D-8A66C5BCA5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CDE1C8-795C-4114-8F6A-5CE49F3E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1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A2C0-F021-413A-81DA-3DA36E1D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2" y="2315418"/>
            <a:ext cx="10515600" cy="1306091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36C10-4E80-49B4-AB60-D47990A1F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6712" y="364849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7793-A95D-41EA-90F9-BA32DE32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03EC6-78B3-4A29-B694-656B2456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F0953-9452-40BF-8F76-CDE095C2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0B976B-A4FF-465F-9D0A-DA1236A0C0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022" y="286155"/>
            <a:ext cx="23145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6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8D600237-BB04-40BF-8F11-DF1FB90693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B9FF0-5109-4B7A-8E5C-B33FA44EC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9BF98-7719-4943-9AE5-EE3E8E559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D66A5-65F0-4577-9C6A-4B6E5E13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6FC2F-2EC2-4D49-AFFA-417C3F12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C693-D167-4473-81F0-060ED586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693FCFB-43C4-4CFD-A5F8-951AF5CE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61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07A27B4-8C48-48BA-A185-88DC01DB51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C6957-9DE9-4B0F-BA3E-B628B8235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EB2AC-ABDD-449D-9B27-6947A13E8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266F5-D5CA-4FF3-8062-D0F919520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121D6-CB7F-4AC8-8E55-12AEB3FA7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C8448-E6C2-4B6B-8ECB-8FD1F228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4E75E-CF15-44BC-AA46-49E280EC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54EDF-AB64-4046-A841-C769FD65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032BFEA-1782-421D-A808-8FEFB59D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561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7FDCC-8011-4A73-A1BA-AE883F35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911AD-85C1-4D79-8FB5-7B18EB2F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EAE58-F660-4873-99B3-5C1F2BBA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17FCF27-DFE6-45BF-8B97-455F814520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C02B6A6-26C8-4BED-87C6-DCA12346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508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42280-686F-42D9-953D-E18A6E1B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D8D1D-C986-40D9-BF17-DC1720B9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DD1DB-8010-45A0-8513-0DD132E4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1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E2CC-5022-44A0-B943-E81BBEE7A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1F0BF-77BF-49E0-B2B6-F75246563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 sz="2800"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 sz="2400"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 sz="2000"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 sz="2000"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70A2E-3B92-4BD9-90DF-016DAA5CB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BB13D-2DDD-4407-82C7-C2DAAD56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3787E-B4C5-45F4-8073-9CF7919E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FBC7E-B042-45FC-8690-D6499952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8E099FC-652C-4934-917E-A186B3BF89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14CF809-E8F1-4C64-9867-A6D7E026C5F3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42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7C4C-9CE0-48FB-96F0-FC2ACC6C5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DAF1F-CAA5-41D3-BC28-488C4F9E1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86646-5BC3-4B11-9F0B-977108417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34828-6B04-4AEB-88E3-B9435C74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64CF5-2ABE-4459-8437-87CCB652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4A871-4618-4134-B3A9-C604D2AA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9B80203-704A-46C9-AED0-0D199AC95B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46AD71-C27F-433F-9E42-0F2B61952FB7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5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56E2F-323D-4C6E-9975-F2788B362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5847-82F4-4FFA-8C15-BF861E82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A437B-30C2-4669-BC30-A768B954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DA8FB-CBEC-4DD4-9F11-266F8FED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72E1EE9-2AD5-408B-9272-770376D895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D983AA-00DF-4B90-BFA2-D00FADAF33C8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65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91473F-B276-4D83-A63E-EA562F009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48575"/>
            <a:ext cx="2628900" cy="5028388"/>
          </a:xfrm>
        </p:spPr>
        <p:txBody>
          <a:bodyPr vert="eaVert"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61843-944E-4434-B310-4526D4E2A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48575"/>
            <a:ext cx="7734300" cy="5028387"/>
          </a:xfrm>
        </p:spPr>
        <p:txBody>
          <a:bodyPr vert="eaVert"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072E5-541B-402E-B435-11929517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3031E-F732-4FCD-A1D7-B6F699D7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08CDD-FF32-4653-AB76-732DF31F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48DD8EC-3596-49D0-9B92-DC43F1946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9FF1EC4-8767-4C38-9694-AA33D19F165C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27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81AEF-D596-45E0-813C-5333F97E5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C71BE-C14B-4ED1-BE1E-F42470EBE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304CB-F0D8-45FD-95B7-39B283804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05C35-DB3C-4945-BAAC-4C8A6BD5078D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1AC8D-52DD-434E-A5C2-0DB22466D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6AAB-B7BC-424C-869E-DF5CB2C0E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2407-5E29-4FF0-9185-718B880FA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5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760000" y="1050000"/>
            <a:ext cx="10400000" cy="13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300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Individual Tree Segmentation from Handheld LiDAR Point Clouds for DBH Estimation in Rubber Plantations using Multi-channel CNN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0000" y="252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100" b="1">
                <a:solidFill>
                  <a:srgbClr val="44546A"/>
                </a:solidFill>
                <a:latin typeface="Arial"/>
                <a:ea typeface="Arial"/>
                <a:cs typeface="Arial"/>
              </a:rPr>
              <a:t>Draft Thesis Proposal</a:t>
            </a:r>
          </a:p>
        </p:txBody>
      </p:sp>
      <p:sp>
        <p:nvSpPr>
          <p:cNvPr id="5" name="Line 5"/>
          <p:cNvSpPr/>
          <p:nvPr/>
        </p:nvSpPr>
        <p:spPr>
          <a:xfrm>
            <a:off x="780000" y="3200000"/>
            <a:ext cx="51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00000" y="4040000"/>
            <a:ext cx="870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750">
                <a:solidFill>
                  <a:srgbClr val="242424"/>
                </a:solidFill>
                <a:latin typeface="Arial"/>
                <a:ea typeface="Arial"/>
                <a:cs typeface="Arial"/>
              </a:rPr>
              <a:t>[Student Name]  [Student ID]</a:t>
            </a:r>
          </a:p>
          <a:p>
            <a:pPr spcAft="600"/>
            <a:r>
              <a:rPr lang="en-US" sz="1750">
                <a:solidFill>
                  <a:srgbClr val="242424"/>
                </a:solidFill>
                <a:latin typeface="Arial"/>
                <a:ea typeface="Arial"/>
                <a:cs typeface="Arial"/>
              </a:rPr>
              <a:t>Advisor: [Advisor Name]</a:t>
            </a:r>
          </a:p>
          <a:p>
            <a:pPr spcAft="600"/>
            <a:r>
              <a:rPr lang="en-US" sz="1750">
                <a:solidFill>
                  <a:srgbClr val="242424"/>
                </a:solidFill>
                <a:latin typeface="Arial"/>
                <a:ea typeface="Arial"/>
                <a:cs typeface="Arial"/>
              </a:rPr>
              <a:t>Department of Computer Engineering, Chulalongkorn University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Forest inventory needs reliable tree-level measurements.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Diameter at breast height (DBH) is a core variable for forest inventory, biomass estimation, and growth monitoring.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Manual DBH measurement is accurate but labor-intensive, especially across repeated surveys and multiple plots.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Handheld LiDAR can rapidly capture 3D understory structure around tree stems.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The bottleneck is robust individual tree segmentation before downstream DBH extraction.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From 12 rubber plantation point clouds to individual trees and DBH.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Input: 12 handheld/mobile LiDAR point clouds from rubber plantation plots.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Ground truth: tree locations and DBH measurements for each plot.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Output: tree-level detections or segments, then DBH estimated from points near breast height.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Challenges include uneven point density, occlusion, understory clutter, and regularly spaced stems that may be merged.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Related Work Landscape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Most systems combine segmentation, stem mapping, and geometric fitting.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Classical pipelines rely on ground filtering, trunk extraction, clustering, and circle or cylinder fitting.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Mobile and handheld LiDAR DBH systems track individual trees and fit trunk models from accumulated scans.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Large-scale MLS inventory uses semantic segmentation, stem mapping, and DBH measurement at the individual-tree level.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TreeLearn performs 3D point-cloud tree instance segmentation using sparse convolutional neural networks.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TreeScope and SLOAM provide robotics-oriented LiDAR datasets and mapping frameworks for tree inventory tasks.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There is an accuracy-efficiency gap between lightweight 2D models and heavy 3D point-cloud models.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Rule-based point-cloud methods are sensitive to radius, density, voxel size, and fitting thresholds.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DBH errors often originate from poor segmentation, occluded stems, incomplete breast-height slices, or branch/leaf contamination.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TreeLearn is powerful but requires 3D sparse CNN inference, GPU memory, and possibly domain fine-tuning.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A single-channel top-view density image is lightweight but discards vertical structure and breast-height evidence.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It remains unclear whether physically meaningful multi-channel 2D features can improve accuracy while preserving efficiency.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Research Objectives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The proposal focuses on individual tree segmentation as the upstream step for DBH estimation.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Develop a multi-channel CNN pipeline for individual tree segmentation from handheld LiDAR point clouds.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Compare multi-channel CNN with a single-channel density baseline using the same plantation plots.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Benchmark against 3D point-cloud-based methods such as TreeLearn on the same test data.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Quantify how segmentation quality affects downstream DBH extraction accuracy.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Evaluate runtime, memory/VRAM usage, model size, and deployment practicality.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Research Questions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Key questions and working hypotheses.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RQ1: Does multi-channel CNN improve precision, recall, and F1-score over a density-only baseline?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RQ2: How close is multi-channel CNN to TreeLearn when both are evaluated on the same rubber plantation plots?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RQ3: Does multi-channel CNN reduce inference time and resource usage compared with 3D point-cloud segmentation?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H1: Height-above-ground and breast-height density channels reduce false positives and false negatives.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H2: Better individual tree segmentation reduces downstream DBH error.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Dataset and Controls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Rubber plantation data will be evaluated at the plot level.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Main dataset: 12 rubber plantation point clouds.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Labels: tree X/Y positions and field-measured DBH from CSV files.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Preprocessing: PCD/LAS conversion, filtering, rotation, and coordinate alignment with labels.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Train/validation/test split will be performed by plot to prevent leakage.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The same split seed, image size, pixel size, bounding-box size, and augmentation policy will be used for fair comparison.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Proposed System Overview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Multi-channel CNN is used for individual tree segmentation before DBH fitting.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840000"/>
            <a:ext cx="1640000" cy="620000"/>
          </a:xfrm>
          <a:prstGeom prst="rect">
            <a:avLst/>
          </a:prstGeom>
          <a:solidFill>
            <a:srgbClr val="F4EAF2"/>
          </a:solidFill>
          <a:ln>
            <a:solidFill>
              <a:srgbClr val="D8A8C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40000" y="2025000"/>
            <a:ext cx="1460000" cy="44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Point cloud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2320000" y="2150000"/>
            <a:ext cx="200000" cy="1"/>
          </a:xfrm>
          <a:prstGeom prst="straightConnector1">
            <a:avLst/>
          </a:prstGeom>
          <a:ln w="25400">
            <a:solidFill>
              <a:srgbClr val="A0006D"/>
            </a:solidFill>
            <a:tailEnd type="none"/>
            <a:headEnd type="triangle"/>
          </a:ln>
        </p:spPr>
      </p:cxnSp>
      <p:sp>
        <p:nvSpPr>
          <p:cNvPr id="9" name="Shape 9"/>
          <p:cNvSpPr/>
          <p:nvPr/>
        </p:nvSpPr>
        <p:spPr>
          <a:xfrm>
            <a:off x="2550000" y="1840000"/>
            <a:ext cx="1640000" cy="620000"/>
          </a:xfrm>
          <a:prstGeom prst="rect">
            <a:avLst/>
          </a:prstGeom>
          <a:solidFill>
            <a:srgbClr val="F4EAF2"/>
          </a:solidFill>
          <a:ln>
            <a:solidFill>
              <a:srgbClr val="D8A8C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640000" y="2025000"/>
            <a:ext cx="1460000" cy="44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Feature raster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4220000" y="2150000"/>
            <a:ext cx="200000" cy="1"/>
          </a:xfrm>
          <a:prstGeom prst="straightConnector1">
            <a:avLst/>
          </a:prstGeom>
          <a:ln w="25400">
            <a:solidFill>
              <a:srgbClr val="A0006D"/>
            </a:solidFill>
            <a:tailEnd type="none"/>
            <a:headEnd type="triangle"/>
          </a:ln>
        </p:spPr>
      </p:cxnSp>
      <p:sp>
        <p:nvSpPr>
          <p:cNvPr id="12" name="Shape 12"/>
          <p:cNvSpPr/>
          <p:nvPr/>
        </p:nvSpPr>
        <p:spPr>
          <a:xfrm>
            <a:off x="4450000" y="1840000"/>
            <a:ext cx="1640000" cy="620000"/>
          </a:xfrm>
          <a:prstGeom prst="rect">
            <a:avLst/>
          </a:prstGeom>
          <a:solidFill>
            <a:srgbClr val="F4EAF2"/>
          </a:solidFill>
          <a:ln>
            <a:solidFill>
              <a:srgbClr val="D8A8C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540000" y="2025000"/>
            <a:ext cx="1460000" cy="44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CNN/YOLO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6120000" y="2150000"/>
            <a:ext cx="200000" cy="1"/>
          </a:xfrm>
          <a:prstGeom prst="straightConnector1">
            <a:avLst/>
          </a:prstGeom>
          <a:ln w="25400">
            <a:solidFill>
              <a:srgbClr val="A0006D"/>
            </a:solidFill>
            <a:tailEnd type="none"/>
            <a:headEnd type="triangle"/>
          </a:ln>
        </p:spPr>
      </p:cxnSp>
      <p:sp>
        <p:nvSpPr>
          <p:cNvPr id="15" name="Shape 15"/>
          <p:cNvSpPr/>
          <p:nvPr/>
        </p:nvSpPr>
        <p:spPr>
          <a:xfrm>
            <a:off x="6350000" y="1840000"/>
            <a:ext cx="1640000" cy="620000"/>
          </a:xfrm>
          <a:prstGeom prst="rect">
            <a:avLst/>
          </a:prstGeom>
          <a:solidFill>
            <a:srgbClr val="F4EAF2"/>
          </a:solidFill>
          <a:ln>
            <a:solidFill>
              <a:srgbClr val="D8A8C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440000" y="2025000"/>
            <a:ext cx="1460000" cy="44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Tree crop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8020000" y="2150000"/>
            <a:ext cx="200000" cy="1"/>
          </a:xfrm>
          <a:prstGeom prst="straightConnector1">
            <a:avLst/>
          </a:prstGeom>
          <a:ln w="25400">
            <a:solidFill>
              <a:srgbClr val="A0006D"/>
            </a:solidFill>
            <a:tailEnd type="none"/>
            <a:headEnd type="triangle"/>
          </a:ln>
        </p:spPr>
      </p:cxnSp>
      <p:sp>
        <p:nvSpPr>
          <p:cNvPr id="18" name="Shape 18"/>
          <p:cNvSpPr/>
          <p:nvPr/>
        </p:nvSpPr>
        <p:spPr>
          <a:xfrm>
            <a:off x="8250000" y="1840000"/>
            <a:ext cx="1640000" cy="620000"/>
          </a:xfrm>
          <a:prstGeom prst="rect">
            <a:avLst/>
          </a:prstGeom>
          <a:solidFill>
            <a:srgbClr val="F4EAF2"/>
          </a:solidFill>
          <a:ln>
            <a:solidFill>
              <a:srgbClr val="D8A8C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340000" y="2025000"/>
            <a:ext cx="1460000" cy="44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DBH fitting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9920000" y="2150000"/>
            <a:ext cx="200000" cy="1"/>
          </a:xfrm>
          <a:prstGeom prst="straightConnector1">
            <a:avLst/>
          </a:prstGeom>
          <a:ln w="25400">
            <a:solidFill>
              <a:srgbClr val="A0006D"/>
            </a:solidFill>
            <a:tailEnd type="none"/>
            <a:headEnd type="triangle"/>
          </a:ln>
        </p:spPr>
      </p:cxnSp>
      <p:sp>
        <p:nvSpPr>
          <p:cNvPr id="21" name="Shape 21"/>
          <p:cNvSpPr/>
          <p:nvPr/>
        </p:nvSpPr>
        <p:spPr>
          <a:xfrm>
            <a:off x="10150000" y="1840000"/>
            <a:ext cx="1640000" cy="620000"/>
          </a:xfrm>
          <a:prstGeom prst="rect">
            <a:avLst/>
          </a:prstGeom>
          <a:solidFill>
            <a:srgbClr val="F4EAF2"/>
          </a:solidFill>
          <a:ln>
            <a:solidFill>
              <a:srgbClr val="D8A8C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0240000" y="2025000"/>
            <a:ext cx="1460000" cy="44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0000" y="3100000"/>
            <a:ext cx="9700000" cy="26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00">
                <a:solidFill>
                  <a:srgbClr val="242424"/>
                </a:solidFill>
                <a:latin typeface="Arial"/>
                <a:ea typeface="Arial"/>
                <a:cs typeface="Arial"/>
              </a:rPr>
              <a:t>Point cloud preprocessing normalizes the plot and aligns coordinates.</a:t>
            </a:r>
          </a:p>
          <a:p>
            <a:pPr marL="342900" indent="-228600" spcAft="600">
              <a:buChar char="•"/>
            </a:pPr>
            <a:r>
              <a:rPr lang="en-US" sz="1600">
                <a:solidFill>
                  <a:srgbClr val="242424"/>
                </a:solidFill>
                <a:latin typeface="Arial"/>
                <a:ea typeface="Arial"/>
                <a:cs typeface="Arial"/>
              </a:rPr>
              <a:t>Feature rasterization converts 3D points into physically meaningful 2D channels.</a:t>
            </a:r>
          </a:p>
          <a:p>
            <a:pPr marL="342900" indent="-228600" spcAft="600">
              <a:buChar char="•"/>
            </a:pPr>
            <a:r>
              <a:rPr lang="en-US" sz="1600">
                <a:solidFill>
                  <a:srgbClr val="242424"/>
                </a:solidFill>
                <a:latin typeface="Arial"/>
                <a:ea typeface="Arial"/>
                <a:cs typeface="Arial"/>
              </a:rPr>
              <a:t>CNN/YOLO predicts tree centers or tree-level regions in top-view space.</a:t>
            </a:r>
          </a:p>
          <a:p>
            <a:pPr marL="342900" indent="-228600" spcAft="600">
              <a:buChar char="•"/>
            </a:pPr>
            <a:r>
              <a:rPr lang="en-US" sz="1600">
                <a:solidFill>
                  <a:srgbClr val="242424"/>
                </a:solidFill>
                <a:latin typeface="Arial"/>
                <a:ea typeface="Arial"/>
                <a:cs typeface="Arial"/>
              </a:rPr>
              <a:t>Predicted trees are used to crop trunk points near breast height.</a:t>
            </a:r>
          </a:p>
          <a:p>
            <a:pPr marL="342900" indent="-228600" spcAft="600">
              <a:buChar char="•"/>
            </a:pPr>
            <a:r>
              <a:rPr lang="en-US" sz="1600">
                <a:solidFill>
                  <a:srgbClr val="242424"/>
                </a:solidFill>
                <a:latin typeface="Arial"/>
                <a:ea typeface="Arial"/>
                <a:cs typeface="Arial"/>
              </a:rPr>
              <a:t>DBH is estimated using circle/cylinder fitting and compared with field measurements.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Multi-channel CNN Input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Synthetic RGB channels encode LiDAR-derived physical features.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R = density: number of points in each top-view grid cell.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G = hag_p95: 95th percentile of height above local ground in each cell.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B = dbh_band_density: number of points in the 1.0-1.6 m height-above-ground band.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The representation reuses the existing CNN/YOLO workflow without changing the input layer.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Color augmentation is disabled because channel colors represent physical features, not natural image color.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Comparison Methods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All methods will be evaluated on the same test plots.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Single-channel CNN: top-view density image and YOLO/CNN detector.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Proposed multi-channel CNN: density + height-above-ground + breast-height density.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TreeLearn: 3D sparse CNN tree instance segmentation directly on point clouds.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Point-cloud baseline: ground filtering, trunk extraction, clustering, and circle/cylinder fitting.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Optional references: SLOAM and TreeScope-style metrics for stem mapping and diameter estimation.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Experiment Design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The experiments isolate representation quality, model accuracy, and efficiency.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Experiment 1: density-only CNN versus multi-channel CNN.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Experiment 2: channel ablation: density, density + hag_p95, density + dbh_band_density, and all channels.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Experiment 3: multi-channel CNN versus TreeLearn on identical test plots.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Experiment 4: DBH extraction from each method using single-slice and multi-height-bin fitting.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Experiment 5: runtime and resource benchmark for preprocessing, inference, and DBH fitting.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Evaluation Metrics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Accuracy and efficiency will be reported separately.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Tree detection: precision, recall, F1-score, tree detection rate, and plot-level count error.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Localization: matched center error, omission error, and commission error.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Instance quality: coverage, IoU, or point-level metrics if point-level instance labels are available.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DBH extraction: MAE, RMSE, bias, relative error, and percentage of trees within +/- 2 cm or +/- 5 cm.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Efficiency: runtime per plot, peak CPU memory, peak GPU memory, throughput, and model size.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Expected Contributions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The study aims to deliver a practical accuracy-efficiency benchmark.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000" y="1740000"/>
            <a:ext cx="99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A reproducible pipeline for rubber-tree segmentation and DBH extraction from handheld LiDAR point clouds.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A multi-channel raster representation that preserves useful vertical and breast-height information.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A controlled benchmark comparing density-only CNN, multi-channel CNN, TreeLearn, and point-cloud baselines.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An analysis of how segmentation errors propagate into DBH estimation errors.</a:t>
            </a:r>
          </a:p>
          <a:p>
            <a:pPr marL="342900" indent="-228600" spcAft="600">
              <a:buChar char="•"/>
            </a:pPr>
            <a:r>
              <a:rPr lang="en-US" sz="1650">
                <a:solidFill>
                  <a:srgbClr val="242424"/>
                </a:solidFill>
                <a:latin typeface="Arial"/>
                <a:ea typeface="Arial"/>
                <a:cs typeface="Arial"/>
              </a:rPr>
              <a:t>Practical guidance on when lightweight 2D multi-channel CNN is preferable to direct 3D point-cloud segmentation.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References: Individual Tree Segmentation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Grouped references follow the same numbered style used in the example proposal.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0000" y="1710000"/>
            <a:ext cx="1035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[1] Liu, Lulu, Aiwu Zhang, Shen Xiao, Shaoxing Hu, Nianpeng He, Haiyang Pang, Xizhen Zhang, and Shikai Yang. 2021. "Single Tree Segmentation and Diameter at Breast Height Estimation With Mobile LiDAR." IEEE Access 9: 24314-24325.</a:t>
            </a:r>
          </a:p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[2] Henrich, Jonathan, Jan van Delden, Dominik Seidel, Thomas Kneib, and Alexander S. Ecker. 2024. "TreeLearn: A Deep Learning Method for Segmenting Individual Trees from Ground-Based LiDAR Forest Point Clouds." Ecological Informatics 84: 102888.</a:t>
            </a:r>
          </a:p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[3] Shao, Jinyuan, Yi-Chun Lin, Cameron Wingren, Sang-Yeop Shin, William Fei, Joshua Carpenter, Ayman Habib, and Songlin Fei. 2024. "Large-Scale Inventory in Natural Forests with Mobile LiDAR Point Clouds." Science of Remote Sensing 10: 100168.</a:t>
            </a:r>
          </a:p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[4] Li, Qiujie, and Yu Yan. 2024. "Street Tree Segmentation from Mobile Laser Scanning Data Using Deep Learning-Based Image Instance Segmentation." Urban Forestry &amp; Urban Greening 92: 128200.</a:t>
            </a:r>
          </a:p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[5] Cheng, Derek, Fernando Cladera Ojeda, Ankit Prabhu, Xu Liu, Alan Zhu, Patrick Corey Green, Reza Ehsani, Pratik Chaudhari, and Vijay Kumar. 2023. "TreeScope: An Agricultural Robotics Dataset for LiDAR-Based Mapping of Trees in Forests and Orchards." arXiv:2310.02162.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10000" y="270000"/>
            <a:ext cx="11100000" cy="615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FFFF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50000" y="42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2650" b="1">
                <a:solidFill>
                  <a:srgbClr val="A0006D"/>
                </a:solidFill>
                <a:latin typeface="Arial"/>
                <a:ea typeface="Arial"/>
                <a:cs typeface="Arial"/>
              </a:rPr>
              <a:t>References: DBH Extraction</a:t>
            </a:r>
          </a:p>
        </p:txBody>
      </p:sp>
      <p:sp>
        <p:nvSpPr>
          <p:cNvPr id="4" name="Line 4"/>
          <p:cNvSpPr/>
          <p:nvPr/>
        </p:nvSpPr>
        <p:spPr>
          <a:xfrm>
            <a:off x="650000" y="970000"/>
            <a:ext cx="4500000" cy="0"/>
          </a:xfrm>
          <a:prstGeom prst="line">
            <a:avLst/>
          </a:prstGeom>
          <a:ln w="25400">
            <a:solidFill>
              <a:srgbClr val="A0006D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70000" y="1100000"/>
            <a:ext cx="101000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450">
                <a:solidFill>
                  <a:srgbClr val="44546A"/>
                </a:solidFill>
                <a:latin typeface="Arial"/>
                <a:ea typeface="Arial"/>
                <a:cs typeface="Arial"/>
              </a:rPr>
              <a:t>DBH-focused references are separated from segmentation references.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0000" y="1710000"/>
            <a:ext cx="1035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[1] Proudman, Alexander, Milad Ramezani, and Maurice Fallon. 2021. "Online Estimation of Diameter at Breast Height (DBH) of Forest Trees Using a Handheld LiDAR." 2021 European Conference on Mobile Robots (ECMR).</a:t>
            </a:r>
          </a:p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[2] Sheng, Yuhao, Qingzhan Zhao, Xuewen Wang, Yihao Liu, and Xiaojun Yin. 2024. "Tree Diameter at Breast Height Extraction Based on Mobile Laser Scanning Point Cloud." Forests 15 (4): 590.</a:t>
            </a:r>
          </a:p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[3] Liu, Lulu, Aiwu Zhang, Shen Xiao, Shaoxing Hu, Nianpeng He, Haiyang Pang, Xizhen Zhang, and Shikai Yang. 2021. "Single Tree Segmentation and Diameter at Breast Height Estimation With Mobile LiDAR." IEEE Access 9: 24314-24325.</a:t>
            </a:r>
          </a:p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[4] Shao, Jinyuan, Yi-Chun Lin, Cameron Wingren, Sang-Yeop Shin, William Fei, Joshua Carpenter, Ayman Habib, and Songlin Fei. 2024. "Large-Scale Inventory in Natural Forests with Mobile LiDAR Point Clouds." Science of Remote Sensing 10: 100168.</a:t>
            </a:r>
          </a:p>
          <a:p>
            <a:pPr spcAft="1000"/>
            <a:r>
              <a:rPr lang="en-US" sz="1150">
                <a:solidFill>
                  <a:srgbClr val="242424"/>
                </a:solidFill>
                <a:latin typeface="Arial"/>
                <a:ea typeface="Arial"/>
                <a:cs typeface="Arial"/>
              </a:rPr>
              <a:t>[5] Cheng, Derek, Fernando Cladera Ojeda, Ankit Prabhu, Xu Liu, Alan Zhu, Patrick Corey Green, Reza Ehsani, Pratik Chaudhari, and Vijay Kumar. 2023. "TreeScope: An Agricultural Robotics Dataset for LiDAR-Based Mapping of Trees in Forests and Orchards." arXiv:2310.02162.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0000" y="632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spcAft="600"/>
            <a:r>
              <a:rPr lang="en-US" sz="1050">
                <a:solidFill>
                  <a:srgbClr val="7A7A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Chula-Template" id="{26F538F0-73E6-4E92-BC00-3520D85CC478}" vid="{1185C732-8A23-4955-95E2-AC7C590C1EC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16</Slides>
  <Company>Chulalongkorn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Individual Tree Segmentation from Handheld LiDAR Point Clouds for DBH Estimation in Rubber Plantations using Multi-channel CNN</dc:title>
  <dc:creator>Codex</dc:creator>
  <cp:lastModifiedBy>Codex</cp:lastModifiedBy>
  <dcterms:created xsi:type="dcterms:W3CDTF">2026-05-15T09:05:34+00:00</dcterms:created>
  <dcterms:modified xsi:type="dcterms:W3CDTF">2026-05-15T09:05:34+00:00</dcterms:modified>
</cp:coreProperties>
</file>