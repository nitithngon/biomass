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60" r:id="rId1"/>
  </p:sldMasterIdLst>
  <p:notesMasterIdLst>
    <p:notesMasterId r:id="rId40"/>
  </p:notesMasterIdLst>
  <p:handoutMasterIdLst>
    <p:handoutMasterId r:id="rId41"/>
  </p:handoutMasterIdLst>
  <p:sldIdLst>
    <p:sldId id="256" r:id="rId2"/>
    <p:sldId id="336" r:id="rId3"/>
    <p:sldId id="334" r:id="rId4"/>
    <p:sldId id="340" r:id="rId5"/>
    <p:sldId id="258" r:id="rId6"/>
    <p:sldId id="326" r:id="rId7"/>
    <p:sldId id="337" r:id="rId8"/>
    <p:sldId id="261" r:id="rId9"/>
    <p:sldId id="333" r:id="rId10"/>
    <p:sldId id="272" r:id="rId11"/>
    <p:sldId id="344" r:id="rId12"/>
    <p:sldId id="321" r:id="rId13"/>
    <p:sldId id="342" r:id="rId14"/>
    <p:sldId id="265" r:id="rId15"/>
    <p:sldId id="296" r:id="rId16"/>
    <p:sldId id="312" r:id="rId17"/>
    <p:sldId id="273" r:id="rId18"/>
    <p:sldId id="338" r:id="rId19"/>
    <p:sldId id="358" r:id="rId20"/>
    <p:sldId id="317" r:id="rId21"/>
    <p:sldId id="275" r:id="rId22"/>
    <p:sldId id="322" r:id="rId23"/>
    <p:sldId id="278" r:id="rId24"/>
    <p:sldId id="284" r:id="rId25"/>
    <p:sldId id="367" r:id="rId26"/>
    <p:sldId id="285" r:id="rId27"/>
    <p:sldId id="286" r:id="rId28"/>
    <p:sldId id="323" r:id="rId29"/>
    <p:sldId id="328" r:id="rId30"/>
    <p:sldId id="363" r:id="rId31"/>
    <p:sldId id="359" r:id="rId32"/>
    <p:sldId id="281" r:id="rId33"/>
    <p:sldId id="325" r:id="rId34"/>
    <p:sldId id="297" r:id="rId35"/>
    <p:sldId id="262" r:id="rId36"/>
    <p:sldId id="295" r:id="rId37"/>
    <p:sldId id="294" r:id="rId38"/>
    <p:sldId id="339" r:id="rId39"/>
  </p:sldIdLst>
  <p:sldSz cx="12192000" cy="6858000"/>
  <p:notesSz cx="6858000" cy="9144000"/>
  <p:embeddedFontLst>
    <p:embeddedFont>
      <p:font typeface="Cambria Math" panose="02040503050406030204" pitchFamily="18" charset="0"/>
      <p:regular r:id="rId42"/>
    </p:embeddedFont>
    <p:embeddedFont>
      <p:font typeface="TH Sarabun New" panose="020B0500040200020003" pitchFamily="34" charset="-34"/>
      <p:regular r:id="rId43"/>
      <p:bold r:id="rId44"/>
      <p:italic r:id="rId45"/>
      <p:boldItalic r:id="rId46"/>
    </p:embeddedFont>
    <p:embeddedFont>
      <p:font typeface="TH SarabunPSK" panose="020B0500040200020003" pitchFamily="34" charset="-34"/>
      <p:regular r:id="rId47"/>
      <p:bold r:id="rId48"/>
      <p:italic r:id="rId49"/>
      <p:boldItalic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and Introduction" id="{C07BB977-A7EA-4692-8427-1B2023DFD51A}">
          <p14:sldIdLst>
            <p14:sldId id="256"/>
            <p14:sldId id="336"/>
            <p14:sldId id="334"/>
            <p14:sldId id="340"/>
            <p14:sldId id="258"/>
            <p14:sldId id="326"/>
          </p14:sldIdLst>
        </p14:section>
        <p14:section name="Literature Review" id="{B68EA82A-7DD3-47AF-925E-9032C031190A}">
          <p14:sldIdLst>
            <p14:sldId id="337"/>
            <p14:sldId id="261"/>
            <p14:sldId id="333"/>
            <p14:sldId id="272"/>
            <p14:sldId id="344"/>
            <p14:sldId id="321"/>
            <p14:sldId id="342"/>
            <p14:sldId id="265"/>
            <p14:sldId id="296"/>
            <p14:sldId id="312"/>
            <p14:sldId id="273"/>
          </p14:sldIdLst>
        </p14:section>
        <p14:section name="Methodology" id="{BF66AE0C-B4C2-4FF2-8CC5-EF83AD95726B}">
          <p14:sldIdLst>
            <p14:sldId id="338"/>
            <p14:sldId id="358"/>
            <p14:sldId id="317"/>
            <p14:sldId id="275"/>
            <p14:sldId id="322"/>
            <p14:sldId id="278"/>
            <p14:sldId id="284"/>
            <p14:sldId id="367"/>
            <p14:sldId id="285"/>
            <p14:sldId id="286"/>
            <p14:sldId id="323"/>
            <p14:sldId id="328"/>
            <p14:sldId id="363"/>
          </p14:sldIdLst>
        </p14:section>
        <p14:section name="Planning and Progress" id="{47B90A60-B2D9-411E-8292-3C976C29644E}">
          <p14:sldIdLst>
            <p14:sldId id="359"/>
            <p14:sldId id="281"/>
          </p14:sldIdLst>
        </p14:section>
        <p14:section name="Ending" id="{4C0751F0-9D14-4A8D-8F40-CF25CA9E76B5}">
          <p14:sldIdLst>
            <p14:sldId id="325"/>
          </p14:sldIdLst>
        </p14:section>
        <p14:section name="Footnotes" id="{94EE5847-C7CC-44A1-BFDD-0AF80560EEA0}">
          <p14:sldIdLst>
            <p14:sldId id="297"/>
            <p14:sldId id="262"/>
            <p14:sldId id="295"/>
            <p14:sldId id="294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1F4E79"/>
    <a:srgbClr val="FFFF00"/>
    <a:srgbClr val="404040"/>
    <a:srgbClr val="DFDFDF"/>
    <a:srgbClr val="C840B8"/>
    <a:srgbClr val="843C0C"/>
    <a:srgbClr val="D0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ppasith Nisitsukcharoen" userId="8396ebdaf0626b22" providerId="LiveId" clId="{6C9878FA-C9E4-BA42-A929-D37E4871A02B}"/>
    <pc:docChg chg="modSld">
      <pc:chgData name="Theppasith Nisitsukcharoen" userId="8396ebdaf0626b22" providerId="LiveId" clId="{6C9878FA-C9E4-BA42-A929-D37E4871A02B}" dt="2025-06-21T08:47:08.918" v="0" actId="1076"/>
      <pc:docMkLst>
        <pc:docMk/>
      </pc:docMkLst>
      <pc:sldChg chg="modSp mod">
        <pc:chgData name="Theppasith Nisitsukcharoen" userId="8396ebdaf0626b22" providerId="LiveId" clId="{6C9878FA-C9E4-BA42-A929-D37E4871A02B}" dt="2025-06-21T08:47:08.918" v="0" actId="1076"/>
        <pc:sldMkLst>
          <pc:docMk/>
          <pc:sldMk cId="2267246921" sldId="339"/>
        </pc:sldMkLst>
        <pc:picChg chg="mod">
          <ac:chgData name="Theppasith Nisitsukcharoen" userId="8396ebdaf0626b22" providerId="LiveId" clId="{6C9878FA-C9E4-BA42-A929-D37E4871A02B}" dt="2025-06-21T08:47:08.918" v="0" actId="1076"/>
          <ac:picMkLst>
            <pc:docMk/>
            <pc:sldMk cId="2267246921" sldId="339"/>
            <ac:picMk id="13" creationId="{1FBC80CB-914B-2491-4843-B277B14283E9}"/>
          </ac:picMkLst>
        </pc:picChg>
      </pc:sldChg>
    </pc:docChg>
  </pc:docChgLst>
  <pc:docChgLst>
    <pc:chgData name="Theppasith Nisitsukcharoen" userId="8396ebdaf0626b22" providerId="LiveId" clId="{4F3BCE8C-DC86-874E-A14B-F5E04B0526F0}"/>
    <pc:docChg chg="undo custSel modSld">
      <pc:chgData name="Theppasith Nisitsukcharoen" userId="8396ebdaf0626b22" providerId="LiveId" clId="{4F3BCE8C-DC86-874E-A14B-F5E04B0526F0}" dt="2025-05-18T08:14:03.094" v="1" actId="1076"/>
      <pc:docMkLst>
        <pc:docMk/>
      </pc:docMkLst>
      <pc:sldChg chg="modSp mod">
        <pc:chgData name="Theppasith Nisitsukcharoen" userId="8396ebdaf0626b22" providerId="LiveId" clId="{4F3BCE8C-DC86-874E-A14B-F5E04B0526F0}" dt="2025-05-18T08:14:03.094" v="1" actId="1076"/>
        <pc:sldMkLst>
          <pc:docMk/>
          <pc:sldMk cId="2094542334" sldId="323"/>
        </pc:sldMkLst>
        <pc:grpChg chg="mod">
          <ac:chgData name="Theppasith Nisitsukcharoen" userId="8396ebdaf0626b22" providerId="LiveId" clId="{4F3BCE8C-DC86-874E-A14B-F5E04B0526F0}" dt="2025-05-18T08:14:03.094" v="1" actId="1076"/>
          <ac:grpSpMkLst>
            <pc:docMk/>
            <pc:sldMk cId="2094542334" sldId="323"/>
            <ac:grpSpMk id="6" creationId="{941965D3-D776-8973-448B-1B6176BAA28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D4EDFA-ABA6-325F-3426-45D76D8213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47AA64-9E6B-4F7A-13C0-58BBA8B394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CD2E9-0541-429E-A1A9-630E421CBAEB}" type="datetimeFigureOut">
              <a:rPr lang="en-US" smtClean="0"/>
              <a:t>24-Jun-25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C2C83-F98F-0BF1-C43D-FD0169293F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C044E-6580-D555-92BC-451CCE4D86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3C777-B620-404D-914F-D655FDFF5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874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36F13-965E-49BB-BB34-C8FCF817B7C7}" type="datetimeFigureOut">
              <a:rPr lang="en-US" smtClean="0"/>
              <a:t>24-Jun-25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B8E65-04F9-4FE2-A8E5-BAC4CB4B0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36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สวัสดีอาจารย์และคณะกรรมการสอบทุกท่านครับ </a:t>
            </a:r>
          </a:p>
          <a:p>
            <a:r>
              <a:rPr lang="th-TH"/>
              <a:t>ผม นายเทพสิทธิ์ นิสิตสุขเจริญ นิสิตปริญญาโท หลักสูตร </a:t>
            </a:r>
            <a:r>
              <a:rPr lang="th-TH" err="1"/>
              <a:t>ว</a:t>
            </a:r>
            <a:r>
              <a:rPr lang="th-TH"/>
              <a:t>ศม ก2</a:t>
            </a:r>
          </a:p>
          <a:p>
            <a:endParaRPr lang="th-TH"/>
          </a:p>
          <a:p>
            <a:r>
              <a:rPr lang="th-TH"/>
              <a:t>วันนี้จะมานำเสนอ โครงร่างวิทยานิพนธ์ ในหัวข้อ </a:t>
            </a:r>
          </a:p>
          <a:p>
            <a:endParaRPr lang="th-TH"/>
          </a:p>
          <a:p>
            <a:r>
              <a:rPr lang="en-US"/>
              <a:t>VISUAL PLACE RECOGNITION</a:t>
            </a:r>
            <a:endParaRPr lang="th-TH"/>
          </a:p>
          <a:p>
            <a:endParaRPr lang="th-TH"/>
          </a:p>
          <a:p>
            <a:r>
              <a:rPr lang="en-US"/>
              <a:t>FOR INDOOR MOBILE ROBOT </a:t>
            </a:r>
            <a:endParaRPr lang="th-TH"/>
          </a:p>
          <a:p>
            <a:endParaRPr lang="th-TH"/>
          </a:p>
          <a:p>
            <a:r>
              <a:rPr lang="en-US"/>
              <a:t>USING OMNIDIRECTIONAL CAMERA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27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ก่อนอื่น จะเริ่มต้นในส่วน ที่มาและความสำคัญของวิทยานิพนธ์นี้ครับ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66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ในปัจจุบัน หุ่นยนต์บริการ เริ่มเข้ามาอยู่ในชีวิตประจำวันของผู้คน</a:t>
            </a:r>
          </a:p>
          <a:p>
            <a:r>
              <a:rPr lang="th-TH"/>
              <a:t>เช่น หุ่นยนต์ช่วยทำความสะอาด  หุ่นยนต์ส่งของ หุ่นยนต์ลาดตระเวร</a:t>
            </a:r>
          </a:p>
          <a:p>
            <a:endParaRPr lang="th-TH"/>
          </a:p>
          <a:p>
            <a:r>
              <a:rPr lang="th-TH"/>
              <a:t>โดย </a:t>
            </a:r>
            <a:r>
              <a:rPr lang="en-US"/>
              <a:t>Skill </a:t>
            </a:r>
            <a:r>
              <a:rPr lang="th-TH"/>
              <a:t>ของหุ่นยนต์พวกนี้ที่เราเห็นบ่อยๆคือ การทำ </a:t>
            </a:r>
            <a:r>
              <a:rPr lang="en-US"/>
              <a:t>Autonomous Navigation</a:t>
            </a:r>
          </a:p>
          <a:p>
            <a:endParaRPr lang="en-US"/>
          </a:p>
          <a:p>
            <a:r>
              <a:rPr lang="th-TH"/>
              <a:t>ซึ่งการทำ </a:t>
            </a:r>
            <a:r>
              <a:rPr lang="en-US"/>
              <a:t>Autonomous Navigation </a:t>
            </a:r>
            <a:r>
              <a:rPr lang="th-TH"/>
              <a:t>ในสภาพแวดล้อมจริงที่มีการเปลี่ยนแปลงตลอด</a:t>
            </a:r>
            <a:r>
              <a:rPr lang="en-US"/>
              <a:t> </a:t>
            </a:r>
            <a:endParaRPr lang="th-TH"/>
          </a:p>
          <a:p>
            <a:r>
              <a:rPr lang="th-TH"/>
              <a:t>มีกุญแจสำคัญคือ การระบุตำแหน่งของหุ่นยนต์</a:t>
            </a:r>
            <a:r>
              <a:rPr lang="en-US"/>
              <a:t> (Localization) </a:t>
            </a:r>
            <a:r>
              <a:rPr lang="th-TH"/>
              <a:t>เพื่อใช้ในการวางแผนการเดินทาง</a:t>
            </a:r>
          </a:p>
          <a:p>
            <a:endParaRPr lang="th-TH"/>
          </a:p>
          <a:p>
            <a:r>
              <a:rPr lang="th-TH"/>
              <a:t>ด้วยเทคโนโลยีในปัจจุบัน เริ่มมีความนิยมในการนำกล้องมาใช้งาน จากเทคโนโลยี </a:t>
            </a:r>
            <a:r>
              <a:rPr lang="en-US"/>
              <a:t>Deep Learning </a:t>
            </a:r>
            <a:r>
              <a:rPr lang="th-TH"/>
              <a:t>และ </a:t>
            </a:r>
            <a:r>
              <a:rPr lang="en-US"/>
              <a:t>Image Processing</a:t>
            </a:r>
            <a:endParaRPr lang="th-TH"/>
          </a:p>
          <a:p>
            <a:endParaRPr lang="th-TH"/>
          </a:p>
          <a:p>
            <a:r>
              <a:rPr lang="th-TH"/>
              <a:t>ซึ่งงานหุ่นยนต์ก็เช่นกัน</a:t>
            </a:r>
          </a:p>
          <a:p>
            <a:r>
              <a:rPr lang="th-TH"/>
              <a:t>ในศาสตร์ที่เรียกว่า </a:t>
            </a:r>
            <a:r>
              <a:rPr lang="en-US"/>
              <a:t>Robot Visual Localization</a:t>
            </a:r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2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การมองเห็นได้กว้างขึ้นจะเข้าใจสิ่งแวดล้อมรอบๆได้ดีขึ้น </a:t>
            </a:r>
          </a:p>
          <a:p>
            <a:endParaRPr lang="th-TH"/>
          </a:p>
          <a:p>
            <a:r>
              <a:rPr lang="th-TH"/>
              <a:t>แม้เกิดการเปลี่ยนแปลงเล็กน้อยกับสถานที่ ที่ทำให้เซนเซอร์แบบเก่าๆ เข้าใจผิด แต่การมองเห็นกว้างๆจะยังทำให้เราเข้าใจภาพรวมแบบเดิมอยู่</a:t>
            </a:r>
            <a:endParaRPr lang="en-US"/>
          </a:p>
          <a:p>
            <a:endParaRPr lang="en-US"/>
          </a:p>
          <a:p>
            <a:r>
              <a:rPr lang="th-TH"/>
              <a:t>และถ้าเราติดกล้องหลายๆตัวในหุ่น ก็จะมีค่าใช้จ่ายเยอะ </a:t>
            </a:r>
          </a:p>
          <a:p>
            <a:r>
              <a:rPr lang="th-TH"/>
              <a:t>ถ้าหุ่นยนต์สามารถติดกล้องได้เพียง 1 ตัว แล้วต้องเห็นให้เยอะมากๆ จะทำยังไง</a:t>
            </a:r>
          </a:p>
          <a:p>
            <a:endParaRPr lang="th-TH"/>
          </a:p>
          <a:p>
            <a:r>
              <a:rPr lang="th-TH"/>
              <a:t>จะมีเลนส์ประเภทหนึ่งที่ทำให้เห็นมุมมองกว้างๆ คือ </a:t>
            </a:r>
            <a:r>
              <a:rPr lang="en-US"/>
              <a:t>Fisheye lens </a:t>
            </a:r>
            <a:endParaRPr lang="th-TH"/>
          </a:p>
          <a:p>
            <a:r>
              <a:rPr lang="th-TH"/>
              <a:t>ทำให้เห็นมุมมองแบบ </a:t>
            </a:r>
            <a:r>
              <a:rPr lang="en-US"/>
              <a:t>Omnidirectional </a:t>
            </a:r>
            <a:r>
              <a:rPr lang="th-TH"/>
              <a:t>หรือ ที่เรียกว่า </a:t>
            </a:r>
            <a:r>
              <a:rPr lang="en-US"/>
              <a:t>Around View </a:t>
            </a:r>
            <a:r>
              <a:rPr lang="th-TH"/>
              <a:t>ได้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89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จริงๆแล้วปัญหาที่เราพูดถึงกัน ถ้าจัดหมวดหมู่ในการใช้งานที่เกี่ยวข้อง</a:t>
            </a:r>
          </a:p>
          <a:p>
            <a:r>
              <a:rPr lang="th-TH"/>
              <a:t>รูปภาพจาก </a:t>
            </a:r>
            <a:r>
              <a:rPr lang="en-US"/>
              <a:t>Visual Sensor </a:t>
            </a:r>
            <a:r>
              <a:rPr lang="th-TH"/>
              <a:t>มีประโยชน์ต่อหลากหลายงาน</a:t>
            </a:r>
          </a:p>
          <a:p>
            <a:r>
              <a:rPr lang="th-TH"/>
              <a:t>และหลายวงการฮะ </a:t>
            </a:r>
          </a:p>
          <a:p>
            <a:endParaRPr lang="th-TH"/>
          </a:p>
          <a:p>
            <a:r>
              <a:rPr lang="th-TH"/>
              <a:t>ภาพจากกล้อง สามารถนำไปทำระบบรู้จำสถานที่</a:t>
            </a:r>
          </a:p>
          <a:p>
            <a:r>
              <a:rPr lang="th-TH"/>
              <a:t>ทำแผนที่ </a:t>
            </a:r>
          </a:p>
          <a:p>
            <a:r>
              <a:rPr lang="th-TH"/>
              <a:t>หรือประมาณการเคลื่อนไหวต่างๆ</a:t>
            </a:r>
          </a:p>
          <a:p>
            <a:endParaRPr lang="th-TH"/>
          </a:p>
          <a:p>
            <a:r>
              <a:rPr lang="th-TH"/>
              <a:t>การทำระบบรู้จำสถานที่ สามารถนำไปต่อยอดได้อีกหลายอย่างทั้ง </a:t>
            </a:r>
            <a:r>
              <a:rPr lang="en-US"/>
              <a:t>AR , </a:t>
            </a:r>
            <a:r>
              <a:rPr lang="th-TH"/>
              <a:t>ท่องเที่ยว  การใช้งานในหุ่นยนต์ และพวกยานยนต์</a:t>
            </a:r>
          </a:p>
          <a:p>
            <a:endParaRPr lang="th-TH"/>
          </a:p>
          <a:p>
            <a:r>
              <a:rPr lang="th-TH"/>
              <a:t>ซึ่งในวิทยานิพนธ์นี้จะให้ความสนใจกับ กล่องสีเขียว คือการใช้งานในหุ่นยนต์เป็นหลักครับ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3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เลยนำมาสู่ส่วนของการระบุปัญหา</a:t>
            </a:r>
          </a:p>
          <a:p>
            <a:endParaRPr lang="th-TH"/>
          </a:p>
          <a:p>
            <a:r>
              <a:rPr lang="th-TH"/>
              <a:t>เริ่มจาก หุ่นยนต์ ระบุตำแหน่งตัวเองได้ลำบากใน </a:t>
            </a:r>
            <a:r>
              <a:rPr lang="en-US"/>
              <a:t>Dynamic Environment</a:t>
            </a:r>
          </a:p>
          <a:p>
            <a:endParaRPr lang="en-US"/>
          </a:p>
          <a:p>
            <a:r>
              <a:rPr lang="th-TH"/>
              <a:t>การมองเห็นสิ่งแวดล้อมกว้างขึ้น ทำให้เข้าใจตำแหน่งตัวเองได้ดีขึ้น</a:t>
            </a:r>
          </a:p>
          <a:p>
            <a:endParaRPr lang="th-TH"/>
          </a:p>
          <a:p>
            <a:r>
              <a:rPr lang="th-TH"/>
              <a:t>ถ้าเราจะใช้กล้อง มีเลนส์ </a:t>
            </a:r>
            <a:r>
              <a:rPr lang="en-US"/>
              <a:t>Fisheye </a:t>
            </a:r>
            <a:r>
              <a:rPr lang="th-TH"/>
              <a:t>ที่ทำให้เราเห็นได้กว้างจนกระทั่งเป็นมุมมองรอบตัวเลยนะ</a:t>
            </a:r>
          </a:p>
          <a:p>
            <a:endParaRPr lang="th-TH"/>
          </a:p>
          <a:p>
            <a:endParaRPr lang="th-TH"/>
          </a:p>
          <a:p>
            <a:r>
              <a:rPr lang="th-TH"/>
              <a:t>นำมาสู่ข้อสงสัยว่า รูป </a:t>
            </a:r>
            <a:r>
              <a:rPr lang="en-US"/>
              <a:t>Omnidirectional </a:t>
            </a:r>
            <a:r>
              <a:rPr lang="th-TH"/>
              <a:t>ควรจะช่วยให้หุ่นยนต์ทำ </a:t>
            </a:r>
            <a:r>
              <a:rPr lang="en-US"/>
              <a:t>Place Recognition </a:t>
            </a:r>
            <a:r>
              <a:rPr lang="th-TH"/>
              <a:t>ดีขึ้นได้ </a:t>
            </a:r>
          </a:p>
          <a:p>
            <a:endParaRPr lang="th-TH"/>
          </a:p>
          <a:p>
            <a:r>
              <a:rPr lang="th-TH"/>
              <a:t>แต่ขั้นตอนมันต่างจากกล้องปกติไหม หรือมีอะไรที่กระทบกับการทำงานได้บ้างหรือเปล่า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21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เข้ามาสู่ส่วนของงานวิจัยที่เกี่ยวข้อง ว่ามีใครทำอะไรมาบ้างแล้วครับ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63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เริ่มต้นจาก นิยามของปัญหา </a:t>
            </a:r>
            <a:r>
              <a:rPr lang="en-US"/>
              <a:t>Visual Place Recognition </a:t>
            </a:r>
            <a:r>
              <a:rPr lang="th-TH"/>
              <a:t>โดย </a:t>
            </a:r>
            <a:r>
              <a:rPr lang="en-US"/>
              <a:t>Survey Paper </a:t>
            </a:r>
            <a:r>
              <a:rPr lang="th-TH"/>
              <a:t>ของ คุณ </a:t>
            </a:r>
            <a:r>
              <a:rPr lang="en-US"/>
              <a:t>Lowry </a:t>
            </a:r>
            <a:r>
              <a:rPr lang="th-TH"/>
              <a:t>ได้นิยามปัญหาไว้ว่า </a:t>
            </a:r>
          </a:p>
          <a:p>
            <a:r>
              <a:rPr lang="th-TH"/>
              <a:t>ถ้าเราให้รูปสถานที่กับ </a:t>
            </a:r>
            <a:r>
              <a:rPr lang="en-US"/>
              <a:t>Agent </a:t>
            </a:r>
            <a:r>
              <a:rPr lang="th-TH"/>
              <a:t>นึง ถามว่า </a:t>
            </a:r>
            <a:r>
              <a:rPr lang="en-US"/>
              <a:t>Agent </a:t>
            </a:r>
            <a:r>
              <a:rPr lang="th-TH"/>
              <a:t>นั้นจะตอบได้ไหมว่าเคยเจอรูปนี้มาแล้วหรือยัง</a:t>
            </a:r>
          </a:p>
          <a:p>
            <a:endParaRPr lang="th-TH"/>
          </a:p>
          <a:p>
            <a:r>
              <a:rPr lang="th-TH"/>
              <a:t>โดยคำว่าสถานที่ มีได้มากมายหลายระดับ </a:t>
            </a:r>
          </a:p>
          <a:p>
            <a:r>
              <a:rPr lang="th-TH"/>
              <a:t>จะเป็นระดับที่ เป็นพื้นที่ที่วัดได้ หรือจะเป็น ระดับพื้นที่ปิดที่มนุษย์ใช้สื่อสารเช่น ระดับห้องหรือทางเดิน </a:t>
            </a:r>
          </a:p>
          <a:p>
            <a:r>
              <a:rPr lang="th-TH"/>
              <a:t>ทิศทางการมอง และ ช่วงเวลาของสถานที่นั้นๆ ก็มีส่วนที่จะช่วยตัดสิน ว่าที่นั่น คือที่เดิมหรือเปล่า </a:t>
            </a:r>
          </a:p>
          <a:p>
            <a:endParaRPr lang="th-TH"/>
          </a:p>
          <a:p>
            <a:r>
              <a:rPr lang="th-TH"/>
              <a:t>ส่วนที่สองคือ การหาว่า เคยเจอสถานที่นี้มาแล้วหรือยัง </a:t>
            </a:r>
          </a:p>
          <a:p>
            <a:r>
              <a:rPr lang="th-TH"/>
              <a:t>คุณ </a:t>
            </a:r>
            <a:r>
              <a:rPr lang="en-US" err="1"/>
              <a:t>Piasco</a:t>
            </a:r>
            <a:r>
              <a:rPr lang="en-US"/>
              <a:t> </a:t>
            </a:r>
            <a:r>
              <a:rPr lang="th-TH"/>
              <a:t>และคณะ ได้แบ่งวิธีการทำ </a:t>
            </a:r>
            <a:r>
              <a:rPr lang="en-US"/>
              <a:t>Visual Place Recognition </a:t>
            </a:r>
            <a:r>
              <a:rPr lang="th-TH"/>
              <a:t>ไว้ สองกลุ่มคือ </a:t>
            </a:r>
          </a:p>
          <a:p>
            <a:r>
              <a:rPr lang="en-US"/>
              <a:t>Indirect Method </a:t>
            </a:r>
            <a:r>
              <a:rPr lang="th-TH"/>
              <a:t>และ </a:t>
            </a:r>
            <a:r>
              <a:rPr lang="en-US"/>
              <a:t>Direct Method </a:t>
            </a:r>
            <a:endParaRPr lang="th-TH"/>
          </a:p>
          <a:p>
            <a:endParaRPr lang="th-TH"/>
          </a:p>
          <a:p>
            <a:r>
              <a:rPr lang="en-US"/>
              <a:t>Indirect Method </a:t>
            </a:r>
            <a:r>
              <a:rPr lang="th-TH"/>
              <a:t>จะใช้ข้อมูลภาพรวม เพื่อคัดรูปภาพที่มีความคล้ายกัน</a:t>
            </a:r>
          </a:p>
          <a:p>
            <a:r>
              <a:rPr lang="th-TH"/>
              <a:t>ส่วน </a:t>
            </a:r>
            <a:r>
              <a:rPr lang="en-US"/>
              <a:t>Direct Method </a:t>
            </a:r>
            <a:r>
              <a:rPr lang="th-TH"/>
              <a:t>จะใช้ข้อมูลจากรูปภาพตรงๆในการเทียบหาคำตอบ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80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Direct Method Extract Local Feature </a:t>
            </a:r>
            <a:r>
              <a:rPr lang="th-TH"/>
              <a:t>ที่อยู่ภายในภาพ</a:t>
            </a:r>
          </a:p>
          <a:p>
            <a:endParaRPr lang="th-TH"/>
          </a:p>
          <a:p>
            <a:r>
              <a:rPr lang="th-TH"/>
              <a:t>เทียบแบบภาพต่อภาพ </a:t>
            </a:r>
            <a:endParaRPr lang="en-US"/>
          </a:p>
          <a:p>
            <a:r>
              <a:rPr lang="th-TH"/>
              <a:t>เทียบเยอะมาก</a:t>
            </a:r>
          </a:p>
          <a:p>
            <a:endParaRPr lang="th-TH"/>
          </a:p>
          <a:p>
            <a:r>
              <a:rPr lang="th-TH"/>
              <a:t>ต่างจาก </a:t>
            </a:r>
            <a:r>
              <a:rPr lang="en-US"/>
              <a:t>Indirect Method </a:t>
            </a:r>
            <a:r>
              <a:rPr lang="th-TH"/>
              <a:t>ที่เป็นการพยายาม</a:t>
            </a:r>
            <a:endParaRPr lang="en-US"/>
          </a:p>
          <a:p>
            <a:r>
              <a:rPr lang="th-TH"/>
              <a:t>สกัดตัวแทนของรูปทั้งใบ </a:t>
            </a:r>
            <a:r>
              <a:rPr lang="en-US"/>
              <a:t>Global Descriptor</a:t>
            </a:r>
            <a:endParaRPr lang="th-TH"/>
          </a:p>
          <a:p>
            <a:endParaRPr lang="th-TH"/>
          </a:p>
          <a:p>
            <a:r>
              <a:rPr lang="th-TH"/>
              <a:t>แล้วนำตัวแทนนี้ ไปหาของที่ใกล้เคียงกัน </a:t>
            </a:r>
            <a:endParaRPr lang="en-US"/>
          </a:p>
          <a:p>
            <a:r>
              <a:rPr lang="th-TH"/>
              <a:t>จำกัดขอบเขตการค้นหา </a:t>
            </a:r>
          </a:p>
          <a:p>
            <a:endParaRPr lang="th-TH"/>
          </a:p>
          <a:p>
            <a:r>
              <a:rPr lang="th-TH"/>
              <a:t>ซึ่งในวิทยานิพนธ์ที่จะเสนอ จะให้ความสนใจไปยัง </a:t>
            </a:r>
            <a:r>
              <a:rPr lang="en-US"/>
              <a:t>Indirect Method </a:t>
            </a:r>
            <a:r>
              <a:rPr lang="th-TH"/>
              <a:t>ในการเข้ามาช่วยแก้ปัญหาตรงนี้ครับ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62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จะขอยกตัวอย่างงานที่เกี่ยวข้องกับการใช้ </a:t>
            </a:r>
            <a:r>
              <a:rPr lang="en-US"/>
              <a:t> Indirect Method </a:t>
            </a:r>
            <a:r>
              <a:rPr lang="th-TH"/>
              <a:t>กับรูปภาพ </a:t>
            </a:r>
            <a:r>
              <a:rPr lang="en-US"/>
              <a:t>Omnidirectional </a:t>
            </a:r>
            <a:endParaRPr lang="th-TH"/>
          </a:p>
          <a:p>
            <a:endParaRPr lang="th-TH"/>
          </a:p>
          <a:p>
            <a:r>
              <a:rPr lang="th-TH"/>
              <a:t>คุณ  </a:t>
            </a:r>
            <a:r>
              <a:rPr lang="en-US"/>
              <a:t>Lee </a:t>
            </a:r>
            <a:r>
              <a:rPr lang="th-TH"/>
              <a:t>และคณะ </a:t>
            </a:r>
            <a:endParaRPr lang="en-US"/>
          </a:p>
          <a:p>
            <a:r>
              <a:rPr lang="th-TH"/>
              <a:t>กล้อง</a:t>
            </a:r>
            <a:r>
              <a:rPr lang="en-US"/>
              <a:t> Fisheye Omnidirectional </a:t>
            </a:r>
          </a:p>
          <a:p>
            <a:r>
              <a:rPr lang="th-TH"/>
              <a:t>ชี้ขึ้นท้องฟ้า และถ่ายรูปในเมือง</a:t>
            </a:r>
            <a:endParaRPr lang="en-US"/>
          </a:p>
          <a:p>
            <a:endParaRPr lang="en-US"/>
          </a:p>
          <a:p>
            <a:r>
              <a:rPr lang="en-US"/>
              <a:t>Color Space </a:t>
            </a:r>
            <a:r>
              <a:rPr lang="th-TH"/>
              <a:t>ที่ทนต่อสภาพแสง</a:t>
            </a:r>
          </a:p>
          <a:p>
            <a:endParaRPr lang="en-US"/>
          </a:p>
          <a:p>
            <a:r>
              <a:rPr lang="th-TH"/>
              <a:t>ใช้ </a:t>
            </a:r>
            <a:r>
              <a:rPr lang="en-US"/>
              <a:t>CNN Network VGG 16 </a:t>
            </a:r>
            <a:r>
              <a:rPr lang="th-TH"/>
              <a:t>ในการสกัด </a:t>
            </a:r>
            <a:r>
              <a:rPr lang="en-US"/>
              <a:t>Feature </a:t>
            </a:r>
            <a:r>
              <a:rPr lang="th-TH"/>
              <a:t>ออกมาจากรูป </a:t>
            </a:r>
            <a:r>
              <a:rPr lang="en-US"/>
              <a:t>Omnidirectional </a:t>
            </a:r>
            <a:endParaRPr lang="th-TH"/>
          </a:p>
          <a:p>
            <a:r>
              <a:rPr lang="th-TH"/>
              <a:t>ปัญหา </a:t>
            </a:r>
            <a:r>
              <a:rPr lang="en-US"/>
              <a:t>Classification</a:t>
            </a:r>
          </a:p>
          <a:p>
            <a:endParaRPr lang="en-US"/>
          </a:p>
          <a:p>
            <a:r>
              <a:rPr lang="th-TH"/>
              <a:t>การวัดผล ถ้ารูปตอบมาเป็นบริเวณข้างๆผลเฉลย จะถือว่าเป็นคำตอบที่ถูกด้วย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6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ต่อมาจะเป็นงานวิจัยของคุณ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Sarlin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และคณะ </a:t>
            </a:r>
          </a:p>
          <a:p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พูดถึง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Pipeline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ของการทำ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Visual Place Recognition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ที่ใช้ทั้ง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Indirect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Direct Method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เข้ามาช่วยกัน </a:t>
            </a:r>
          </a:p>
          <a:p>
            <a:endParaRPr lang="th-TH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โดยเริ่มต้นจากรูปที่อยากรูปตำแหน่ง เรียกรูป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Query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 นำมาทำ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Indirect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ด้วยการสร้าง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Global Descriptor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ขึ้นมาจากรูปนี้ และนำไปคัด รูปในฐานข้อมูลที่เรารู้ว่าอยู่แถวไหน</a:t>
            </a:r>
          </a:p>
          <a:p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เอาอันทีคล้ายกันออกมาจำนวนหนึ่ง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(Candidate)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 ด้วยวิธีที่เรียกว่า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NetVLAD</a:t>
            </a:r>
            <a:endParaRPr lang="th-TH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th-TH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แล้วเอาภาพเหล่านั้น และ ภาพเริ่มต้น ไปหาตำแหน่งที่แม่นยำด้วย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Direct Method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ที่ใช้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3D Model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ที่ได้จาก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Structure From Motion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ในการช่วยหาตำแหน่งที่แม่นยำ </a:t>
            </a:r>
          </a:p>
          <a:p>
            <a:endParaRPr lang="th-TH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จะสังเกตได้ว่า การใช้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Indirect Method/ Global Description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มาช่วยกรอง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(Candidate)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 ออกมาจำนวนหนึ่ง ซึ่งจะทำให้ประหยัดการประมวลผลไปได้เยอะมาก </a:t>
            </a:r>
          </a:p>
          <a:p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เพราะเราไม่จำเป็นต้องเทียบรูปทุกรูปที่อยู่ในฐานข้อมูล แต่ใช้แค่บางส่วนที่เราคัดออกมาแล้ว </a:t>
            </a:r>
            <a:endParaRPr lang="en-US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9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ต่อมา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40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ในส่วนของ </a:t>
            </a:r>
            <a:r>
              <a:rPr lang="en-US"/>
              <a:t>Global Descriptor </a:t>
            </a:r>
            <a:r>
              <a:rPr lang="th-TH"/>
              <a:t>นั้น คือความพยายามที่จะ สร้างคำอธิบายเล็กๆออกมาจากรูปเต็มใบ</a:t>
            </a:r>
          </a:p>
          <a:p>
            <a:endParaRPr lang="th-TH"/>
          </a:p>
          <a:p>
            <a:r>
              <a:rPr lang="th-TH"/>
              <a:t>ซึ่งใน </a:t>
            </a:r>
            <a:r>
              <a:rPr lang="en-US"/>
              <a:t>Module </a:t>
            </a:r>
            <a:r>
              <a:rPr lang="th-TH"/>
              <a:t>นี้จะประกอบด้วย </a:t>
            </a:r>
            <a:r>
              <a:rPr lang="en-US"/>
              <a:t>2 </a:t>
            </a:r>
            <a:r>
              <a:rPr lang="th-TH"/>
              <a:t>ส่วนย่อย </a:t>
            </a:r>
          </a:p>
          <a:p>
            <a:r>
              <a:rPr lang="en-US"/>
              <a:t>Local Feature Extraction</a:t>
            </a:r>
          </a:p>
          <a:p>
            <a:r>
              <a:rPr lang="en-US"/>
              <a:t>Feature Aggregation</a:t>
            </a:r>
          </a:p>
          <a:p>
            <a:endParaRPr lang="th-TH"/>
          </a:p>
          <a:p>
            <a:r>
              <a:rPr lang="th-TH"/>
              <a:t>โดยเราจะเริ่ม </a:t>
            </a:r>
            <a:r>
              <a:rPr lang="en-US"/>
              <a:t>Extract Feature </a:t>
            </a:r>
            <a:r>
              <a:rPr lang="th-TH"/>
              <a:t>ออกมาจากภาพในชุด </a:t>
            </a:r>
            <a:r>
              <a:rPr lang="en-US"/>
              <a:t>Training Set </a:t>
            </a:r>
            <a:r>
              <a:rPr lang="th-TH"/>
              <a:t>แล้วจัดกลุ่ม</a:t>
            </a:r>
            <a:r>
              <a:rPr lang="en-US"/>
              <a:t> Feature </a:t>
            </a:r>
            <a:r>
              <a:rPr lang="th-TH"/>
              <a:t>ในภาพที่มีความคล้ายกันเป็นกลุ่มเดียวกัน</a:t>
            </a:r>
          </a:p>
          <a:p>
            <a:r>
              <a:rPr lang="th-TH"/>
              <a:t>หลังจากนั้น ใช้ตัวแทนกลุ่มเหล่านั้นกลับมาอธิบายรูปแทน</a:t>
            </a:r>
          </a:p>
          <a:p>
            <a:endParaRPr lang="th-TH"/>
          </a:p>
          <a:p>
            <a:r>
              <a:rPr lang="th-TH"/>
              <a:t>จะได้ </a:t>
            </a:r>
            <a:r>
              <a:rPr lang="en-US"/>
              <a:t>Representation </a:t>
            </a:r>
            <a:r>
              <a:rPr lang="th-TH"/>
              <a:t>ที่เล็กกว่าออกมา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72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38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เข้ามาสู่ วัตถุประสงค์ในการทำวิทยานิพนธ์นี้ </a:t>
            </a: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73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ต่อมาจะเป็นส่วนของวิธีวิจัยนะครับผม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71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เริ่มต้นจากขอบเขตของการทดลอง จะเกี่ยวข้องกับข้อมูลที่เราจะใช้ เริ่มจาก รูปภาพที่ใช้จะเป็นภาพจาก </a:t>
            </a:r>
            <a:r>
              <a:rPr lang="en-US"/>
              <a:t>FISHEYE OMNIDIRECTIONAL LENS</a:t>
            </a:r>
          </a:p>
          <a:p>
            <a:r>
              <a:rPr lang="th-TH"/>
              <a:t>ที่มองขึ้นเพดาน ขนานกับพื้น</a:t>
            </a: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56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สำหรับสถานที่ที่พอจะเข้ากับ </a:t>
            </a:r>
            <a:r>
              <a:rPr lang="en-US"/>
              <a:t>Criteria </a:t>
            </a:r>
            <a:r>
              <a:rPr lang="th-TH"/>
              <a:t>ที่กล่าวมาก่อนหน้านี้ </a:t>
            </a:r>
          </a:p>
          <a:p>
            <a:r>
              <a:rPr lang="th-TH"/>
              <a:t>คงจะหนีไม่พ้นบริเวณภายในคณะวิศวะของเรา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3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467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179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ในส่วนของการวัดผลที่งาน </a:t>
            </a:r>
            <a:r>
              <a:rPr lang="en-US"/>
              <a:t>Visual Place Recognition </a:t>
            </a:r>
            <a:r>
              <a:rPr lang="th-TH"/>
              <a:t>นิยมวัดกันจะใช้ แบบเดียวกันกับปัญหา </a:t>
            </a:r>
            <a:r>
              <a:rPr lang="en-US"/>
              <a:t>Information Retrieval</a:t>
            </a:r>
          </a:p>
          <a:p>
            <a:endParaRPr lang="th-TH"/>
          </a:p>
          <a:p>
            <a:r>
              <a:rPr lang="th-TH"/>
              <a:t>เริ่มจากผลลัพธ์ของ </a:t>
            </a:r>
            <a:r>
              <a:rPr lang="en-US"/>
              <a:t>Global Search </a:t>
            </a:r>
            <a:r>
              <a:rPr lang="th-TH"/>
              <a:t>มักจะมาในรูปแบบของ </a:t>
            </a:r>
            <a:r>
              <a:rPr lang="en-US"/>
              <a:t>Candidate </a:t>
            </a:r>
            <a:r>
              <a:rPr lang="th-TH"/>
              <a:t>รูปภาพ </a:t>
            </a:r>
            <a:r>
              <a:rPr lang="en-US"/>
              <a:t>N </a:t>
            </a:r>
            <a:r>
              <a:rPr lang="th-TH"/>
              <a:t>รูป</a:t>
            </a:r>
            <a:endParaRPr lang="en-US"/>
          </a:p>
          <a:p>
            <a:endParaRPr lang="en-US"/>
          </a:p>
          <a:p>
            <a:r>
              <a:rPr lang="th-TH"/>
              <a:t>แล้วเราจะสามารถหาผลลัพธ์ของ </a:t>
            </a:r>
            <a:r>
              <a:rPr lang="en-US"/>
              <a:t>K </a:t>
            </a:r>
            <a:r>
              <a:rPr lang="th-TH"/>
              <a:t>อันดับออกมาได้ </a:t>
            </a:r>
          </a:p>
          <a:p>
            <a:r>
              <a:rPr lang="en-US"/>
              <a:t> Recall at K Rank </a:t>
            </a:r>
            <a:r>
              <a:rPr lang="th-TH"/>
              <a:t>จะเป็นการวัดว่า ใน </a:t>
            </a:r>
            <a:r>
              <a:rPr lang="en-US"/>
              <a:t>Candidate </a:t>
            </a:r>
            <a:r>
              <a:rPr lang="th-TH"/>
              <a:t>ทั้งหมด ใน </a:t>
            </a:r>
            <a:r>
              <a:rPr lang="en-US"/>
              <a:t>K Rank </a:t>
            </a:r>
            <a:r>
              <a:rPr lang="th-TH"/>
              <a:t>มีคำตอบที่ถูกอยู่ไหม</a:t>
            </a:r>
          </a:p>
          <a:p>
            <a:r>
              <a:rPr lang="en-US"/>
              <a:t>Mean Average Precision at K-Rank </a:t>
            </a:r>
            <a:r>
              <a:rPr lang="th-TH"/>
              <a:t>จะเป็นการวัดว่า ใน </a:t>
            </a:r>
            <a:r>
              <a:rPr lang="en-US"/>
              <a:t>Candidate K-Rank </a:t>
            </a:r>
            <a:r>
              <a:rPr lang="th-TH"/>
              <a:t>ลำดับของคำตอบ มีการตอบถูกผิด</a:t>
            </a: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616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992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h-TH" i="1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350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382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829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489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86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FC1CF-8CE4-B640-9ECF-D5B1C0B353F2}" type="slidenum">
              <a:rPr lang="en-TH" smtClean="0"/>
              <a:t>36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274678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FC1CF-8CE4-B640-9ECF-D5B1C0B353F2}" type="slidenum">
              <a:rPr lang="en-TH" smtClean="0"/>
              <a:t>37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226566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8E65-04F9-4FE2-A8E5-BAC4CB4B05D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25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 sz="2800"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 sz="2400"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 sz="2000"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 sz="2000"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fld id="{846CE7D5-CF57-46EF-B807-FDD0502418D4}" type="datetimeFigureOut">
              <a:rPr lang="en-US" smtClean="0"/>
              <a:pPr/>
              <a:t>24-Jun-25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H SarabunPSK" panose="020B0500040200020003" pitchFamily="34" charset="-34"/>
          <a:ea typeface="+mj-ea"/>
          <a:cs typeface="TH SarabunPSK" panose="020B0500040200020003" pitchFamily="34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 SarabunPSK" panose="020B0500040200020003" pitchFamily="34" charset="-34"/>
          <a:ea typeface="+mn-ea"/>
          <a:cs typeface="TH SarabunPSK" panose="020B0500040200020003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3" Type="http://schemas.openxmlformats.org/officeDocument/2006/relationships/image" Target="../media/image2.png"/><Relationship Id="rId7" Type="http://schemas.openxmlformats.org/officeDocument/2006/relationships/hyperlink" Target="https://www.wired.com/story/amazon-new-delivery-robot-scou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png"/><Relationship Id="rId4" Type="http://schemas.openxmlformats.org/officeDocument/2006/relationships/image" Target="../media/image3.jpe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microsoft.com/office/2007/relationships/hdphoto" Target="../media/hdphoto1.wdp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8.png"/><Relationship Id="rId10" Type="http://schemas.openxmlformats.org/officeDocument/2006/relationships/image" Target="../media/image32.jpe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7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3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7.png"/><Relationship Id="rId3" Type="http://schemas.openxmlformats.org/officeDocument/2006/relationships/image" Target="../media/image49.png"/><Relationship Id="rId7" Type="http://schemas.openxmlformats.org/officeDocument/2006/relationships/image" Target="../media/image36.png"/><Relationship Id="rId12" Type="http://schemas.microsoft.com/office/2007/relationships/hdphoto" Target="../media/hdphoto3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51.png"/><Relationship Id="rId5" Type="http://schemas.openxmlformats.org/officeDocument/2006/relationships/image" Target="../media/image33.png"/><Relationship Id="rId15" Type="http://schemas.microsoft.com/office/2007/relationships/hdphoto" Target="../media/hdphoto4.wdp"/><Relationship Id="rId10" Type="http://schemas.openxmlformats.org/officeDocument/2006/relationships/image" Target="../media/image34.png"/><Relationship Id="rId4" Type="http://schemas.openxmlformats.org/officeDocument/2006/relationships/image" Target="../media/image50.png"/><Relationship Id="rId9" Type="http://schemas.openxmlformats.org/officeDocument/2006/relationships/image" Target="../media/image37.jpeg"/><Relationship Id="rId1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38.png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jpeg"/><Relationship Id="rId7" Type="http://schemas.openxmlformats.org/officeDocument/2006/relationships/image" Target="../media/image64.png"/><Relationship Id="rId12" Type="http://schemas.openxmlformats.org/officeDocument/2006/relationships/image" Target="../media/image6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7.jpeg"/><Relationship Id="rId5" Type="http://schemas.openxmlformats.org/officeDocument/2006/relationships/image" Target="../media/image62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13" Type="http://schemas.openxmlformats.org/officeDocument/2006/relationships/image" Target="../media/image79.jpeg"/><Relationship Id="rId18" Type="http://schemas.openxmlformats.org/officeDocument/2006/relationships/image" Target="../media/image18.png"/><Relationship Id="rId3" Type="http://schemas.openxmlformats.org/officeDocument/2006/relationships/image" Target="../media/image69.jpeg"/><Relationship Id="rId7" Type="http://schemas.openxmlformats.org/officeDocument/2006/relationships/image" Target="../media/image73.jpeg"/><Relationship Id="rId12" Type="http://schemas.openxmlformats.org/officeDocument/2006/relationships/image" Target="../media/image78.jpeg"/><Relationship Id="rId17" Type="http://schemas.openxmlformats.org/officeDocument/2006/relationships/image" Target="../media/image83.jpe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8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eg"/><Relationship Id="rId11" Type="http://schemas.openxmlformats.org/officeDocument/2006/relationships/image" Target="../media/image77.jpeg"/><Relationship Id="rId5" Type="http://schemas.openxmlformats.org/officeDocument/2006/relationships/image" Target="../media/image71.jpeg"/><Relationship Id="rId15" Type="http://schemas.openxmlformats.org/officeDocument/2006/relationships/image" Target="../media/image81.jpeg"/><Relationship Id="rId10" Type="http://schemas.openxmlformats.org/officeDocument/2006/relationships/image" Target="../media/image76.jpeg"/><Relationship Id="rId4" Type="http://schemas.openxmlformats.org/officeDocument/2006/relationships/image" Target="../media/image70.jpeg"/><Relationship Id="rId9" Type="http://schemas.openxmlformats.org/officeDocument/2006/relationships/image" Target="../media/image75.jpeg"/><Relationship Id="rId14" Type="http://schemas.openxmlformats.org/officeDocument/2006/relationships/image" Target="../media/image80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jpeg"/><Relationship Id="rId13" Type="http://schemas.openxmlformats.org/officeDocument/2006/relationships/image" Target="../media/image94.jpeg"/><Relationship Id="rId3" Type="http://schemas.openxmlformats.org/officeDocument/2006/relationships/image" Target="../media/image84.jpeg"/><Relationship Id="rId7" Type="http://schemas.openxmlformats.org/officeDocument/2006/relationships/image" Target="../media/image88.jpeg"/><Relationship Id="rId12" Type="http://schemas.openxmlformats.org/officeDocument/2006/relationships/image" Target="../media/image93.jpeg"/><Relationship Id="rId17" Type="http://schemas.openxmlformats.org/officeDocument/2006/relationships/image" Target="../media/image98.jpe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9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jpeg"/><Relationship Id="rId11" Type="http://schemas.openxmlformats.org/officeDocument/2006/relationships/image" Target="../media/image92.jpeg"/><Relationship Id="rId5" Type="http://schemas.openxmlformats.org/officeDocument/2006/relationships/image" Target="../media/image86.jpeg"/><Relationship Id="rId15" Type="http://schemas.openxmlformats.org/officeDocument/2006/relationships/image" Target="../media/image96.jpeg"/><Relationship Id="rId10" Type="http://schemas.openxmlformats.org/officeDocument/2006/relationships/image" Target="../media/image91.jpeg"/><Relationship Id="rId4" Type="http://schemas.openxmlformats.org/officeDocument/2006/relationships/image" Target="../media/image85.jpeg"/><Relationship Id="rId9" Type="http://schemas.openxmlformats.org/officeDocument/2006/relationships/image" Target="../media/image90.jpeg"/><Relationship Id="rId14" Type="http://schemas.openxmlformats.org/officeDocument/2006/relationships/image" Target="../media/image95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13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microsoft.com/office/2007/relationships/hdphoto" Target="../media/hdphoto4.wdp"/><Relationship Id="rId5" Type="http://schemas.openxmlformats.org/officeDocument/2006/relationships/image" Target="../media/image107.png"/><Relationship Id="rId15" Type="http://schemas.openxmlformats.org/officeDocument/2006/relationships/image" Target="../media/image115.png"/><Relationship Id="rId10" Type="http://schemas.openxmlformats.org/officeDocument/2006/relationships/image" Target="../media/image111.png"/><Relationship Id="rId4" Type="http://schemas.openxmlformats.org/officeDocument/2006/relationships/image" Target="../media/image106.png"/><Relationship Id="rId9" Type="http://schemas.openxmlformats.org/officeDocument/2006/relationships/image" Target="../media/image110.png"/><Relationship Id="rId14" Type="http://schemas.openxmlformats.org/officeDocument/2006/relationships/image" Target="../media/image1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microsoft.com/office/2007/relationships/hdphoto" Target="../media/hdphoto4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emf"/><Relationship Id="rId4" Type="http://schemas.microsoft.com/office/2007/relationships/hdphoto" Target="../media/hdphoto4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1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hyperlink" Target="https://paperpile.com/app/p/22a663ad-5958-0e49-807d-0126f55dd2db" TargetMode="External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5.png"/><Relationship Id="rId5" Type="http://schemas.openxmlformats.org/officeDocument/2006/relationships/hyperlink" Target="https://ieeexplore.ieee.org/document/6618963" TargetMode="External"/><Relationship Id="rId4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3760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 PLACE RECOGNITION</a:t>
            </a:r>
            <a:b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AN INDOOR MOBILE ROBOT</a:t>
            </a:r>
            <a:b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AN OMNIDIRECTIONAL CAMERA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37000"/>
            <a:ext cx="9144000" cy="2235200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3000">
                <a:solidFill>
                  <a:schemeClr val="bg1"/>
                </a:solidFill>
              </a:rPr>
              <a:t>THESIS PROPOSAL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Theppasith Nisitsukcharoen 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6470380521 (Plan A2)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Advisor : Asst. Prof. Nattee Niparnan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0ABF5BD-C8E4-32B6-7E51-36290C321047}"/>
              </a:ext>
            </a:extLst>
          </p:cNvPr>
          <p:cNvSpPr txBox="1">
            <a:spLocks/>
          </p:cNvSpPr>
          <p:nvPr/>
        </p:nvSpPr>
        <p:spPr>
          <a:xfrm>
            <a:off x="1524000" y="6370320"/>
            <a:ext cx="9144000" cy="43662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bg1"/>
                </a:solidFill>
              </a:rPr>
              <a:t>Department of Computer Engineering</a:t>
            </a:r>
            <a:br>
              <a:rPr lang="en-US" sz="2000">
                <a:solidFill>
                  <a:schemeClr val="bg1"/>
                </a:solidFill>
              </a:rPr>
            </a:br>
            <a:r>
              <a:rPr lang="en-US" sz="2000">
                <a:solidFill>
                  <a:schemeClr val="bg1"/>
                </a:solidFill>
              </a:rPr>
              <a:t>Faculty of Engineering, Chulalongkorn University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1773077-C833-55DE-A3E2-802F401D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1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E4BF-353A-A170-6E62-5902B92E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pic>
        <p:nvPicPr>
          <p:cNvPr id="2050" name="Picture 2" descr="R2d2, star wars Icon in Star Wars - color Icons">
            <a:extLst>
              <a:ext uri="{FF2B5EF4-FFF2-40B4-BE49-F238E27FC236}">
                <a16:creationId xmlns:a16="http://schemas.microsoft.com/office/drawing/2014/main" id="{A12E834C-19F5-254D-5428-DA00C9605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06"/>
          <a:stretch/>
        </p:blipFill>
        <p:spPr bwMode="auto">
          <a:xfrm>
            <a:off x="4542638" y="5207000"/>
            <a:ext cx="3106724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EFC9C26-9AF5-A6B7-FEDD-BD2DF612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2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872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9A6E2A6-B0CD-A708-329B-D0E2E20E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A8B6E44-6D49-9E62-B69B-FED3FC5126C1}"/>
              </a:ext>
            </a:extLst>
          </p:cNvPr>
          <p:cNvGrpSpPr/>
          <p:nvPr/>
        </p:nvGrpSpPr>
        <p:grpSpPr>
          <a:xfrm>
            <a:off x="90108" y="347660"/>
            <a:ext cx="4121753" cy="5400963"/>
            <a:chOff x="90108" y="347660"/>
            <a:chExt cx="4121753" cy="540096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A87DDE-D446-3991-03F9-35DE3342FE89}"/>
                </a:ext>
              </a:extLst>
            </p:cNvPr>
            <p:cNvSpPr txBox="1"/>
            <p:nvPr/>
          </p:nvSpPr>
          <p:spPr>
            <a:xfrm>
              <a:off x="90108" y="4732960"/>
              <a:ext cx="4121753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u="sng">
                  <a:solidFill>
                    <a:schemeClr val="bg1"/>
                  </a:solidFill>
                </a:rPr>
                <a:t>SERVICE ROBOTS IS EVERYWHERE </a:t>
              </a:r>
              <a:endParaRPr lang="th-TH" sz="2400" b="1" u="sng">
                <a:solidFill>
                  <a:schemeClr val="bg1"/>
                </a:solidFill>
              </a:endParaRPr>
            </a:p>
            <a:p>
              <a:pPr algn="ctr"/>
              <a:endParaRPr lang="th-TH">
                <a:solidFill>
                  <a:schemeClr val="bg1"/>
                </a:solidFill>
                <a:cs typeface="TH Sarabun New"/>
              </a:endParaRPr>
            </a:p>
            <a:p>
              <a:pPr algn="ctr"/>
              <a:r>
                <a:rPr lang="en-US">
                  <a:solidFill>
                    <a:schemeClr val="bg1"/>
                  </a:solidFill>
                  <a:cs typeface="TH Sarabun New"/>
                </a:rPr>
                <a:t>Common Skill  =  Autonomous Navigation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226FF28-BF67-FECA-AEEB-A47484340BF5}"/>
                </a:ext>
              </a:extLst>
            </p:cNvPr>
            <p:cNvGrpSpPr/>
            <p:nvPr/>
          </p:nvGrpSpPr>
          <p:grpSpPr>
            <a:xfrm>
              <a:off x="446206" y="347660"/>
              <a:ext cx="3523127" cy="4255598"/>
              <a:chOff x="446206" y="347660"/>
              <a:chExt cx="3523127" cy="4255598"/>
            </a:xfrm>
          </p:grpSpPr>
          <p:pic>
            <p:nvPicPr>
              <p:cNvPr id="29" name="Picture 28" descr="A person looking at a robot&#10;&#10;Description automatically generated with low confidence">
                <a:extLst>
                  <a:ext uri="{FF2B5EF4-FFF2-40B4-BE49-F238E27FC236}">
                    <a16:creationId xmlns:a16="http://schemas.microsoft.com/office/drawing/2014/main" id="{8A4B4005-80BF-B2D8-4642-952F3CA669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0194" y="347660"/>
                <a:ext cx="1211852" cy="1211852"/>
              </a:xfrm>
              <a:prstGeom prst="rect">
                <a:avLst/>
              </a:prstGeom>
            </p:spPr>
          </p:pic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104ADE0-3C81-25FE-FFDC-B888AC49647C}"/>
                  </a:ext>
                </a:extLst>
              </p:cNvPr>
              <p:cNvGrpSpPr/>
              <p:nvPr/>
            </p:nvGrpSpPr>
            <p:grpSpPr>
              <a:xfrm>
                <a:off x="446206" y="1624363"/>
                <a:ext cx="3523127" cy="2978895"/>
                <a:chOff x="446206" y="1624363"/>
                <a:chExt cx="3523127" cy="2978895"/>
              </a:xfrm>
            </p:grpSpPr>
            <p:pic>
              <p:nvPicPr>
                <p:cNvPr id="10" name="Picture 9" descr="Benefits of a Robot Vacuum: The Appliance of the Future - Scoop Empire">
                  <a:extLst>
                    <a:ext uri="{FF2B5EF4-FFF2-40B4-BE49-F238E27FC236}">
                      <a16:creationId xmlns:a16="http://schemas.microsoft.com/office/drawing/2014/main" id="{066EC127-AA43-B8A1-495A-E2CE0C6AE7C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4797" t="21552" r="14707" b="2433"/>
                <a:stretch/>
              </p:blipFill>
              <p:spPr bwMode="auto">
                <a:xfrm>
                  <a:off x="446206" y="1624363"/>
                  <a:ext cx="1654894" cy="137901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8" name="Picture 7">
                  <a:extLst>
                    <a:ext uri="{FF2B5EF4-FFF2-40B4-BE49-F238E27FC236}">
                      <a16:creationId xmlns:a16="http://schemas.microsoft.com/office/drawing/2014/main" id="{090D8585-FD51-FFB1-DE89-6246006CE1A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6241" b="4167"/>
                <a:stretch/>
              </p:blipFill>
              <p:spPr bwMode="auto">
                <a:xfrm>
                  <a:off x="446906" y="3032312"/>
                  <a:ext cx="3518428" cy="157094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2" name="Picture 31" descr="A blue robot on wheels&#10;&#10;Description automatically generated with low confidence">
                  <a:extLst>
                    <a:ext uri="{FF2B5EF4-FFF2-40B4-BE49-F238E27FC236}">
                      <a16:creationId xmlns:a16="http://schemas.microsoft.com/office/drawing/2014/main" id="{8C2F2409-37CE-0BA5-CDC9-57863FAADD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30645" y="1624363"/>
                  <a:ext cx="1838688" cy="137901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B802D5-A30A-B370-8686-2847D3C4CBE3}"/>
              </a:ext>
            </a:extLst>
          </p:cNvPr>
          <p:cNvGrpSpPr/>
          <p:nvPr/>
        </p:nvGrpSpPr>
        <p:grpSpPr>
          <a:xfrm>
            <a:off x="4475480" y="538051"/>
            <a:ext cx="3241040" cy="4432988"/>
            <a:chOff x="4475480" y="538051"/>
            <a:chExt cx="3241040" cy="443298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4A4CED-6D4F-9450-8304-CCD22F85FF46}"/>
                </a:ext>
              </a:extLst>
            </p:cNvPr>
            <p:cNvSpPr txBox="1"/>
            <p:nvPr/>
          </p:nvSpPr>
          <p:spPr>
            <a:xfrm>
              <a:off x="4735737" y="3586044"/>
              <a:ext cx="2720521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u="sng">
                  <a:solidFill>
                    <a:schemeClr val="bg1"/>
                  </a:solidFill>
                  <a:cs typeface="TH Sarabun New"/>
                </a:rPr>
                <a:t>LOCALIZATION</a:t>
              </a:r>
              <a:br>
                <a:rPr lang="th-TH" sz="2000" b="1" u="sng">
                  <a:solidFill>
                    <a:schemeClr val="bg1"/>
                  </a:solidFill>
                  <a:cs typeface="TH Sarabun New"/>
                </a:rPr>
              </a:br>
              <a:r>
                <a:rPr lang="en-US" sz="2000">
                  <a:solidFill>
                    <a:schemeClr val="bg1"/>
                  </a:solidFill>
                  <a:cs typeface="TH Sarabun New"/>
                </a:rPr>
                <a:t> </a:t>
              </a:r>
              <a:br>
                <a:rPr lang="th-TH" sz="2000">
                  <a:solidFill>
                    <a:schemeClr val="bg1"/>
                  </a:solidFill>
                  <a:cs typeface="TH Sarabun New"/>
                </a:rPr>
              </a:br>
              <a:r>
                <a:rPr lang="en-US" sz="2000">
                  <a:solidFill>
                    <a:schemeClr val="bg1"/>
                  </a:solidFill>
                  <a:cs typeface="TH Sarabun New"/>
                </a:rPr>
                <a:t>is the key to archive </a:t>
              </a:r>
              <a:br>
                <a:rPr lang="th-TH" sz="2000">
                  <a:solidFill>
                    <a:schemeClr val="bg1"/>
                  </a:solidFill>
                  <a:cs typeface="TH Sarabun New"/>
                </a:rPr>
              </a:br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AUTONOMOUS NAVIGATION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6F36D25-3250-E586-8775-0AD9E52788FE}"/>
                </a:ext>
              </a:extLst>
            </p:cNvPr>
            <p:cNvGrpSpPr/>
            <p:nvPr/>
          </p:nvGrpSpPr>
          <p:grpSpPr>
            <a:xfrm>
              <a:off x="4475480" y="538051"/>
              <a:ext cx="3241040" cy="2465328"/>
              <a:chOff x="4475480" y="538051"/>
              <a:chExt cx="3241040" cy="2465328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A046E07-3824-B58B-60AE-60282B143FCA}"/>
                  </a:ext>
                </a:extLst>
              </p:cNvPr>
              <p:cNvGrpSpPr/>
              <p:nvPr/>
            </p:nvGrpSpPr>
            <p:grpSpPr>
              <a:xfrm>
                <a:off x="4475480" y="840998"/>
                <a:ext cx="3241040" cy="2162381"/>
                <a:chOff x="5281757" y="689339"/>
                <a:chExt cx="3241040" cy="2162381"/>
              </a:xfrm>
            </p:grpSpPr>
            <p:pic>
              <p:nvPicPr>
                <p:cNvPr id="8194" name="Picture 2" descr="19 Pictures That Display How Wild Mall Culture Is">
                  <a:extLst>
                    <a:ext uri="{FF2B5EF4-FFF2-40B4-BE49-F238E27FC236}">
                      <a16:creationId xmlns:a16="http://schemas.microsoft.com/office/drawing/2014/main" id="{3F98E70F-EAB1-D190-DF53-C581DC97B39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81757" y="689339"/>
                  <a:ext cx="3241040" cy="216238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" name="Picture 5" descr="A purple pin with a robot face on top of a map&#10;&#10;Description automatically generated with low confidence">
                  <a:extLst>
                    <a:ext uri="{FF2B5EF4-FFF2-40B4-BE49-F238E27FC236}">
                      <a16:creationId xmlns:a16="http://schemas.microsoft.com/office/drawing/2014/main" id="{4BDEF62E-C7B3-A31E-D99C-A027EBA042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08248" y="1482811"/>
                  <a:ext cx="1368909" cy="1368909"/>
                </a:xfrm>
                <a:prstGeom prst="rect">
                  <a:avLst/>
                </a:prstGeom>
              </p:spPr>
            </p:pic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D904AF-CDA9-555E-F306-6E651CAE0CA8}"/>
                  </a:ext>
                </a:extLst>
              </p:cNvPr>
              <p:cNvSpPr txBox="1"/>
              <p:nvPr/>
            </p:nvSpPr>
            <p:spPr>
              <a:xfrm>
                <a:off x="4888393" y="538051"/>
                <a:ext cx="241521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>
                    <a:solidFill>
                      <a:schemeClr val="bg1"/>
                    </a:solidFill>
                    <a:cs typeface="TH Sarabun New"/>
                  </a:rPr>
                  <a:t>DYNAMIC ENVIRONMENT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51CECDC-F492-A5A9-36E0-CA879A2D5DDC}"/>
              </a:ext>
            </a:extLst>
          </p:cNvPr>
          <p:cNvGrpSpPr/>
          <p:nvPr/>
        </p:nvGrpSpPr>
        <p:grpSpPr>
          <a:xfrm>
            <a:off x="8729142" y="414849"/>
            <a:ext cx="2720521" cy="3676007"/>
            <a:chOff x="8701092" y="1078022"/>
            <a:chExt cx="2720521" cy="3676007"/>
          </a:xfrm>
        </p:grpSpPr>
        <p:pic>
          <p:nvPicPr>
            <p:cNvPr id="13" name="Picture 12" descr="A picture containing graphics, symbol, logo, circle&#10;&#10;Description automatically generated">
              <a:extLst>
                <a:ext uri="{FF2B5EF4-FFF2-40B4-BE49-F238E27FC236}">
                  <a16:creationId xmlns:a16="http://schemas.microsoft.com/office/drawing/2014/main" id="{F78C3DA8-527D-BCE7-A167-C45CBD764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3429" y="1078022"/>
              <a:ext cx="1235849" cy="1235849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61B70D-CFBC-74E5-CCB0-F0CC54926BF8}"/>
                </a:ext>
              </a:extLst>
            </p:cNvPr>
            <p:cNvSpPr txBox="1"/>
            <p:nvPr/>
          </p:nvSpPr>
          <p:spPr>
            <a:xfrm>
              <a:off x="8853749" y="2362085"/>
              <a:ext cx="2415211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POPULARITY</a:t>
              </a:r>
              <a:br>
                <a:rPr lang="en-US" sz="2000" b="1">
                  <a:solidFill>
                    <a:schemeClr val="bg1"/>
                  </a:solidFill>
                  <a:cs typeface="TH Sarabun New"/>
                </a:rPr>
              </a:br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DEEP LEARNING &amp;</a:t>
              </a:r>
            </a:p>
            <a:p>
              <a:pPr algn="ctr"/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IMAGE PROCESSING</a:t>
              </a:r>
            </a:p>
          </p:txBody>
        </p:sp>
        <p:pic>
          <p:nvPicPr>
            <p:cNvPr id="1026" name="Picture 2" descr="The Forest and the Trees: Deep Learning and Object Recognition | artFido">
              <a:extLst>
                <a:ext uri="{FF2B5EF4-FFF2-40B4-BE49-F238E27FC236}">
                  <a16:creationId xmlns:a16="http://schemas.microsoft.com/office/drawing/2014/main" id="{A5384FD8-43CE-5383-CDE2-30331E0993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1092" y="3325756"/>
              <a:ext cx="2720521" cy="14282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6D55927-5349-5EE1-0A39-7B7D501443B4}"/>
              </a:ext>
            </a:extLst>
          </p:cNvPr>
          <p:cNvSpPr txBox="1"/>
          <p:nvPr/>
        </p:nvSpPr>
        <p:spPr>
          <a:xfrm>
            <a:off x="8115203" y="4457677"/>
            <a:ext cx="32896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cs typeface="TH Sarabun New"/>
              </a:rPr>
              <a:t>ROBOT</a:t>
            </a:r>
            <a:endParaRPr lang="th-TH" sz="3200" b="1">
              <a:solidFill>
                <a:schemeClr val="bg1"/>
              </a:solidFill>
              <a:cs typeface="TH Sarabun New"/>
            </a:endParaRPr>
          </a:p>
          <a:p>
            <a:pPr algn="ctr"/>
            <a:r>
              <a:rPr lang="en-US" sz="3200" b="1">
                <a:solidFill>
                  <a:schemeClr val="bg1"/>
                </a:solidFill>
                <a:cs typeface="TH Sarabun New"/>
              </a:rPr>
              <a:t>VISUAL LOCALIZATION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9012AE-F7F0-4245-5038-A6D2569C940A}"/>
              </a:ext>
            </a:extLst>
          </p:cNvPr>
          <p:cNvSpPr txBox="1"/>
          <p:nvPr/>
        </p:nvSpPr>
        <p:spPr>
          <a:xfrm>
            <a:off x="7521536" y="5583435"/>
            <a:ext cx="2415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cs typeface="TH Sarabun New"/>
              </a:rPr>
              <a:t>PLACE RECOGNITION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C7AB5-FBA1-4127-8018-D59980FC8EA1}"/>
              </a:ext>
            </a:extLst>
          </p:cNvPr>
          <p:cNvSpPr txBox="1"/>
          <p:nvPr/>
        </p:nvSpPr>
        <p:spPr>
          <a:xfrm>
            <a:off x="9532547" y="5583435"/>
            <a:ext cx="2415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cs typeface="TH Sarabun New"/>
              </a:rPr>
              <a:t>POSE ESTIMATION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760DE-FB73-FC32-2998-C277F81E69AC}"/>
              </a:ext>
            </a:extLst>
          </p:cNvPr>
          <p:cNvSpPr txBox="1"/>
          <p:nvPr/>
        </p:nvSpPr>
        <p:spPr>
          <a:xfrm>
            <a:off x="8552426" y="6043041"/>
            <a:ext cx="2415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cs typeface="TH Sarabun New"/>
              </a:rPr>
              <a:t>ODOMETRY</a:t>
            </a:r>
          </a:p>
        </p:txBody>
      </p:sp>
    </p:spTree>
    <p:extLst>
      <p:ext uri="{BB962C8B-B14F-4D97-AF65-F5344CB8AC3E}">
        <p14:creationId xmlns:p14="http://schemas.microsoft.com/office/powerpoint/2010/main" val="109259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E4BF-353A-A170-6E62-5902B92E9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WIDER VISUAL CONTEXT - LOCALIZATION</a:t>
            </a:r>
          </a:p>
        </p:txBody>
      </p:sp>
      <p:sp>
        <p:nvSpPr>
          <p:cNvPr id="34" name="Slide Number Placeholder 8">
            <a:extLst>
              <a:ext uri="{FF2B5EF4-FFF2-40B4-BE49-F238E27FC236}">
                <a16:creationId xmlns:a16="http://schemas.microsoft.com/office/drawing/2014/main" id="{3E40DB02-BEC9-4AF1-96C5-463FE18C3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4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0C6FF9-54AE-48A5-80AF-D39424E3E4FB}"/>
              </a:ext>
            </a:extLst>
          </p:cNvPr>
          <p:cNvGrpSpPr/>
          <p:nvPr/>
        </p:nvGrpSpPr>
        <p:grpSpPr>
          <a:xfrm>
            <a:off x="450052" y="3464410"/>
            <a:ext cx="4097941" cy="3393590"/>
            <a:chOff x="3684054" y="3464410"/>
            <a:chExt cx="4097941" cy="33935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C834498-9DB6-D603-4D1E-162E006E04BC}"/>
                </a:ext>
              </a:extLst>
            </p:cNvPr>
            <p:cNvSpPr txBox="1"/>
            <p:nvPr/>
          </p:nvSpPr>
          <p:spPr>
            <a:xfrm>
              <a:off x="4366450" y="4541628"/>
              <a:ext cx="33436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FEWEST CAMERA AS POSSIBLE = 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8781A0-9E08-18F2-8859-530C867F63FE}"/>
                </a:ext>
              </a:extLst>
            </p:cNvPr>
            <p:cNvSpPr txBox="1"/>
            <p:nvPr/>
          </p:nvSpPr>
          <p:spPr>
            <a:xfrm>
              <a:off x="4071725" y="3464410"/>
              <a:ext cx="371027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>
                  <a:solidFill>
                    <a:schemeClr val="bg1"/>
                  </a:solidFill>
                  <a:cs typeface="TH Sarabun New"/>
                </a:rPr>
                <a:t>ROBOT CANNOT HAVE MANY SENSORS = COSTLY</a:t>
              </a:r>
            </a:p>
          </p:txBody>
        </p:sp>
        <p:pic>
          <p:nvPicPr>
            <p:cNvPr id="12" name="Picture 2" descr="R2d2, star wars Icon in Star Wars - color Icons">
              <a:extLst>
                <a:ext uri="{FF2B5EF4-FFF2-40B4-BE49-F238E27FC236}">
                  <a16:creationId xmlns:a16="http://schemas.microsoft.com/office/drawing/2014/main" id="{5B06AAA7-9FEB-56D3-720D-AB01E4C1D2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706"/>
            <a:stretch/>
          </p:blipFill>
          <p:spPr bwMode="auto">
            <a:xfrm>
              <a:off x="3684054" y="5207000"/>
              <a:ext cx="3106724" cy="165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8D7EC8-9358-88EB-8EBD-87CACC76EC89}"/>
              </a:ext>
            </a:extLst>
          </p:cNvPr>
          <p:cNvGrpSpPr/>
          <p:nvPr/>
        </p:nvGrpSpPr>
        <p:grpSpPr>
          <a:xfrm>
            <a:off x="8145975" y="2969296"/>
            <a:ext cx="3710270" cy="3905293"/>
            <a:chOff x="8567275" y="2171307"/>
            <a:chExt cx="3288157" cy="366397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F0991ED-7CD9-C801-EF79-198B4FEFBDE9}"/>
                </a:ext>
              </a:extLst>
            </p:cNvPr>
            <p:cNvGrpSpPr/>
            <p:nvPr/>
          </p:nvGrpSpPr>
          <p:grpSpPr>
            <a:xfrm>
              <a:off x="8857544" y="2171307"/>
              <a:ext cx="2694955" cy="3663975"/>
              <a:chOff x="8650503" y="2291314"/>
              <a:chExt cx="2694955" cy="3663975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2C7CFC-43FF-86D9-B727-55B8F5199C6D}"/>
                  </a:ext>
                </a:extLst>
              </p:cNvPr>
              <p:cNvSpPr txBox="1"/>
              <p:nvPr/>
            </p:nvSpPr>
            <p:spPr>
              <a:xfrm>
                <a:off x="8650503" y="5216625"/>
                <a:ext cx="2694955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>
                    <a:solidFill>
                      <a:schemeClr val="bg1"/>
                    </a:solidFill>
                    <a:cs typeface="TH Sarabun New"/>
                  </a:rPr>
                  <a:t>OMNIDIRECTIONAL VIEW</a:t>
                </a:r>
                <a:br>
                  <a:rPr lang="en-US" sz="2400" b="1">
                    <a:solidFill>
                      <a:schemeClr val="bg1"/>
                    </a:solidFill>
                    <a:cs typeface="TH Sarabun New"/>
                  </a:rPr>
                </a:br>
                <a:r>
                  <a:rPr lang="en-US" b="1">
                    <a:solidFill>
                      <a:schemeClr val="bg1"/>
                    </a:solidFill>
                    <a:cs typeface="TH Sarabun New"/>
                  </a:rPr>
                  <a:t>(AROUND VIEW)</a:t>
                </a:r>
                <a:endParaRPr lang="en-US" sz="2400" b="1">
                  <a:solidFill>
                    <a:schemeClr val="bg1"/>
                  </a:solidFill>
                  <a:cs typeface="TH Sarabun New"/>
                </a:endParaRPr>
              </a:p>
            </p:txBody>
          </p:sp>
          <p:pic>
            <p:nvPicPr>
              <p:cNvPr id="10" name="Picture 9" descr="A picture containing indoor, black&#10;&#10;Description automatically generated">
                <a:extLst>
                  <a:ext uri="{FF2B5EF4-FFF2-40B4-BE49-F238E27FC236}">
                    <a16:creationId xmlns:a16="http://schemas.microsoft.com/office/drawing/2014/main" id="{C033D3A9-532E-A9DB-B1EE-8EE9B60C11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24901" y="2291314"/>
                <a:ext cx="2474592" cy="2474592"/>
              </a:xfrm>
              <a:prstGeom prst="rect">
                <a:avLst/>
              </a:prstGeom>
            </p:spPr>
          </p:pic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0C78FF6-8D65-BA46-2D36-D62E9A3EDB2E}"/>
                </a:ext>
              </a:extLst>
            </p:cNvPr>
            <p:cNvSpPr txBox="1"/>
            <p:nvPr/>
          </p:nvSpPr>
          <p:spPr>
            <a:xfrm>
              <a:off x="8567275" y="4645899"/>
              <a:ext cx="328815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>
                  <a:solidFill>
                    <a:schemeClr val="bg1"/>
                  </a:solidFill>
                  <a:cs typeface="TH Sarabun New"/>
                </a:rPr>
                <a:t>FISHEYE LENS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570C78-4D10-017B-A222-4281664055FD}"/>
              </a:ext>
            </a:extLst>
          </p:cNvPr>
          <p:cNvGrpSpPr/>
          <p:nvPr/>
        </p:nvGrpSpPr>
        <p:grpSpPr>
          <a:xfrm>
            <a:off x="4863378" y="3482266"/>
            <a:ext cx="2968354" cy="2897914"/>
            <a:chOff x="5310983" y="3210801"/>
            <a:chExt cx="3612026" cy="352631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36AE4F8-7FF6-B0A1-BF3B-7D1932911E86}"/>
                </a:ext>
              </a:extLst>
            </p:cNvPr>
            <p:cNvGrpSpPr/>
            <p:nvPr/>
          </p:nvGrpSpPr>
          <p:grpSpPr>
            <a:xfrm>
              <a:off x="6221170" y="3210801"/>
              <a:ext cx="1739283" cy="2968748"/>
              <a:chOff x="5266020" y="3421975"/>
              <a:chExt cx="1739283" cy="2968748"/>
            </a:xfrm>
          </p:grpSpPr>
          <p:pic>
            <p:nvPicPr>
              <p:cNvPr id="3074" name="Picture 2" descr="Camera lens - Free electronics icons">
                <a:extLst>
                  <a:ext uri="{FF2B5EF4-FFF2-40B4-BE49-F238E27FC236}">
                    <a16:creationId xmlns:a16="http://schemas.microsoft.com/office/drawing/2014/main" id="{1DD37D9D-8205-FF20-3F55-8950670C1A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26340" y="5319709"/>
                <a:ext cx="1071014" cy="10710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6" name="Picture 4" descr="Pie chart">
                <a:extLst>
                  <a:ext uri="{FF2B5EF4-FFF2-40B4-BE49-F238E27FC236}">
                    <a16:creationId xmlns:a16="http://schemas.microsoft.com/office/drawing/2014/main" id="{48D2AD34-DF7A-F6CD-BD6E-077B9BD1E9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66020" y="3421975"/>
                <a:ext cx="1739283" cy="17392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0E64F7-BC9B-DACE-7AEB-EB99E6DD87D4}"/>
                </a:ext>
              </a:extLst>
            </p:cNvPr>
            <p:cNvSpPr txBox="1"/>
            <p:nvPr/>
          </p:nvSpPr>
          <p:spPr>
            <a:xfrm>
              <a:off x="5310983" y="6175339"/>
              <a:ext cx="3612026" cy="561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cs typeface="TH Sarabun New"/>
                </a:rPr>
                <a:t>LARGEST FIELD OF VIEW ?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72C55C6-F2AC-81E2-8E3D-1BE86338018C}"/>
              </a:ext>
            </a:extLst>
          </p:cNvPr>
          <p:cNvGrpSpPr/>
          <p:nvPr/>
        </p:nvGrpSpPr>
        <p:grpSpPr>
          <a:xfrm>
            <a:off x="546845" y="1348767"/>
            <a:ext cx="11027209" cy="1606362"/>
            <a:chOff x="336533" y="1231337"/>
            <a:chExt cx="11027209" cy="1606362"/>
          </a:xfrm>
        </p:grpSpPr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0E6E71E8-5B28-FDD9-6A33-4A7E0C211A62}"/>
                </a:ext>
              </a:extLst>
            </p:cNvPr>
            <p:cNvSpPr/>
            <p:nvPr/>
          </p:nvSpPr>
          <p:spPr>
            <a:xfrm>
              <a:off x="3468225" y="1669982"/>
              <a:ext cx="749477" cy="65323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B4996B1-40BC-222E-9E7B-BAF75D77DC2F}"/>
                </a:ext>
              </a:extLst>
            </p:cNvPr>
            <p:cNvGrpSpPr/>
            <p:nvPr/>
          </p:nvGrpSpPr>
          <p:grpSpPr>
            <a:xfrm>
              <a:off x="336533" y="1231337"/>
              <a:ext cx="11027209" cy="1606362"/>
              <a:chOff x="336533" y="1181141"/>
              <a:chExt cx="11328858" cy="168763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82A3887-59FE-5FBE-ECD1-A1F7D358246D}"/>
                  </a:ext>
                </a:extLst>
              </p:cNvPr>
              <p:cNvGrpSpPr/>
              <p:nvPr/>
            </p:nvGrpSpPr>
            <p:grpSpPr>
              <a:xfrm>
                <a:off x="336533" y="1181141"/>
                <a:ext cx="7380948" cy="1687637"/>
                <a:chOff x="923204" y="1030421"/>
                <a:chExt cx="8114852" cy="1855443"/>
              </a:xfrm>
            </p:grpSpPr>
            <p:pic>
              <p:nvPicPr>
                <p:cNvPr id="3" name="Picture 2" descr="A person looking at a city&#10;&#10;Description automatically generated with low confidence">
                  <a:extLst>
                    <a:ext uri="{FF2B5EF4-FFF2-40B4-BE49-F238E27FC236}">
                      <a16:creationId xmlns:a16="http://schemas.microsoft.com/office/drawing/2014/main" id="{989EAF55-6318-ABD1-DCE1-AEB2113519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0343" y="1162653"/>
                  <a:ext cx="1610323" cy="1610322"/>
                </a:xfrm>
                <a:prstGeom prst="rect">
                  <a:avLst/>
                </a:prstGeom>
              </p:spPr>
            </p:pic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3E2C070-DBC2-DFA5-7C75-B007AEB178BF}"/>
                    </a:ext>
                  </a:extLst>
                </p:cNvPr>
                <p:cNvSpPr txBox="1"/>
                <p:nvPr/>
              </p:nvSpPr>
              <p:spPr>
                <a:xfrm>
                  <a:off x="2741467" y="1565574"/>
                  <a:ext cx="1608905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000" b="1">
                      <a:solidFill>
                        <a:schemeClr val="bg1"/>
                      </a:solidFill>
                      <a:cs typeface="TH Sarabun New"/>
                    </a:rPr>
                    <a:t>WIDER</a:t>
                  </a:r>
                  <a:br>
                    <a:rPr lang="en-US" sz="2000" b="1">
                      <a:solidFill>
                        <a:schemeClr val="bg1"/>
                      </a:solidFill>
                      <a:cs typeface="TH Sarabun New"/>
                    </a:rPr>
                  </a:br>
                  <a:r>
                    <a:rPr lang="en-US" sz="2000" b="1">
                      <a:solidFill>
                        <a:schemeClr val="bg1"/>
                      </a:solidFill>
                      <a:cs typeface="TH Sarabun New"/>
                    </a:rPr>
                    <a:t>FIELD OF VIEW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14F9488-6946-3A91-4A2F-D548897531B9}"/>
                    </a:ext>
                  </a:extLst>
                </p:cNvPr>
                <p:cNvSpPr txBox="1"/>
                <p:nvPr/>
              </p:nvSpPr>
              <p:spPr>
                <a:xfrm>
                  <a:off x="7150003" y="1396665"/>
                  <a:ext cx="1888053" cy="11166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000" b="1">
                      <a:solidFill>
                        <a:schemeClr val="bg1"/>
                      </a:solidFill>
                      <a:cs typeface="TH Sarabun New"/>
                    </a:rPr>
                    <a:t>BETTER</a:t>
                  </a:r>
                </a:p>
                <a:p>
                  <a:pPr algn="ctr"/>
                  <a:r>
                    <a:rPr lang="en-US" sz="2000" b="1">
                      <a:solidFill>
                        <a:schemeClr val="bg1"/>
                      </a:solidFill>
                      <a:cs typeface="TH Sarabun New"/>
                    </a:rPr>
                    <a:t>ENVIRONMENT</a:t>
                  </a:r>
                  <a:br>
                    <a:rPr lang="en-US" sz="2000" b="1">
                      <a:solidFill>
                        <a:schemeClr val="bg1"/>
                      </a:solidFill>
                      <a:cs typeface="TH Sarabun New"/>
                    </a:rPr>
                  </a:br>
                  <a:r>
                    <a:rPr lang="en-US" sz="2000" b="1">
                      <a:solidFill>
                        <a:schemeClr val="bg1"/>
                      </a:solidFill>
                      <a:cs typeface="TH Sarabun New"/>
                    </a:rPr>
                    <a:t>UNDERSTANDING</a:t>
                  </a:r>
                </a:p>
              </p:txBody>
            </p:sp>
            <p:pic>
              <p:nvPicPr>
                <p:cNvPr id="11" name="Picture 10" descr="A picture containing screenshot, cartoon, symbol, creativity&#10;&#10;Description automatically generated">
                  <a:extLst>
                    <a:ext uri="{FF2B5EF4-FFF2-40B4-BE49-F238E27FC236}">
                      <a16:creationId xmlns:a16="http://schemas.microsoft.com/office/drawing/2014/main" id="{94D1FDA6-25BD-6E1E-1322-47942CE558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3204" y="1030421"/>
                  <a:ext cx="1855443" cy="1855443"/>
                </a:xfrm>
                <a:prstGeom prst="rect">
                  <a:avLst/>
                </a:prstGeom>
              </p:spPr>
            </p:pic>
          </p:grpSp>
          <p:pic>
            <p:nvPicPr>
              <p:cNvPr id="6" name="Picture 5" descr="A purple pin with a robot face on top of a map&#10;&#10;Description automatically generated with low confidence">
                <a:extLst>
                  <a:ext uri="{FF2B5EF4-FFF2-40B4-BE49-F238E27FC236}">
                    <a16:creationId xmlns:a16="http://schemas.microsoft.com/office/drawing/2014/main" id="{CC08B1CB-2128-136C-C6CA-367999548F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40064" y="1331090"/>
                <a:ext cx="1368909" cy="1368909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7B2E70-DCC4-8FB8-1374-4FA2CFE3124F}"/>
                  </a:ext>
                </a:extLst>
              </p:cNvPr>
              <p:cNvSpPr txBox="1"/>
              <p:nvPr/>
            </p:nvSpPr>
            <p:spPr>
              <a:xfrm>
                <a:off x="9948090" y="1543939"/>
                <a:ext cx="1717301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>
                    <a:solidFill>
                      <a:schemeClr val="bg1"/>
                    </a:solidFill>
                    <a:cs typeface="TH Sarabun New"/>
                  </a:rPr>
                  <a:t>BETTER</a:t>
                </a:r>
              </a:p>
              <a:p>
                <a:pPr algn="ctr"/>
                <a:r>
                  <a:rPr lang="en-US" sz="2000" b="1">
                    <a:solidFill>
                      <a:schemeClr val="bg1"/>
                    </a:solidFill>
                    <a:cs typeface="TH Sarabun New"/>
                  </a:rPr>
                  <a:t>LOCALIZATION</a:t>
                </a:r>
                <a:br>
                  <a:rPr lang="en-US" sz="2000" b="1">
                    <a:solidFill>
                      <a:schemeClr val="bg1"/>
                    </a:solidFill>
                    <a:cs typeface="TH Sarabun New"/>
                  </a:rPr>
                </a:br>
                <a:r>
                  <a:rPr lang="en-US" sz="2000" b="1">
                    <a:solidFill>
                      <a:schemeClr val="bg1"/>
                    </a:solidFill>
                    <a:cs typeface="TH Sarabun New"/>
                  </a:rPr>
                  <a:t>QUALITY</a:t>
                </a:r>
              </a:p>
            </p:txBody>
          </p:sp>
          <p:sp>
            <p:nvSpPr>
              <p:cNvPr id="23" name="Arrow: Right 22">
                <a:extLst>
                  <a:ext uri="{FF2B5EF4-FFF2-40B4-BE49-F238E27FC236}">
                    <a16:creationId xmlns:a16="http://schemas.microsoft.com/office/drawing/2014/main" id="{1031B1E4-C0D6-A0E7-37A5-5E653EC6D91E}"/>
                  </a:ext>
                </a:extLst>
              </p:cNvPr>
              <p:cNvSpPr/>
              <p:nvPr/>
            </p:nvSpPr>
            <p:spPr>
              <a:xfrm>
                <a:off x="7844412" y="1643961"/>
                <a:ext cx="749477" cy="65323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598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E4BF-353A-A170-6E62-5902B92E9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ARE WE ?</a:t>
            </a:r>
          </a:p>
        </p:txBody>
      </p:sp>
      <p:sp>
        <p:nvSpPr>
          <p:cNvPr id="34" name="Slide Number Placeholder 8">
            <a:extLst>
              <a:ext uri="{FF2B5EF4-FFF2-40B4-BE49-F238E27FC236}">
                <a16:creationId xmlns:a16="http://schemas.microsoft.com/office/drawing/2014/main" id="{3E40DB02-BEC9-4AF1-96C5-463FE18C3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5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B3E0380-DC8C-05B4-2EA1-D7BF7579955A}"/>
              </a:ext>
            </a:extLst>
          </p:cNvPr>
          <p:cNvGrpSpPr/>
          <p:nvPr/>
        </p:nvGrpSpPr>
        <p:grpSpPr>
          <a:xfrm>
            <a:off x="1493520" y="3810529"/>
            <a:ext cx="2072639" cy="2242186"/>
            <a:chOff x="3952240" y="4250689"/>
            <a:chExt cx="2072639" cy="224218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4A87DF5-27D8-8D53-7E32-A3185B957F90}"/>
                </a:ext>
              </a:extLst>
            </p:cNvPr>
            <p:cNvSpPr/>
            <p:nvPr/>
          </p:nvSpPr>
          <p:spPr>
            <a:xfrm>
              <a:off x="3952240" y="4250689"/>
              <a:ext cx="2072639" cy="2242186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/>
                <a:t>RANGE SENSORS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66C3BAB-E704-A675-8DA7-BED49A2C48E8}"/>
                </a:ext>
              </a:extLst>
            </p:cNvPr>
            <p:cNvSpPr/>
            <p:nvPr/>
          </p:nvSpPr>
          <p:spPr>
            <a:xfrm>
              <a:off x="4188463" y="4810654"/>
              <a:ext cx="1577342" cy="36650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2D LiDAR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5538277-F3B5-F352-6C29-47029B93ECA3}"/>
                </a:ext>
              </a:extLst>
            </p:cNvPr>
            <p:cNvSpPr/>
            <p:nvPr/>
          </p:nvSpPr>
          <p:spPr>
            <a:xfrm>
              <a:off x="4188461" y="5260445"/>
              <a:ext cx="1577342" cy="36650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3D LiDAR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E9D0210-1C70-C866-6B13-B5B4803AC5C9}"/>
                </a:ext>
              </a:extLst>
            </p:cNvPr>
            <p:cNvSpPr/>
            <p:nvPr/>
          </p:nvSpPr>
          <p:spPr>
            <a:xfrm>
              <a:off x="4188461" y="5734053"/>
              <a:ext cx="1577342" cy="36650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RADAR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EAA87EA-FDC4-C518-9C43-1501D7E289A0}"/>
              </a:ext>
            </a:extLst>
          </p:cNvPr>
          <p:cNvGrpSpPr/>
          <p:nvPr/>
        </p:nvGrpSpPr>
        <p:grpSpPr>
          <a:xfrm>
            <a:off x="1493520" y="1418589"/>
            <a:ext cx="2072639" cy="2242186"/>
            <a:chOff x="6563360" y="4140729"/>
            <a:chExt cx="2072639" cy="2242186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B1E0EA4-597A-F247-CC02-73422ED25E80}"/>
                </a:ext>
              </a:extLst>
            </p:cNvPr>
            <p:cNvSpPr/>
            <p:nvPr/>
          </p:nvSpPr>
          <p:spPr>
            <a:xfrm>
              <a:off x="6563360" y="4140729"/>
              <a:ext cx="2072639" cy="224218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VISUAL SENSORS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1AE978CC-4D46-23BC-0829-07CA7117BA9A}"/>
                </a:ext>
              </a:extLst>
            </p:cNvPr>
            <p:cNvSpPr/>
            <p:nvPr/>
          </p:nvSpPr>
          <p:spPr>
            <a:xfrm>
              <a:off x="6786878" y="4728528"/>
              <a:ext cx="1625601" cy="5961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PINHOLE CAMERA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0740A0D-7E3F-E1C2-0F13-2E59C9F816C0}"/>
                </a:ext>
              </a:extLst>
            </p:cNvPr>
            <p:cNvSpPr/>
            <p:nvPr/>
          </p:nvSpPr>
          <p:spPr>
            <a:xfrm>
              <a:off x="6786878" y="5407978"/>
              <a:ext cx="1625601" cy="59616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OMNIDIRECTIONAL</a:t>
              </a:r>
              <a:br>
                <a:rPr lang="en-US" b="1"/>
              </a:br>
              <a:r>
                <a:rPr lang="en-US" b="1"/>
                <a:t>CAMERA</a:t>
              </a:r>
            </a:p>
          </p:txBody>
        </p:sp>
      </p:grpSp>
      <p:pic>
        <p:nvPicPr>
          <p:cNvPr id="3" name="Picture 2" descr="A picture containing graphics, symbol, logo, circle&#10;&#10;Description automatically generated">
            <a:extLst>
              <a:ext uri="{FF2B5EF4-FFF2-40B4-BE49-F238E27FC236}">
                <a16:creationId xmlns:a16="http://schemas.microsoft.com/office/drawing/2014/main" id="{22017ADD-C1DB-1E03-AF0D-5E8D80271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05" y="1880220"/>
            <a:ext cx="1235849" cy="1235849"/>
          </a:xfrm>
          <a:prstGeom prst="rect">
            <a:avLst/>
          </a:prstGeom>
        </p:spPr>
      </p:pic>
      <p:pic>
        <p:nvPicPr>
          <p:cNvPr id="2050" name="Picture 2" descr="Measuring tape">
            <a:extLst>
              <a:ext uri="{FF2B5EF4-FFF2-40B4-BE49-F238E27FC236}">
                <a16:creationId xmlns:a16="http://schemas.microsoft.com/office/drawing/2014/main" id="{3BC574F5-46BC-D5CF-1F81-E0AD23060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05" y="4257939"/>
            <a:ext cx="1429412" cy="142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F70E84-2BE0-7DBA-B441-4F5D1EB9CEBA}"/>
              </a:ext>
            </a:extLst>
          </p:cNvPr>
          <p:cNvSpPr/>
          <p:nvPr/>
        </p:nvSpPr>
        <p:spPr>
          <a:xfrm>
            <a:off x="10200735" y="3027341"/>
            <a:ext cx="1854199" cy="37927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THIS THESIS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1971BB-A6C8-894A-5D55-1EF813D1E01A}"/>
              </a:ext>
            </a:extLst>
          </p:cNvPr>
          <p:cNvSpPr/>
          <p:nvPr/>
        </p:nvSpPr>
        <p:spPr>
          <a:xfrm>
            <a:off x="10200735" y="3500601"/>
            <a:ext cx="1854199" cy="3792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RELATED FIELD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55DAF8-6570-44BE-E4A8-4B548160377A}"/>
              </a:ext>
            </a:extLst>
          </p:cNvPr>
          <p:cNvGrpSpPr/>
          <p:nvPr/>
        </p:nvGrpSpPr>
        <p:grpSpPr>
          <a:xfrm>
            <a:off x="3566159" y="1372978"/>
            <a:ext cx="2875519" cy="4512149"/>
            <a:chOff x="3566159" y="1372978"/>
            <a:chExt cx="2875519" cy="4512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2162FA3-5D5A-C78D-933B-88F6792CCC8D}"/>
                </a:ext>
              </a:extLst>
            </p:cNvPr>
            <p:cNvGrpSpPr/>
            <p:nvPr/>
          </p:nvGrpSpPr>
          <p:grpSpPr>
            <a:xfrm>
              <a:off x="3566159" y="2057349"/>
              <a:ext cx="2627337" cy="3827778"/>
              <a:chOff x="3566159" y="2057349"/>
              <a:chExt cx="2627337" cy="382777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A14C9414-7E2A-6487-508F-9DC01D478D41}"/>
                  </a:ext>
                </a:extLst>
              </p:cNvPr>
              <p:cNvSpPr/>
              <p:nvPr/>
            </p:nvSpPr>
            <p:spPr>
              <a:xfrm>
                <a:off x="4339297" y="2057349"/>
                <a:ext cx="1854199" cy="881592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VISUAL</a:t>
                </a:r>
                <a:br>
                  <a:rPr lang="en-US" b="1"/>
                </a:br>
                <a:r>
                  <a:rPr lang="en-US" b="1"/>
                  <a:t>PLACE RECOGNITION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422BEA31-1CE3-F197-414D-B6C82E286B44}"/>
                  </a:ext>
                </a:extLst>
              </p:cNvPr>
              <p:cNvSpPr/>
              <p:nvPr/>
            </p:nvSpPr>
            <p:spPr>
              <a:xfrm>
                <a:off x="4339297" y="5003535"/>
                <a:ext cx="1854199" cy="8815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ODOMETRY</a:t>
                </a:r>
                <a:br>
                  <a:rPr lang="en-US"/>
                </a:br>
                <a:r>
                  <a:rPr lang="en-US"/>
                  <a:t>ESTIMATION</a:t>
                </a: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58F75EB8-BBAB-04E4-CA74-CDE9C35107A4}"/>
                  </a:ext>
                </a:extLst>
              </p:cNvPr>
              <p:cNvCxnSpPr>
                <a:cxnSpLocks/>
                <a:stCxn id="37" idx="3"/>
                <a:endCxn id="29" idx="1"/>
              </p:cNvCxnSpPr>
              <p:nvPr/>
            </p:nvCxnSpPr>
            <p:spPr>
              <a:xfrm flipV="1">
                <a:off x="3566159" y="2498145"/>
                <a:ext cx="773138" cy="415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9DF41C36-35FA-CA96-6A2A-1469E0C7F303}"/>
                  </a:ext>
                </a:extLst>
              </p:cNvPr>
              <p:cNvCxnSpPr>
                <a:cxnSpLocks/>
                <a:stCxn id="37" idx="3"/>
                <a:endCxn id="30" idx="1"/>
              </p:cNvCxnSpPr>
              <p:nvPr/>
            </p:nvCxnSpPr>
            <p:spPr>
              <a:xfrm>
                <a:off x="3566159" y="2539682"/>
                <a:ext cx="773138" cy="29046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88B95AA7-7FBC-7399-92DD-12021FB311F1}"/>
                  </a:ext>
                </a:extLst>
              </p:cNvPr>
              <p:cNvSpPr/>
              <p:nvPr/>
            </p:nvSpPr>
            <p:spPr>
              <a:xfrm>
                <a:off x="4339296" y="3556396"/>
                <a:ext cx="1854199" cy="8815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ENVIRONMENT</a:t>
                </a:r>
                <a:br>
                  <a:rPr lang="en-US"/>
                </a:br>
                <a:r>
                  <a:rPr lang="en-US"/>
                  <a:t>MAPPING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59B2A218-89FD-4AB9-C6A0-E93CCED33BF8}"/>
                  </a:ext>
                </a:extLst>
              </p:cNvPr>
              <p:cNvCxnSpPr>
                <a:cxnSpLocks/>
                <a:stCxn id="37" idx="3"/>
                <a:endCxn id="47" idx="1"/>
              </p:cNvCxnSpPr>
              <p:nvPr/>
            </p:nvCxnSpPr>
            <p:spPr>
              <a:xfrm>
                <a:off x="3566159" y="2539682"/>
                <a:ext cx="773137" cy="1457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A8E7731C-DC2F-09B1-0D60-B438BA0528A3}"/>
                  </a:ext>
                </a:extLst>
              </p:cNvPr>
              <p:cNvCxnSpPr>
                <a:cxnSpLocks/>
                <a:stCxn id="35" idx="3"/>
                <a:endCxn id="47" idx="1"/>
              </p:cNvCxnSpPr>
              <p:nvPr/>
            </p:nvCxnSpPr>
            <p:spPr>
              <a:xfrm flipV="1">
                <a:off x="3566159" y="3997192"/>
                <a:ext cx="773137" cy="93443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19160773-3AD2-6964-1F96-C7B2F7AE09CA}"/>
                  </a:ext>
                </a:extLst>
              </p:cNvPr>
              <p:cNvCxnSpPr>
                <a:cxnSpLocks/>
                <a:stCxn id="35" idx="3"/>
                <a:endCxn id="30" idx="1"/>
              </p:cNvCxnSpPr>
              <p:nvPr/>
            </p:nvCxnSpPr>
            <p:spPr>
              <a:xfrm>
                <a:off x="3566159" y="4931622"/>
                <a:ext cx="773138" cy="5127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26" name="Picture 2" descr="Map icon">
              <a:extLst>
                <a:ext uri="{FF2B5EF4-FFF2-40B4-BE49-F238E27FC236}">
                  <a16:creationId xmlns:a16="http://schemas.microsoft.com/office/drawing/2014/main" id="{9FF038B8-BA32-51A7-126B-826BD6CD7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0321" y="3654109"/>
              <a:ext cx="691357" cy="6913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ilometer icon">
              <a:extLst>
                <a:ext uri="{FF2B5EF4-FFF2-40B4-BE49-F238E27FC236}">
                  <a16:creationId xmlns:a16="http://schemas.microsoft.com/office/drawing/2014/main" id="{5F7771BB-CFA3-DEAC-E37E-7D53F7310E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0321" y="5035721"/>
              <a:ext cx="681695" cy="681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A purple pin with a robot face on top of a map&#10;&#10;Description automatically generated with low confidence">
              <a:extLst>
                <a:ext uri="{FF2B5EF4-FFF2-40B4-BE49-F238E27FC236}">
                  <a16:creationId xmlns:a16="http://schemas.microsoft.com/office/drawing/2014/main" id="{5855BC85-87C5-5891-2BE8-B13E3153B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1371" y="1372978"/>
              <a:ext cx="883257" cy="883257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E12E89-5B2C-781A-E26B-9B6190F65236}"/>
              </a:ext>
            </a:extLst>
          </p:cNvPr>
          <p:cNvGrpSpPr/>
          <p:nvPr/>
        </p:nvGrpSpPr>
        <p:grpSpPr>
          <a:xfrm>
            <a:off x="6193496" y="526150"/>
            <a:ext cx="3903097" cy="5799773"/>
            <a:chOff x="6193496" y="526150"/>
            <a:chExt cx="3903097" cy="579977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A4B9218-F429-301B-F5D7-4CD55DE06F7E}"/>
                </a:ext>
              </a:extLst>
            </p:cNvPr>
            <p:cNvGrpSpPr/>
            <p:nvPr/>
          </p:nvGrpSpPr>
          <p:grpSpPr>
            <a:xfrm>
              <a:off x="6193496" y="526150"/>
              <a:ext cx="3199279" cy="5799773"/>
              <a:chOff x="6193496" y="526150"/>
              <a:chExt cx="3199279" cy="5799773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BB219E9E-B553-8503-B784-02219D0B1EBC}"/>
                  </a:ext>
                </a:extLst>
              </p:cNvPr>
              <p:cNvSpPr/>
              <p:nvPr/>
            </p:nvSpPr>
            <p:spPr>
              <a:xfrm>
                <a:off x="7536039" y="2988204"/>
                <a:ext cx="1854199" cy="881592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ROBOT</a:t>
                </a:r>
                <a:br>
                  <a:rPr lang="en-US" b="1"/>
                </a:br>
                <a:r>
                  <a:rPr lang="en-US" b="1"/>
                  <a:t>LOCALIZATION</a:t>
                </a:r>
                <a:br>
                  <a:rPr lang="en-US" b="1"/>
                </a:br>
                <a:r>
                  <a:rPr lang="en-US" b="1"/>
                  <a:t>&amp; NAVIGATION</a:t>
                </a:r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A1E2AF36-9B67-CD72-2947-837DEBE96794}"/>
                  </a:ext>
                </a:extLst>
              </p:cNvPr>
              <p:cNvSpPr/>
              <p:nvPr/>
            </p:nvSpPr>
            <p:spPr>
              <a:xfrm>
                <a:off x="7536038" y="1658090"/>
                <a:ext cx="1854199" cy="8815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TRAVELING</a:t>
                </a:r>
                <a:br>
                  <a:rPr lang="en-US"/>
                </a:br>
                <a:r>
                  <a:rPr lang="en-US"/>
                  <a:t>GUIDE ASSIST</a:t>
                </a: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1FD20450-E041-CA42-F3D5-CC4C3DCAF004}"/>
                  </a:ext>
                </a:extLst>
              </p:cNvPr>
              <p:cNvSpPr/>
              <p:nvPr/>
            </p:nvSpPr>
            <p:spPr>
              <a:xfrm>
                <a:off x="7536037" y="4318318"/>
                <a:ext cx="1854199" cy="8815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KIDNAPPED</a:t>
                </a:r>
                <a:br>
                  <a:rPr lang="en-US"/>
                </a:br>
                <a:r>
                  <a:rPr lang="en-US"/>
                  <a:t>ROBOT PROBLEM</a:t>
                </a:r>
              </a:p>
            </p:txBody>
          </p:sp>
          <p:sp>
            <p:nvSpPr>
              <p:cNvPr id="1036" name="Rectangle: Rounded Corners 1035">
                <a:extLst>
                  <a:ext uri="{FF2B5EF4-FFF2-40B4-BE49-F238E27FC236}">
                    <a16:creationId xmlns:a16="http://schemas.microsoft.com/office/drawing/2014/main" id="{026CC3AE-8106-EA64-D6BC-CFC81A9A82C1}"/>
                  </a:ext>
                </a:extLst>
              </p:cNvPr>
              <p:cNvSpPr/>
              <p:nvPr/>
            </p:nvSpPr>
            <p:spPr>
              <a:xfrm>
                <a:off x="7538576" y="526150"/>
                <a:ext cx="1854199" cy="8815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WEARABLE</a:t>
                </a:r>
                <a:br>
                  <a:rPr lang="en-US"/>
                </a:br>
                <a:r>
                  <a:rPr lang="en-US"/>
                  <a:t>AUGMENTED REALITY</a:t>
                </a:r>
              </a:p>
            </p:txBody>
          </p:sp>
          <p:sp>
            <p:nvSpPr>
              <p:cNvPr id="1041" name="Rectangle: Rounded Corners 1040">
                <a:extLst>
                  <a:ext uri="{FF2B5EF4-FFF2-40B4-BE49-F238E27FC236}">
                    <a16:creationId xmlns:a16="http://schemas.microsoft.com/office/drawing/2014/main" id="{4D55DE00-5CE4-5B30-807E-AA542D92B31E}"/>
                  </a:ext>
                </a:extLst>
              </p:cNvPr>
              <p:cNvSpPr/>
              <p:nvPr/>
            </p:nvSpPr>
            <p:spPr>
              <a:xfrm>
                <a:off x="7536037" y="5444331"/>
                <a:ext cx="1854199" cy="88159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AUTOMOTIVE</a:t>
                </a: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DB9925FD-68FB-4621-BF54-A97426B71BD5}"/>
                  </a:ext>
                </a:extLst>
              </p:cNvPr>
              <p:cNvCxnSpPr>
                <a:cxnSpLocks/>
                <a:stCxn id="29" idx="3"/>
                <a:endCxn id="31" idx="1"/>
              </p:cNvCxnSpPr>
              <p:nvPr/>
            </p:nvCxnSpPr>
            <p:spPr>
              <a:xfrm>
                <a:off x="6193496" y="2498145"/>
                <a:ext cx="1342543" cy="9308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3D6A3247-267B-BAE3-A2A0-C1D05467117B}"/>
                  </a:ext>
                </a:extLst>
              </p:cNvPr>
              <p:cNvCxnSpPr>
                <a:cxnSpLocks/>
                <a:stCxn id="29" idx="3"/>
                <a:endCxn id="32" idx="1"/>
              </p:cNvCxnSpPr>
              <p:nvPr/>
            </p:nvCxnSpPr>
            <p:spPr>
              <a:xfrm flipV="1">
                <a:off x="6193496" y="2098886"/>
                <a:ext cx="1342542" cy="3992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AA7D61B-64C3-0DB0-2B92-B882E14C81FF}"/>
                  </a:ext>
                </a:extLst>
              </p:cNvPr>
              <p:cNvCxnSpPr>
                <a:cxnSpLocks/>
                <a:stCxn id="29" idx="3"/>
                <a:endCxn id="1036" idx="1"/>
              </p:cNvCxnSpPr>
              <p:nvPr/>
            </p:nvCxnSpPr>
            <p:spPr>
              <a:xfrm flipV="1">
                <a:off x="6193496" y="966946"/>
                <a:ext cx="1345080" cy="15311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BEA8F48-FB66-8100-D236-55DF1E565113}"/>
                  </a:ext>
                </a:extLst>
              </p:cNvPr>
              <p:cNvCxnSpPr>
                <a:cxnSpLocks/>
                <a:stCxn id="29" idx="3"/>
                <a:endCxn id="39" idx="1"/>
              </p:cNvCxnSpPr>
              <p:nvPr/>
            </p:nvCxnSpPr>
            <p:spPr>
              <a:xfrm>
                <a:off x="6193496" y="2498145"/>
                <a:ext cx="1342541" cy="22609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1C322319-73D9-8D4E-E90F-AFB1251627B7}"/>
                  </a:ext>
                </a:extLst>
              </p:cNvPr>
              <p:cNvCxnSpPr>
                <a:cxnSpLocks/>
                <a:stCxn id="29" idx="3"/>
                <a:endCxn id="1041" idx="1"/>
              </p:cNvCxnSpPr>
              <p:nvPr/>
            </p:nvCxnSpPr>
            <p:spPr>
              <a:xfrm>
                <a:off x="6193496" y="2498145"/>
                <a:ext cx="1342541" cy="33869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" name="Picture 20" descr="Explorer icon">
              <a:extLst>
                <a:ext uri="{FF2B5EF4-FFF2-40B4-BE49-F238E27FC236}">
                  <a16:creationId xmlns:a16="http://schemas.microsoft.com/office/drawing/2014/main" id="{6E8C7C0B-8142-7CBF-8FC3-6F0A113750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46145" y="2940196"/>
              <a:ext cx="1050448" cy="10504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Electric car icon">
              <a:extLst>
                <a:ext uri="{FF2B5EF4-FFF2-40B4-BE49-F238E27FC236}">
                  <a16:creationId xmlns:a16="http://schemas.microsoft.com/office/drawing/2014/main" id="{4FD5F502-A9BE-7DC0-7DC3-BD22A0B262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13212" y="5542547"/>
              <a:ext cx="721914" cy="721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Robot icon">
              <a:extLst>
                <a:ext uri="{FF2B5EF4-FFF2-40B4-BE49-F238E27FC236}">
                  <a16:creationId xmlns:a16="http://schemas.microsoft.com/office/drawing/2014/main" id="{09915490-5502-EF9F-1DB4-3D5CC48CD7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2725" y="4370495"/>
              <a:ext cx="721914" cy="721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Tour guide icon">
              <a:extLst>
                <a:ext uri="{FF2B5EF4-FFF2-40B4-BE49-F238E27FC236}">
                  <a16:creationId xmlns:a16="http://schemas.microsoft.com/office/drawing/2014/main" id="{CED4D3B6-AACB-5D41-316A-5581472585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3436" y="1717042"/>
              <a:ext cx="655867" cy="6558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anorama icon">
              <a:extLst>
                <a:ext uri="{FF2B5EF4-FFF2-40B4-BE49-F238E27FC236}">
                  <a16:creationId xmlns:a16="http://schemas.microsoft.com/office/drawing/2014/main" id="{05AB698A-CA47-BB1C-A389-2C7AC5B1FD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2725" y="549656"/>
              <a:ext cx="677291" cy="677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4178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9073-9ED8-5AE5-C9EC-6F44CACC1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DDA5FE-5FE4-E1AB-8059-B021986C178E}"/>
              </a:ext>
            </a:extLst>
          </p:cNvPr>
          <p:cNvSpPr/>
          <p:nvPr/>
        </p:nvSpPr>
        <p:spPr>
          <a:xfrm>
            <a:off x="5240676" y="5409699"/>
            <a:ext cx="1614043" cy="9888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VISUAL PLACE</a:t>
            </a:r>
            <a:br>
              <a:rPr lang="en-US" b="1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RECOGNITION</a:t>
            </a:r>
            <a:br>
              <a:rPr lang="en-US" b="1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MODULE</a:t>
            </a:r>
          </a:p>
        </p:txBody>
      </p:sp>
      <p:pic>
        <p:nvPicPr>
          <p:cNvPr id="6" name="Picture 5" descr="A picture containing indoor, black&#10;&#10;Description automatically generated">
            <a:extLst>
              <a:ext uri="{FF2B5EF4-FFF2-40B4-BE49-F238E27FC236}">
                <a16:creationId xmlns:a16="http://schemas.microsoft.com/office/drawing/2014/main" id="{F092FBA5-2084-89E2-EFAB-F7745079B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57" y="5244354"/>
            <a:ext cx="1357512" cy="1357512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511AAF4A-C920-3366-5C28-50D4C44E25B4}"/>
              </a:ext>
            </a:extLst>
          </p:cNvPr>
          <p:cNvSpPr/>
          <p:nvPr/>
        </p:nvSpPr>
        <p:spPr>
          <a:xfrm>
            <a:off x="4580677" y="5529728"/>
            <a:ext cx="405037" cy="595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F69D582-B71C-152D-9DC1-C14071AD4AF1}"/>
              </a:ext>
            </a:extLst>
          </p:cNvPr>
          <p:cNvSpPr/>
          <p:nvPr/>
        </p:nvSpPr>
        <p:spPr>
          <a:xfrm>
            <a:off x="7264572" y="5529728"/>
            <a:ext cx="405036" cy="595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3DB73C-A7BE-E86A-EA8B-039527F17F85}"/>
              </a:ext>
            </a:extLst>
          </p:cNvPr>
          <p:cNvGrpSpPr/>
          <p:nvPr/>
        </p:nvGrpSpPr>
        <p:grpSpPr>
          <a:xfrm>
            <a:off x="8639949" y="5078688"/>
            <a:ext cx="691508" cy="923330"/>
            <a:chOff x="5527136" y="1491874"/>
            <a:chExt cx="1334061" cy="1781292"/>
          </a:xfrm>
        </p:grpSpPr>
        <p:pic>
          <p:nvPicPr>
            <p:cNvPr id="10" name="Picture 9" descr="Robot, flat Free Icon of SnipIcons Flat">
              <a:extLst>
                <a:ext uri="{FF2B5EF4-FFF2-40B4-BE49-F238E27FC236}">
                  <a16:creationId xmlns:a16="http://schemas.microsoft.com/office/drawing/2014/main" id="{0BD944AB-BE3B-79C0-8CAD-F7EC6BDBB4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54" r="15015"/>
            <a:stretch/>
          </p:blipFill>
          <p:spPr bwMode="auto">
            <a:xfrm>
              <a:off x="5527136" y="1491874"/>
              <a:ext cx="1256357" cy="17812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Free Icon | Question">
              <a:extLst>
                <a:ext uri="{FF2B5EF4-FFF2-40B4-BE49-F238E27FC236}">
                  <a16:creationId xmlns:a16="http://schemas.microsoft.com/office/drawing/2014/main" id="{9F37FFC1-07E7-7534-3EF4-FED637D4B7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rgbClr val="FF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6306" y="1491874"/>
              <a:ext cx="444891" cy="4448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033F9AE-A159-BC92-72B3-4881E270A900}"/>
              </a:ext>
            </a:extLst>
          </p:cNvPr>
          <p:cNvSpPr txBox="1"/>
          <p:nvPr/>
        </p:nvSpPr>
        <p:spPr>
          <a:xfrm>
            <a:off x="838200" y="2907660"/>
            <a:ext cx="28326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ROBOT LOCALIZATION IS HARD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IN DYNAMIC ENVIRONMENT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EF6B9E-44B6-68B7-BFC3-71D56455518E}"/>
              </a:ext>
            </a:extLst>
          </p:cNvPr>
          <p:cNvSpPr txBox="1"/>
          <p:nvPr/>
        </p:nvSpPr>
        <p:spPr>
          <a:xfrm>
            <a:off x="4321570" y="2896480"/>
            <a:ext cx="34604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</a:rPr>
              <a:t>WIDER SENSES OF ENVIRONMENT</a:t>
            </a:r>
            <a:br>
              <a:rPr lang="en-US" sz="1800">
                <a:solidFill>
                  <a:schemeClr val="bg1"/>
                </a:solidFill>
              </a:rPr>
            </a:br>
            <a:r>
              <a:rPr lang="en-US" sz="1800">
                <a:solidFill>
                  <a:schemeClr val="bg1"/>
                </a:solidFill>
              </a:rPr>
              <a:t>CAN IMPROVE THE LOCALIZATION QUALITY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93A00C-2A69-5020-6DCF-0F2A2EFB1410}"/>
              </a:ext>
            </a:extLst>
          </p:cNvPr>
          <p:cNvSpPr txBox="1"/>
          <p:nvPr/>
        </p:nvSpPr>
        <p:spPr>
          <a:xfrm>
            <a:off x="8743689" y="2907660"/>
            <a:ext cx="28403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</a:rPr>
              <a:t>CAMERA AND FISHEYE LENS</a:t>
            </a:r>
            <a:br>
              <a:rPr lang="en-US" sz="1800">
                <a:solidFill>
                  <a:schemeClr val="bg1"/>
                </a:solidFill>
              </a:rPr>
            </a:br>
            <a:r>
              <a:rPr lang="en-US" sz="1800">
                <a:solidFill>
                  <a:schemeClr val="bg1"/>
                </a:solidFill>
              </a:rPr>
              <a:t>CAN PROVIDE OMNIDIRECTIONAL VIEW</a:t>
            </a:r>
            <a:br>
              <a:rPr lang="en-US" sz="1800">
                <a:solidFill>
                  <a:schemeClr val="bg1"/>
                </a:solidFill>
              </a:rPr>
            </a:br>
            <a:r>
              <a:rPr lang="en-US" sz="1800">
                <a:solidFill>
                  <a:schemeClr val="bg1"/>
                </a:solidFill>
              </a:rPr>
              <a:t>OF ENVIRONMENT </a:t>
            </a:r>
            <a:endParaRPr lang="th-TH" sz="180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FFAD2D-371A-C76B-2B13-F6C663181566}"/>
              </a:ext>
            </a:extLst>
          </p:cNvPr>
          <p:cNvSpPr txBox="1"/>
          <p:nvPr/>
        </p:nvSpPr>
        <p:spPr>
          <a:xfrm>
            <a:off x="2191585" y="4276415"/>
            <a:ext cx="75756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000">
                <a:solidFill>
                  <a:schemeClr val="bg1"/>
                </a:solidFill>
              </a:rPr>
              <a:t>รูป </a:t>
            </a:r>
            <a:r>
              <a:rPr lang="en-US" sz="2000">
                <a:solidFill>
                  <a:schemeClr val="bg1"/>
                </a:solidFill>
              </a:rPr>
              <a:t>Omnidirectional </a:t>
            </a:r>
            <a:r>
              <a:rPr lang="th-TH" sz="2000">
                <a:solidFill>
                  <a:schemeClr val="bg1"/>
                </a:solidFill>
              </a:rPr>
              <a:t>ควรจะช่วยทำ </a:t>
            </a:r>
            <a:r>
              <a:rPr lang="en-US" sz="2000">
                <a:solidFill>
                  <a:schemeClr val="bg1"/>
                </a:solidFill>
              </a:rPr>
              <a:t>Visual Place Recognition </a:t>
            </a:r>
            <a:r>
              <a:rPr lang="th-TH" sz="2000">
                <a:solidFill>
                  <a:schemeClr val="bg1"/>
                </a:solidFill>
              </a:rPr>
              <a:t>ให้ดีขึ้นได้ จากการมองเห็นที่กว้างขึ้น </a:t>
            </a:r>
            <a:br>
              <a:rPr lang="th-TH" sz="2000">
                <a:solidFill>
                  <a:schemeClr val="bg1"/>
                </a:solidFill>
              </a:rPr>
            </a:br>
            <a:r>
              <a:rPr lang="th-TH" sz="2000">
                <a:solidFill>
                  <a:schemeClr val="bg1"/>
                </a:solidFill>
              </a:rPr>
              <a:t>แต่มันมีวิธีการที่แตกต่างจากกล้องปกติไหม และอะไรเป็นปัจจัยที่มีผลกระทบกับการทำงานหรือเปล่า</a:t>
            </a:r>
          </a:p>
        </p:txBody>
      </p:sp>
      <p:pic>
        <p:nvPicPr>
          <p:cNvPr id="1026" name="Picture 2" descr="Map - Free maps and location icons">
            <a:extLst>
              <a:ext uri="{FF2B5EF4-FFF2-40B4-BE49-F238E27FC236}">
                <a16:creationId xmlns:a16="http://schemas.microsoft.com/office/drawing/2014/main" id="{6D42ED43-0B7E-412D-6E46-6B6B1E4F3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340" y="5452208"/>
            <a:ext cx="1064509" cy="106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purple pin with a robot face on top of a map&#10;&#10;Description automatically generated with low confidence">
            <a:extLst>
              <a:ext uri="{FF2B5EF4-FFF2-40B4-BE49-F238E27FC236}">
                <a16:creationId xmlns:a16="http://schemas.microsoft.com/office/drawing/2014/main" id="{AEBABB8F-01D8-3358-0B02-1FF42F051D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366" y="1530680"/>
            <a:ext cx="1200329" cy="1200329"/>
          </a:xfrm>
          <a:prstGeom prst="rect">
            <a:avLst/>
          </a:prstGeom>
        </p:spPr>
      </p:pic>
      <p:pic>
        <p:nvPicPr>
          <p:cNvPr id="13" name="Picture 12" descr="A picture containing indoor, black&#10;&#10;Description automatically generated">
            <a:extLst>
              <a:ext uri="{FF2B5EF4-FFF2-40B4-BE49-F238E27FC236}">
                <a16:creationId xmlns:a16="http://schemas.microsoft.com/office/drawing/2014/main" id="{B858DCD2-6F22-1E7F-22C3-F105B7F4D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304" y="1133302"/>
            <a:ext cx="1603077" cy="1603077"/>
          </a:xfrm>
          <a:prstGeom prst="rect">
            <a:avLst/>
          </a:prstGeom>
        </p:spPr>
      </p:pic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3AA593EE-40E1-58C2-405F-3F7E255E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6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4ABB17-68E4-4097-E078-0067F64E0FB1}"/>
              </a:ext>
            </a:extLst>
          </p:cNvPr>
          <p:cNvGrpSpPr/>
          <p:nvPr/>
        </p:nvGrpSpPr>
        <p:grpSpPr>
          <a:xfrm>
            <a:off x="4856484" y="660528"/>
            <a:ext cx="2361522" cy="2113693"/>
            <a:chOff x="4856484" y="660528"/>
            <a:chExt cx="2361522" cy="2113693"/>
          </a:xfrm>
        </p:grpSpPr>
        <p:pic>
          <p:nvPicPr>
            <p:cNvPr id="3" name="Picture 2" descr="A picture containing screenshot, cartoon, symbol, creativity&#10;&#10;Description automatically generated">
              <a:extLst>
                <a:ext uri="{FF2B5EF4-FFF2-40B4-BE49-F238E27FC236}">
                  <a16:creationId xmlns:a16="http://schemas.microsoft.com/office/drawing/2014/main" id="{46F55D35-CE02-F659-7282-276308252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6484" y="660528"/>
              <a:ext cx="2361522" cy="2003278"/>
            </a:xfrm>
            <a:prstGeom prst="rect">
              <a:avLst/>
            </a:prstGeom>
          </p:spPr>
        </p:pic>
        <p:pic>
          <p:nvPicPr>
            <p:cNvPr id="4" name="Picture 3" descr="A person looking at a city&#10;&#10;Description automatically generated with low confidence">
              <a:extLst>
                <a:ext uri="{FF2B5EF4-FFF2-40B4-BE49-F238E27FC236}">
                  <a16:creationId xmlns:a16="http://schemas.microsoft.com/office/drawing/2014/main" id="{2A393F83-7DB4-44D5-114D-22C3726AE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36" y="1596252"/>
              <a:ext cx="1204618" cy="11779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5226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E4BF-353A-A170-6E62-5902B92E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WORKS</a:t>
            </a:r>
            <a:b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(LITERATURE REVIEW)</a:t>
            </a:r>
          </a:p>
        </p:txBody>
      </p:sp>
      <p:pic>
        <p:nvPicPr>
          <p:cNvPr id="2050" name="Picture 2" descr="R2d2, star wars Icon in Star Wars - color Icons">
            <a:extLst>
              <a:ext uri="{FF2B5EF4-FFF2-40B4-BE49-F238E27FC236}">
                <a16:creationId xmlns:a16="http://schemas.microsoft.com/office/drawing/2014/main" id="{A12E834C-19F5-254D-5428-DA00C9605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06"/>
          <a:stretch/>
        </p:blipFill>
        <p:spPr bwMode="auto">
          <a:xfrm>
            <a:off x="4542638" y="5207000"/>
            <a:ext cx="3106724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2413317-2DF4-6FD0-2132-A945CBB0EDDF}"/>
              </a:ext>
            </a:extLst>
          </p:cNvPr>
          <p:cNvGrpSpPr/>
          <p:nvPr/>
        </p:nvGrpSpPr>
        <p:grpSpPr>
          <a:xfrm>
            <a:off x="685799" y="4091781"/>
            <a:ext cx="3251200" cy="2237581"/>
            <a:chOff x="1291438" y="1109862"/>
            <a:chExt cx="3251200" cy="2237581"/>
          </a:xfrm>
        </p:grpSpPr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62A902EF-37EA-0E01-3421-D25CC76B4D99}"/>
                </a:ext>
              </a:extLst>
            </p:cNvPr>
            <p:cNvSpPr/>
            <p:nvPr/>
          </p:nvSpPr>
          <p:spPr>
            <a:xfrm>
              <a:off x="1291438" y="1109862"/>
              <a:ext cx="3251200" cy="2237581"/>
            </a:xfrm>
            <a:prstGeom prst="wedgeRoundRectCallout">
              <a:avLst>
                <a:gd name="adj1" fmla="val 66667"/>
                <a:gd name="adj2" fmla="val 38661"/>
                <a:gd name="adj3" fmla="val 16667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2986D780-86A8-405D-E10F-F17151A7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2788" y="1244402"/>
              <a:ext cx="1968500" cy="1968500"/>
            </a:xfrm>
            <a:prstGeom prst="rect">
              <a:avLst/>
            </a:prstGeom>
          </p:spPr>
        </p:pic>
      </p:grp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33E63ED-DD90-63B8-F31D-679F091F1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7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317A775-1268-5D7E-AABA-45D7F859BDB0}"/>
              </a:ext>
            </a:extLst>
          </p:cNvPr>
          <p:cNvSpPr txBox="1">
            <a:spLocks/>
          </p:cNvSpPr>
          <p:nvPr/>
        </p:nvSpPr>
        <p:spPr>
          <a:xfrm>
            <a:off x="8578850" y="2766218"/>
            <a:ext cx="3770630" cy="2354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8C155D-29D1-19D9-E76E-AC046A640D8B}"/>
              </a:ext>
            </a:extLst>
          </p:cNvPr>
          <p:cNvSpPr txBox="1"/>
          <p:nvPr/>
        </p:nvSpPr>
        <p:spPr>
          <a:xfrm>
            <a:off x="8771891" y="2672311"/>
            <a:ext cx="2734310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VISUAL PLACE RECOGNITION</a:t>
            </a:r>
            <a:br>
              <a:rPr lang="en-US" sz="1800">
                <a:solidFill>
                  <a:schemeClr val="bg1"/>
                </a:solidFill>
              </a:rPr>
            </a:b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</a:rPr>
              <a:t>RELATED WORKS</a:t>
            </a:r>
          </a:p>
          <a:p>
            <a:pPr marL="0" indent="0">
              <a:buNone/>
            </a:pP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GLOBAL DESCRIPTOR</a:t>
            </a:r>
            <a:br>
              <a:rPr lang="en-US" sz="1800">
                <a:solidFill>
                  <a:schemeClr val="bg1"/>
                </a:solidFill>
              </a:rPr>
            </a:br>
            <a:r>
              <a:rPr lang="en-US" sz="1800">
                <a:solidFill>
                  <a:schemeClr val="bg1"/>
                </a:solidFill>
              </a:rPr>
              <a:t>(FEATURE AGGREGATION)</a:t>
            </a:r>
          </a:p>
        </p:txBody>
      </p:sp>
    </p:spTree>
    <p:extLst>
      <p:ext uri="{BB962C8B-B14F-4D97-AF65-F5344CB8AC3E}">
        <p14:creationId xmlns:p14="http://schemas.microsoft.com/office/powerpoint/2010/main" val="855770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C6F372E-8384-7452-9959-17AE25835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248" y="2069474"/>
            <a:ext cx="3844712" cy="99647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1A428EF-4BEB-A941-73D6-3AE417FD6F29}"/>
              </a:ext>
            </a:extLst>
          </p:cNvPr>
          <p:cNvSpPr txBox="1"/>
          <p:nvPr/>
        </p:nvSpPr>
        <p:spPr>
          <a:xfrm>
            <a:off x="-45237" y="6112788"/>
            <a:ext cx="53453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[1] Lowry, Stephanie, Niko Suenderhauf, Paul Newman, John Leonard, David Cox, Peter Corke, and Michael Milford. 2016. </a:t>
            </a:r>
            <a:b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“Visual Place Recognition: A Survey.” </a:t>
            </a:r>
            <a:r>
              <a:rPr lang="en-US" sz="1100" i="1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IEEE Transactions on Robotics</a:t>
            </a:r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32 (1): 1–19.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935D97-37D5-E185-4DA1-EAA77075BF7C}"/>
              </a:ext>
            </a:extLst>
          </p:cNvPr>
          <p:cNvSpPr txBox="1"/>
          <p:nvPr/>
        </p:nvSpPr>
        <p:spPr>
          <a:xfrm>
            <a:off x="-45237" y="6468833"/>
            <a:ext cx="5440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[2] Piasco, Nathan, Désiré Sidibé, Cédric Demonceaux, and Valérie Gouet-Brunet. 2018. </a:t>
            </a:r>
            <a:b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“A Survey on Visual-Based Localization: On the Benefit of Heterogeneous Data.” </a:t>
            </a:r>
            <a:r>
              <a:rPr lang="en-US" sz="1100" i="1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Pattern Recognition</a:t>
            </a:r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74 (February): 90–109.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CB65E7-AC35-FEF3-D5FA-3347DCAA0309}"/>
              </a:ext>
            </a:extLst>
          </p:cNvPr>
          <p:cNvGrpSpPr/>
          <p:nvPr/>
        </p:nvGrpSpPr>
        <p:grpSpPr>
          <a:xfrm>
            <a:off x="768342" y="2118405"/>
            <a:ext cx="3748243" cy="3382279"/>
            <a:chOff x="768342" y="2118405"/>
            <a:chExt cx="3748243" cy="338227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952DA79-610D-7C29-6241-8FE59D0072A8}"/>
                </a:ext>
              </a:extLst>
            </p:cNvPr>
            <p:cNvSpPr txBox="1"/>
            <p:nvPr/>
          </p:nvSpPr>
          <p:spPr>
            <a:xfrm>
              <a:off x="768342" y="4177245"/>
              <a:ext cx="374824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>
                  <a:solidFill>
                    <a:schemeClr val="bg1"/>
                  </a:solidFill>
                </a:rPr>
                <a:t>“Given an image of a </a:t>
              </a: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PLACE</a:t>
              </a:r>
              <a:r>
                <a:rPr lang="en-US" sz="2400">
                  <a:solidFill>
                    <a:schemeClr val="bg1"/>
                  </a:solidFill>
                </a:rPr>
                <a:t>, </a:t>
              </a:r>
              <a:br>
                <a:rPr lang="en-US" sz="2400">
                  <a:solidFill>
                    <a:schemeClr val="bg1"/>
                  </a:solidFill>
                </a:rPr>
              </a:br>
              <a:r>
                <a:rPr lang="en-US" sz="2400">
                  <a:solidFill>
                    <a:schemeClr val="bg1"/>
                  </a:solidFill>
                </a:rPr>
                <a:t>can a robot decide whether </a:t>
              </a:r>
              <a:br>
                <a:rPr lang="en-US" sz="2400">
                  <a:solidFill>
                    <a:schemeClr val="bg1"/>
                  </a:solidFill>
                </a:rPr>
              </a:br>
              <a:r>
                <a:rPr lang="en-US" sz="2400">
                  <a:solidFill>
                    <a:schemeClr val="bg1"/>
                  </a:solidFill>
                </a:rPr>
                <a:t>this image is has </a:t>
              </a: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ALREADY SEEN</a:t>
              </a:r>
              <a:r>
                <a:rPr lang="en-US" sz="2800" b="1">
                  <a:solidFill>
                    <a:schemeClr val="bg1"/>
                  </a:solidFill>
                </a:rPr>
                <a:t>? </a:t>
              </a:r>
              <a:r>
                <a:rPr lang="en-US" sz="2400">
                  <a:solidFill>
                    <a:schemeClr val="bg1"/>
                  </a:solidFill>
                </a:rPr>
                <a:t>”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765D36B-7833-6A0B-A0B2-4724A98A7F6F}"/>
                </a:ext>
              </a:extLst>
            </p:cNvPr>
            <p:cNvGrpSpPr/>
            <p:nvPr/>
          </p:nvGrpSpPr>
          <p:grpSpPr>
            <a:xfrm>
              <a:off x="943547" y="2118405"/>
              <a:ext cx="2860163" cy="1818653"/>
              <a:chOff x="516179" y="2128950"/>
              <a:chExt cx="2860163" cy="1818653"/>
            </a:xfrm>
          </p:grpSpPr>
          <p:pic>
            <p:nvPicPr>
              <p:cNvPr id="1030" name="Picture 6" descr="Taj mahal - Free architecture and city icons">
                <a:extLst>
                  <a:ext uri="{FF2B5EF4-FFF2-40B4-BE49-F238E27FC236}">
                    <a16:creationId xmlns:a16="http://schemas.microsoft.com/office/drawing/2014/main" id="{217BD33D-69EB-7DD5-B986-777A627684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6179" y="2186905"/>
                <a:ext cx="1597932" cy="15979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Robot - Free technology icons">
                <a:extLst>
                  <a:ext uri="{FF2B5EF4-FFF2-40B4-BE49-F238E27FC236}">
                    <a16:creationId xmlns:a16="http://schemas.microsoft.com/office/drawing/2014/main" id="{2351C5F0-6D06-8433-F7B4-E49CB2EFF8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5567" y="2541585"/>
                <a:ext cx="1406018" cy="14060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26" descr="Free Icon | Question">
                <a:extLst>
                  <a:ext uri="{FF2B5EF4-FFF2-40B4-BE49-F238E27FC236}">
                    <a16:creationId xmlns:a16="http://schemas.microsoft.com/office/drawing/2014/main" id="{59B0358E-3F2D-18D4-5908-52B351B4FE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rgbClr val="FF0000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51073" y="2128950"/>
                <a:ext cx="825269" cy="8252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0" name="Picture 29" descr="A picture containing screenshot, art, graphics, design&#10;&#10;Description automatically generated">
            <a:extLst>
              <a:ext uri="{FF2B5EF4-FFF2-40B4-BE49-F238E27FC236}">
                <a16:creationId xmlns:a16="http://schemas.microsoft.com/office/drawing/2014/main" id="{FAAAA483-9ED7-7018-E13F-A42A973960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110" y="1307101"/>
            <a:ext cx="1452390" cy="1452390"/>
          </a:xfrm>
          <a:prstGeom prst="rect">
            <a:avLst/>
          </a:prstGeom>
        </p:spPr>
      </p:pic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id="{92EA8E20-164B-74A3-44AE-697B1C22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8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A5C708-95C9-937F-3176-CA06D852E4AE}"/>
              </a:ext>
            </a:extLst>
          </p:cNvPr>
          <p:cNvSpPr txBox="1"/>
          <p:nvPr/>
        </p:nvSpPr>
        <p:spPr>
          <a:xfrm>
            <a:off x="4968598" y="1949653"/>
            <a:ext cx="11578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PLACE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56DB7B8-6903-1DDB-F35F-EFF995CD87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8679" y="4784558"/>
            <a:ext cx="3206373" cy="144312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8D0C20A-A98B-AF20-90B7-A2AAEC0061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1669" y="4784558"/>
            <a:ext cx="3660331" cy="144312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2709CF0-C6FF-A686-B4BA-C9DA84F9F642}"/>
              </a:ext>
            </a:extLst>
          </p:cNvPr>
          <p:cNvSpPr txBox="1"/>
          <p:nvPr/>
        </p:nvSpPr>
        <p:spPr>
          <a:xfrm>
            <a:off x="4949589" y="3517434"/>
            <a:ext cx="2493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ALREADY SEEN ?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B2C505C-FACE-876C-66D5-B575EF25B0B1}"/>
              </a:ext>
            </a:extLst>
          </p:cNvPr>
          <p:cNvSpPr/>
          <p:nvPr/>
        </p:nvSpPr>
        <p:spPr>
          <a:xfrm>
            <a:off x="5998250" y="4117362"/>
            <a:ext cx="1787230" cy="560494"/>
          </a:xfrm>
          <a:prstGeom prst="roundRect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DIRECT</a:t>
            </a:r>
            <a:br>
              <a:rPr lang="en-US" sz="1400" b="1"/>
            </a:br>
            <a:r>
              <a:rPr lang="en-US" sz="1400" b="1"/>
              <a:t>METHOD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63232FF-6C09-E5E2-02AD-78A964E191AF}"/>
              </a:ext>
            </a:extLst>
          </p:cNvPr>
          <p:cNvSpPr/>
          <p:nvPr/>
        </p:nvSpPr>
        <p:spPr>
          <a:xfrm>
            <a:off x="9553405" y="4114644"/>
            <a:ext cx="1787230" cy="560494"/>
          </a:xfrm>
          <a:prstGeom prst="roundRect">
            <a:avLst/>
          </a:prstGeom>
          <a:solidFill>
            <a:srgbClr val="843C0C"/>
          </a:solidFill>
          <a:ln w="571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INDIRECT</a:t>
            </a:r>
            <a:br>
              <a:rPr lang="en-US" sz="1400" b="1"/>
            </a:br>
            <a:r>
              <a:rPr lang="en-US" sz="1400" b="1"/>
              <a:t>METHOD</a:t>
            </a:r>
          </a:p>
        </p:txBody>
      </p:sp>
      <p:sp>
        <p:nvSpPr>
          <p:cNvPr id="38" name="Title 3">
            <a:extLst>
              <a:ext uri="{FF2B5EF4-FFF2-40B4-BE49-F238E27FC236}">
                <a16:creationId xmlns:a16="http://schemas.microsoft.com/office/drawing/2014/main" id="{1D56D08A-B2DF-78C1-BEFA-D1EDB758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51800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 PLACE RECOGNITION</a:t>
            </a:r>
          </a:p>
        </p:txBody>
      </p:sp>
      <p:pic>
        <p:nvPicPr>
          <p:cNvPr id="2" name="Picture 2" descr="Free vector home interior - background for video conferencing">
            <a:extLst>
              <a:ext uri="{FF2B5EF4-FFF2-40B4-BE49-F238E27FC236}">
                <a16:creationId xmlns:a16="http://schemas.microsoft.com/office/drawing/2014/main" id="{61355E8C-2EEE-A407-1150-4AF68BB28B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35" b="11790"/>
          <a:stretch/>
        </p:blipFill>
        <p:spPr bwMode="auto">
          <a:xfrm>
            <a:off x="8074248" y="247219"/>
            <a:ext cx="3846173" cy="176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82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1C152A-FA94-1C12-1139-D688269D33F6}"/>
              </a:ext>
            </a:extLst>
          </p:cNvPr>
          <p:cNvSpPr/>
          <p:nvPr/>
        </p:nvSpPr>
        <p:spPr>
          <a:xfrm>
            <a:off x="711013" y="2042552"/>
            <a:ext cx="1952065" cy="921123"/>
          </a:xfrm>
          <a:prstGeom prst="roundRect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DIRECT</a:t>
            </a:r>
            <a:br>
              <a:rPr lang="en-US" sz="2400" b="1">
                <a:solidFill>
                  <a:schemeClr val="bg1"/>
                </a:solidFill>
              </a:rPr>
            </a:br>
            <a:r>
              <a:rPr lang="en-US" sz="2400" b="1">
                <a:solidFill>
                  <a:schemeClr val="bg1"/>
                </a:solidFill>
              </a:rPr>
              <a:t>METHOD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85251D-9892-FE21-227C-2246E76CE2F7}"/>
              </a:ext>
            </a:extLst>
          </p:cNvPr>
          <p:cNvSpPr/>
          <p:nvPr/>
        </p:nvSpPr>
        <p:spPr>
          <a:xfrm>
            <a:off x="711013" y="4475629"/>
            <a:ext cx="1952065" cy="921123"/>
          </a:xfrm>
          <a:prstGeom prst="roundRect">
            <a:avLst/>
          </a:prstGeom>
          <a:solidFill>
            <a:srgbClr val="843C0C"/>
          </a:solidFill>
          <a:ln w="571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INDIRECT</a:t>
            </a:r>
            <a:br>
              <a:rPr lang="en-US" sz="2400" b="1">
                <a:solidFill>
                  <a:schemeClr val="bg1"/>
                </a:solidFill>
              </a:rPr>
            </a:br>
            <a:r>
              <a:rPr lang="en-US" sz="2400" b="1">
                <a:solidFill>
                  <a:schemeClr val="bg1"/>
                </a:solidFill>
              </a:rPr>
              <a:t>METHOD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18A806-233F-6AEF-F872-B093A0ADB972}"/>
              </a:ext>
            </a:extLst>
          </p:cNvPr>
          <p:cNvSpPr/>
          <p:nvPr/>
        </p:nvSpPr>
        <p:spPr>
          <a:xfrm>
            <a:off x="4644838" y="2042552"/>
            <a:ext cx="1952065" cy="921123"/>
          </a:xfrm>
          <a:prstGeom prst="roundRect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LOCAL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FEATURE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EXTRACTION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9B84B2-18E8-C0D5-751D-2D26F3AD54BD}"/>
              </a:ext>
            </a:extLst>
          </p:cNvPr>
          <p:cNvSpPr/>
          <p:nvPr/>
        </p:nvSpPr>
        <p:spPr>
          <a:xfrm>
            <a:off x="4644838" y="4475629"/>
            <a:ext cx="1952065" cy="921123"/>
          </a:xfrm>
          <a:prstGeom prst="roundRect">
            <a:avLst/>
          </a:prstGeom>
          <a:solidFill>
            <a:srgbClr val="843C0C"/>
          </a:solidFill>
          <a:ln w="571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GLOBAL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DESCRIPTOR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EXTRACTION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A7103B-DE54-8144-6C44-EE38661A7329}"/>
              </a:ext>
            </a:extLst>
          </p:cNvPr>
          <p:cNvSpPr/>
          <p:nvPr/>
        </p:nvSpPr>
        <p:spPr>
          <a:xfrm>
            <a:off x="7671547" y="4475629"/>
            <a:ext cx="1952065" cy="921123"/>
          </a:xfrm>
          <a:prstGeom prst="roundRect">
            <a:avLst/>
          </a:prstGeom>
          <a:solidFill>
            <a:srgbClr val="843C0C"/>
          </a:solidFill>
          <a:ln w="571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SIMILARITY</a:t>
            </a:r>
            <a:br>
              <a:rPr lang="en-US" b="1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MATCHING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4668DE-69F2-0859-4B21-DAAA2DC02312}"/>
              </a:ext>
            </a:extLst>
          </p:cNvPr>
          <p:cNvSpPr/>
          <p:nvPr/>
        </p:nvSpPr>
        <p:spPr>
          <a:xfrm>
            <a:off x="9401735" y="2042552"/>
            <a:ext cx="1952065" cy="921123"/>
          </a:xfrm>
          <a:prstGeom prst="roundRect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DIRECT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POSE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ESTIMATION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53E446-4D21-2B40-1780-3508C2B5AFB7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596903" y="4936191"/>
            <a:ext cx="10746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C17C52-D88C-E303-69F3-3FD7D75044A3}"/>
              </a:ext>
            </a:extLst>
          </p:cNvPr>
          <p:cNvCxnSpPr>
            <a:stCxn id="9" idx="0"/>
            <a:endCxn id="10" idx="2"/>
          </p:cNvCxnSpPr>
          <p:nvPr/>
        </p:nvCxnSpPr>
        <p:spPr>
          <a:xfrm flipV="1">
            <a:off x="8647580" y="2963675"/>
            <a:ext cx="1730188" cy="1511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7FC7EC-9983-EFEB-927E-443CA3D73BD7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6596903" y="2503114"/>
            <a:ext cx="2804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D9F45D2-DF30-C345-DD16-991476FB95B0}"/>
              </a:ext>
            </a:extLst>
          </p:cNvPr>
          <p:cNvSpPr txBox="1"/>
          <p:nvPr/>
        </p:nvSpPr>
        <p:spPr>
          <a:xfrm>
            <a:off x="6810374" y="1835291"/>
            <a:ext cx="22142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EXHAUSTIVE MATCHING</a:t>
            </a:r>
            <a:br>
              <a:rPr lang="en-US" sz="1400" b="1">
                <a:solidFill>
                  <a:schemeClr val="bg1"/>
                </a:solidFill>
              </a:rPr>
            </a:br>
            <a:r>
              <a:rPr lang="en-US" sz="1400" b="1">
                <a:solidFill>
                  <a:schemeClr val="bg1"/>
                </a:solidFill>
              </a:rPr>
              <a:t>(Every Image Matching)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BACCC-9395-5450-EA5B-BE8360A0D774}"/>
              </a:ext>
            </a:extLst>
          </p:cNvPr>
          <p:cNvSpPr txBox="1"/>
          <p:nvPr/>
        </p:nvSpPr>
        <p:spPr>
          <a:xfrm>
            <a:off x="9512674" y="3571409"/>
            <a:ext cx="1025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SIMILAR</a:t>
            </a:r>
            <a:br>
              <a:rPr lang="en-US" sz="1400" b="1">
                <a:solidFill>
                  <a:schemeClr val="bg1"/>
                </a:solidFill>
              </a:rPr>
            </a:br>
            <a:r>
              <a:rPr lang="en-US" sz="1400" b="1">
                <a:solidFill>
                  <a:schemeClr val="bg1"/>
                </a:solidFill>
              </a:rPr>
              <a:t>CANDIDATE(S)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19229C-BA0D-4488-6A80-2141CB12CD72}"/>
              </a:ext>
            </a:extLst>
          </p:cNvPr>
          <p:cNvSpPr txBox="1"/>
          <p:nvPr/>
        </p:nvSpPr>
        <p:spPr>
          <a:xfrm>
            <a:off x="6497873" y="3918603"/>
            <a:ext cx="12727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COMPACT</a:t>
            </a:r>
            <a:br>
              <a:rPr lang="en-US" sz="1400" b="1">
                <a:solidFill>
                  <a:schemeClr val="bg1"/>
                </a:solidFill>
              </a:rPr>
            </a:br>
            <a:r>
              <a:rPr lang="en-US" sz="1400" b="1">
                <a:solidFill>
                  <a:schemeClr val="bg1"/>
                </a:solidFill>
              </a:rPr>
              <a:t>REPRESENTATION</a:t>
            </a:r>
          </a:p>
        </p:txBody>
      </p:sp>
      <p:sp>
        <p:nvSpPr>
          <p:cNvPr id="30" name="Title 3">
            <a:extLst>
              <a:ext uri="{FF2B5EF4-FFF2-40B4-BE49-F238E27FC236}">
                <a16:creationId xmlns:a16="http://schemas.microsoft.com/office/drawing/2014/main" id="{29D8DE42-05FB-EABE-B905-F6FD17FB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51800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 PLACE RECOGNITION PIPELINE</a:t>
            </a:r>
          </a:p>
        </p:txBody>
      </p:sp>
      <p:pic>
        <p:nvPicPr>
          <p:cNvPr id="2" name="Picture 6" descr="Taj mahal - Free architecture and city icons">
            <a:extLst>
              <a:ext uri="{FF2B5EF4-FFF2-40B4-BE49-F238E27FC236}">
                <a16:creationId xmlns:a16="http://schemas.microsoft.com/office/drawing/2014/main" id="{C276BB6D-D85D-558C-B302-D741F0C7A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368" y="2920686"/>
            <a:ext cx="1597932" cy="159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Taj mahal - Free architecture and city icons">
            <a:extLst>
              <a:ext uri="{FF2B5EF4-FFF2-40B4-BE49-F238E27FC236}">
                <a16:creationId xmlns:a16="http://schemas.microsoft.com/office/drawing/2014/main" id="{31138629-A32B-E82E-ECE6-7E14A0BD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227" y="443887"/>
            <a:ext cx="684559" cy="68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tatue of liberty - Free monuments icons">
            <a:extLst>
              <a:ext uri="{FF2B5EF4-FFF2-40B4-BE49-F238E27FC236}">
                <a16:creationId xmlns:a16="http://schemas.microsoft.com/office/drawing/2014/main" id="{F8AC795C-F1D3-67EC-99C6-EA2D913AF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9512" y="1217178"/>
            <a:ext cx="682971" cy="68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ramids - Free travel icons">
            <a:extLst>
              <a:ext uri="{FF2B5EF4-FFF2-40B4-BE49-F238E27FC236}">
                <a16:creationId xmlns:a16="http://schemas.microsoft.com/office/drawing/2014/main" id="{EC590E70-9573-36B4-A4CD-8DAF5D693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227" y="1218403"/>
            <a:ext cx="680521" cy="68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orest - Free nature icons">
            <a:extLst>
              <a:ext uri="{FF2B5EF4-FFF2-40B4-BE49-F238E27FC236}">
                <a16:creationId xmlns:a16="http://schemas.microsoft.com/office/drawing/2014/main" id="{F31244C7-9F9A-5A19-061E-2398F7240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249" y="1218403"/>
            <a:ext cx="680520" cy="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aj mahal Icons &amp; Symbols">
            <a:extLst>
              <a:ext uri="{FF2B5EF4-FFF2-40B4-BE49-F238E27FC236}">
                <a16:creationId xmlns:a16="http://schemas.microsoft.com/office/drawing/2014/main" id="{BEF52F0F-2680-2CF7-2623-1F969E9AE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248" y="445906"/>
            <a:ext cx="680521" cy="68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aj Mahal by Nukul | NextDesigns on Dribbble">
            <a:extLst>
              <a:ext uri="{FF2B5EF4-FFF2-40B4-BE49-F238E27FC236}">
                <a16:creationId xmlns:a16="http://schemas.microsoft.com/office/drawing/2014/main" id="{3A904CF5-F9A6-FA3C-F3B4-390293CA33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93" t="19514" r="27055" b="21879"/>
          <a:stretch/>
        </p:blipFill>
        <p:spPr bwMode="auto">
          <a:xfrm>
            <a:off x="10600738" y="445097"/>
            <a:ext cx="680521" cy="68213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Taj mahal - Free architecture and city icons">
            <a:extLst>
              <a:ext uri="{FF2B5EF4-FFF2-40B4-BE49-F238E27FC236}">
                <a16:creationId xmlns:a16="http://schemas.microsoft.com/office/drawing/2014/main" id="{25A10EC6-1FAC-51E8-0FE9-6C61CA8B1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355" y="4752256"/>
            <a:ext cx="682971" cy="68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Taj mahal Icons &amp; Symbols">
            <a:extLst>
              <a:ext uri="{FF2B5EF4-FFF2-40B4-BE49-F238E27FC236}">
                <a16:creationId xmlns:a16="http://schemas.microsoft.com/office/drawing/2014/main" id="{D8F32A5A-85C5-89CF-3DD5-94352A16C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849" y="4092858"/>
            <a:ext cx="680521" cy="68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Taj Mahal by Nukul | NextDesigns on Dribbble">
            <a:extLst>
              <a:ext uri="{FF2B5EF4-FFF2-40B4-BE49-F238E27FC236}">
                <a16:creationId xmlns:a16="http://schemas.microsoft.com/office/drawing/2014/main" id="{A97B88FE-4C69-2F0D-C0DD-E6D7DEE787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93" t="19514" r="27055" b="21879"/>
          <a:stretch/>
        </p:blipFill>
        <p:spPr bwMode="auto">
          <a:xfrm>
            <a:off x="10484893" y="4795763"/>
            <a:ext cx="680521" cy="68213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Taj mahal - Free architecture and city icons">
            <a:extLst>
              <a:ext uri="{FF2B5EF4-FFF2-40B4-BE49-F238E27FC236}">
                <a16:creationId xmlns:a16="http://schemas.microsoft.com/office/drawing/2014/main" id="{D006C7F2-9BA3-2733-63C3-2A8776221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72" y="5504174"/>
            <a:ext cx="852176" cy="85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A picture containing design&#10;&#10;Description automatically generated">
            <a:extLst>
              <a:ext uri="{FF2B5EF4-FFF2-40B4-BE49-F238E27FC236}">
                <a16:creationId xmlns:a16="http://schemas.microsoft.com/office/drawing/2014/main" id="{7546EC56-2200-E1E0-013D-D6B812A6478D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875" y="5568661"/>
            <a:ext cx="723199" cy="72319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4FDEEC29-2665-8997-6407-151DDF4A913E}"/>
              </a:ext>
            </a:extLst>
          </p:cNvPr>
          <p:cNvSpPr/>
          <p:nvPr/>
        </p:nvSpPr>
        <p:spPr>
          <a:xfrm>
            <a:off x="5380486" y="5751152"/>
            <a:ext cx="480767" cy="3582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6" descr="Taj mahal - Free architecture and city icons">
            <a:extLst>
              <a:ext uri="{FF2B5EF4-FFF2-40B4-BE49-F238E27FC236}">
                <a16:creationId xmlns:a16="http://schemas.microsoft.com/office/drawing/2014/main" id="{DEDEAD69-E7B2-7E55-A7D8-8F67661F5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007" y="785268"/>
            <a:ext cx="684559" cy="68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49AF5B8-CDC6-54B6-5C14-758F16C49DC0}"/>
              </a:ext>
            </a:extLst>
          </p:cNvPr>
          <p:cNvSpPr txBox="1"/>
          <p:nvPr/>
        </p:nvSpPr>
        <p:spPr>
          <a:xfrm>
            <a:off x="9404580" y="966739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VS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25FB7491-26DC-5E0E-1E79-B71977E1364D}"/>
              </a:ext>
            </a:extLst>
          </p:cNvPr>
          <p:cNvSpPr/>
          <p:nvPr/>
        </p:nvSpPr>
        <p:spPr>
          <a:xfrm rot="19075578">
            <a:off x="4282740" y="2816966"/>
            <a:ext cx="347120" cy="46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292F99AC-A480-4F25-7190-EFC28DF758C7}"/>
              </a:ext>
            </a:extLst>
          </p:cNvPr>
          <p:cNvSpPr/>
          <p:nvPr/>
        </p:nvSpPr>
        <p:spPr>
          <a:xfrm rot="2700000">
            <a:off x="4242251" y="4263931"/>
            <a:ext cx="347120" cy="46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lide Number Placeholder 8">
            <a:extLst>
              <a:ext uri="{FF2B5EF4-FFF2-40B4-BE49-F238E27FC236}">
                <a16:creationId xmlns:a16="http://schemas.microsoft.com/office/drawing/2014/main" id="{05E75CDA-A0C7-C922-777D-E01DC319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9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F871BA-78F7-3B87-4111-468AE0CD5429}"/>
              </a:ext>
            </a:extLst>
          </p:cNvPr>
          <p:cNvGrpSpPr/>
          <p:nvPr/>
        </p:nvGrpSpPr>
        <p:grpSpPr>
          <a:xfrm>
            <a:off x="7783236" y="5503304"/>
            <a:ext cx="1525013" cy="1110592"/>
            <a:chOff x="7783236" y="5503304"/>
            <a:chExt cx="1525013" cy="1110592"/>
          </a:xfrm>
        </p:grpSpPr>
        <p:pic>
          <p:nvPicPr>
            <p:cNvPr id="18" name="Picture 17" descr="A picture containing design&#10;&#10;Description automatically generated">
              <a:extLst>
                <a:ext uri="{FF2B5EF4-FFF2-40B4-BE49-F238E27FC236}">
                  <a16:creationId xmlns:a16="http://schemas.microsoft.com/office/drawing/2014/main" id="{2BBBE5F5-AE1A-4A31-791C-1C1B27495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3236" y="5677600"/>
              <a:ext cx="723199" cy="723199"/>
            </a:xfrm>
            <a:prstGeom prst="rect">
              <a:avLst/>
            </a:prstGeom>
          </p:spPr>
        </p:pic>
        <p:pic>
          <p:nvPicPr>
            <p:cNvPr id="20" name="Picture 19" descr="A picture containing design&#10;&#10;Description automatically generated">
              <a:extLst>
                <a:ext uri="{FF2B5EF4-FFF2-40B4-BE49-F238E27FC236}">
                  <a16:creationId xmlns:a16="http://schemas.microsoft.com/office/drawing/2014/main" id="{4F4BC2FC-B762-0142-82B4-EF2309B15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9657" y="5503304"/>
              <a:ext cx="348592" cy="348592"/>
            </a:xfrm>
            <a:prstGeom prst="rect">
              <a:avLst/>
            </a:prstGeom>
          </p:spPr>
        </p:pic>
        <p:pic>
          <p:nvPicPr>
            <p:cNvPr id="26" name="Picture 25" descr="A picture containing design&#10;&#10;Description automatically generated">
              <a:extLst>
                <a:ext uri="{FF2B5EF4-FFF2-40B4-BE49-F238E27FC236}">
                  <a16:creationId xmlns:a16="http://schemas.microsoft.com/office/drawing/2014/main" id="{C0EB2793-4AED-770C-146E-6F4412E3E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9657" y="5884304"/>
              <a:ext cx="348592" cy="348592"/>
            </a:xfrm>
            <a:prstGeom prst="rect">
              <a:avLst/>
            </a:prstGeom>
          </p:spPr>
        </p:pic>
        <p:pic>
          <p:nvPicPr>
            <p:cNvPr id="27" name="Picture 26" descr="A picture containing design&#10;&#10;Description automatically generated">
              <a:extLst>
                <a:ext uri="{FF2B5EF4-FFF2-40B4-BE49-F238E27FC236}">
                  <a16:creationId xmlns:a16="http://schemas.microsoft.com/office/drawing/2014/main" id="{2E3EECB2-AEC5-7A7A-4911-7C352BE77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9657" y="6265304"/>
              <a:ext cx="348592" cy="348592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7801A09-EE91-CC4F-A0FF-FA78EEE3160C}"/>
                </a:ext>
              </a:extLst>
            </p:cNvPr>
            <p:cNvCxnSpPr>
              <a:stCxn id="18" idx="3"/>
              <a:endCxn id="20" idx="1"/>
            </p:cNvCxnSpPr>
            <p:nvPr/>
          </p:nvCxnSpPr>
          <p:spPr>
            <a:xfrm flipV="1">
              <a:off x="8506435" y="5677600"/>
              <a:ext cx="453222" cy="361600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1849641-39F5-FC1F-925B-752B3356F863}"/>
                </a:ext>
              </a:extLst>
            </p:cNvPr>
            <p:cNvCxnSpPr>
              <a:cxnSpLocks/>
              <a:stCxn id="18" idx="3"/>
              <a:endCxn id="26" idx="1"/>
            </p:cNvCxnSpPr>
            <p:nvPr/>
          </p:nvCxnSpPr>
          <p:spPr>
            <a:xfrm>
              <a:off x="8506435" y="6039200"/>
              <a:ext cx="453222" cy="19400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ECBFDF8-91A7-A374-BC17-40A7E12F4A5B}"/>
                </a:ext>
              </a:extLst>
            </p:cNvPr>
            <p:cNvCxnSpPr>
              <a:cxnSpLocks/>
              <a:stCxn id="18" idx="3"/>
              <a:endCxn id="27" idx="1"/>
            </p:cNvCxnSpPr>
            <p:nvPr/>
          </p:nvCxnSpPr>
          <p:spPr>
            <a:xfrm>
              <a:off x="8506435" y="6039200"/>
              <a:ext cx="453222" cy="400400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4603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7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7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23" grpId="0"/>
      <p:bldP spid="23" grpId="1"/>
      <p:bldP spid="24" grpId="0"/>
      <p:bldP spid="25" grpId="0"/>
      <p:bldP spid="16" grpId="0" animBg="1"/>
      <p:bldP spid="32" grpId="0"/>
      <p:bldP spid="32" grpId="1"/>
      <p:bldP spid="33" grpId="0" animBg="1"/>
      <p:bldP spid="33" grpId="1" animBg="1"/>
      <p:bldP spid="34" grpId="0" animBg="1"/>
      <p:bldP spid="3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23DEE-14F8-F734-1A6A-7F2CF23C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885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Work</a:t>
            </a:r>
            <a:b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Neural Network-Based Long-Term Place Recognition from Omni-Images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18CF2-A9DF-CB56-FE0E-26CBAC061DFB}"/>
              </a:ext>
            </a:extLst>
          </p:cNvPr>
          <p:cNvSpPr txBox="1"/>
          <p:nvPr/>
        </p:nvSpPr>
        <p:spPr>
          <a:xfrm>
            <a:off x="1" y="6427113"/>
            <a:ext cx="51882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Lee, Jongwon, and Ayoung Kim. 2019. “Neural Network-Based Long-Term Place Recognition from Omni-Images.” </a:t>
            </a:r>
            <a:br>
              <a:rPr lang="en-US" sz="11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11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 </a:t>
            </a:r>
            <a:r>
              <a:rPr lang="en-US" sz="1100" i="1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2019 16th International Conference on Ubiquitous Robots (UR)</a:t>
            </a:r>
            <a:r>
              <a:rPr lang="en-US" sz="11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, 189–93.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75E72F62-6ACA-C2E4-82EF-2C52D8E3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10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388DAD7-52B9-F23E-59EC-EF838C0D6E8B}"/>
              </a:ext>
            </a:extLst>
          </p:cNvPr>
          <p:cNvGrpSpPr/>
          <p:nvPr/>
        </p:nvGrpSpPr>
        <p:grpSpPr>
          <a:xfrm>
            <a:off x="4507015" y="1452272"/>
            <a:ext cx="3925703" cy="4462557"/>
            <a:chOff x="4507015" y="1452272"/>
            <a:chExt cx="3925703" cy="446255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B84DA60-4B82-1C6B-FD3A-36FEB4C1C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7015" y="1452272"/>
              <a:ext cx="3925703" cy="220571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9CB068-A0F1-CB3C-62B8-235F3C3E8348}"/>
                </a:ext>
              </a:extLst>
            </p:cNvPr>
            <p:cNvSpPr txBox="1"/>
            <p:nvPr/>
          </p:nvSpPr>
          <p:spPr>
            <a:xfrm>
              <a:off x="5293510" y="3825484"/>
              <a:ext cx="235270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u="sng">
                  <a:solidFill>
                    <a:schemeClr val="bg1"/>
                  </a:solidFill>
                </a:rPr>
                <a:t>CNN - VGG16</a:t>
              </a:r>
              <a:r>
                <a:rPr lang="en-US" sz="2000">
                  <a:solidFill>
                    <a:schemeClr val="bg1"/>
                  </a:solidFill>
                </a:rPr>
                <a:t> on</a:t>
              </a:r>
            </a:p>
            <a:p>
              <a:pPr algn="ctr"/>
              <a:r>
                <a:rPr lang="en-US" sz="2000">
                  <a:solidFill>
                    <a:schemeClr val="bg1"/>
                  </a:solidFill>
                </a:rPr>
                <a:t>OMNIDIRECTIONAL IMAGE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D97B71-AB15-3A30-5182-2A5E56B8EE09}"/>
                </a:ext>
              </a:extLst>
            </p:cNvPr>
            <p:cNvSpPr txBox="1"/>
            <p:nvPr/>
          </p:nvSpPr>
          <p:spPr>
            <a:xfrm>
              <a:off x="5558053" y="5083832"/>
              <a:ext cx="167709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</a:rPr>
                <a:t>CLASSIFICATION</a:t>
              </a:r>
            </a:p>
            <a:p>
              <a:pPr algn="ctr"/>
              <a:r>
                <a:rPr lang="en-US" sz="2400">
                  <a:solidFill>
                    <a:schemeClr val="bg1"/>
                  </a:solidFill>
                </a:rPr>
                <a:t>PROBLEM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C9C50CE-7BF7-F074-3758-82E360BE37C6}"/>
              </a:ext>
            </a:extLst>
          </p:cNvPr>
          <p:cNvGrpSpPr/>
          <p:nvPr/>
        </p:nvGrpSpPr>
        <p:grpSpPr>
          <a:xfrm>
            <a:off x="8492836" y="1451871"/>
            <a:ext cx="3442310" cy="4430645"/>
            <a:chOff x="8492836" y="1451871"/>
            <a:chExt cx="3442310" cy="44306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65B699E-DA5C-A714-859F-F0001B025D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252" t="7009" r="10135" b="49810"/>
            <a:stretch/>
          </p:blipFill>
          <p:spPr>
            <a:xfrm>
              <a:off x="8492836" y="1451871"/>
              <a:ext cx="3442310" cy="220652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DBBCEAF-EE4B-7F3D-30BF-83EB70FAA8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806" t="76416" r="18291" b="1201"/>
            <a:stretch/>
          </p:blipFill>
          <p:spPr>
            <a:xfrm>
              <a:off x="8501165" y="4425436"/>
              <a:ext cx="3433981" cy="145708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81020C-B9DD-9A53-9487-307EEF8C63F1}"/>
                </a:ext>
              </a:extLst>
            </p:cNvPr>
            <p:cNvSpPr txBox="1"/>
            <p:nvPr/>
          </p:nvSpPr>
          <p:spPr>
            <a:xfrm>
              <a:off x="9506541" y="3860329"/>
              <a:ext cx="141489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u="sng">
                  <a:solidFill>
                    <a:schemeClr val="bg1"/>
                  </a:solidFill>
                </a:rPr>
                <a:t>EVALUATE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27C1478-45E4-164B-3B77-D3BB92EE9F3C}"/>
              </a:ext>
            </a:extLst>
          </p:cNvPr>
          <p:cNvSpPr/>
          <p:nvPr/>
        </p:nvSpPr>
        <p:spPr>
          <a:xfrm>
            <a:off x="312004" y="3811014"/>
            <a:ext cx="1959873" cy="676837"/>
          </a:xfrm>
          <a:prstGeom prst="roundRect">
            <a:avLst/>
          </a:prstGeom>
          <a:solidFill>
            <a:srgbClr val="843C0C"/>
          </a:solidFill>
          <a:ln w="571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INDIRECT</a:t>
            </a:r>
            <a:br>
              <a:rPr lang="en-US" sz="2000" b="1">
                <a:solidFill>
                  <a:schemeClr val="bg1"/>
                </a:solidFill>
              </a:rPr>
            </a:br>
            <a:r>
              <a:rPr lang="en-US" sz="2000" b="1">
                <a:solidFill>
                  <a:schemeClr val="bg1"/>
                </a:solidFill>
              </a:rPr>
              <a:t>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5631C4-6365-5863-4060-3767EC9AD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54" y="1452272"/>
            <a:ext cx="4190043" cy="220571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3BC3A2E-D4FC-9E84-69D9-91952E002C1F}"/>
              </a:ext>
            </a:extLst>
          </p:cNvPr>
          <p:cNvSpPr txBox="1"/>
          <p:nvPr/>
        </p:nvSpPr>
        <p:spPr>
          <a:xfrm>
            <a:off x="2408547" y="3864857"/>
            <a:ext cx="2038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ILLUMINATION-INVARIANT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COLOR SPACE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33A130-60D8-923B-24AD-6BF5426330A9}"/>
              </a:ext>
            </a:extLst>
          </p:cNvPr>
          <p:cNvGrpSpPr/>
          <p:nvPr/>
        </p:nvGrpSpPr>
        <p:grpSpPr>
          <a:xfrm>
            <a:off x="2271877" y="4718055"/>
            <a:ext cx="2480617" cy="1556999"/>
            <a:chOff x="2271877" y="4718055"/>
            <a:chExt cx="2480617" cy="155699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DC08645-DB18-5BC2-CC3C-3684CE4F679E}"/>
                </a:ext>
              </a:extLst>
            </p:cNvPr>
            <p:cNvGrpSpPr/>
            <p:nvPr/>
          </p:nvGrpSpPr>
          <p:grpSpPr>
            <a:xfrm>
              <a:off x="2271877" y="4718055"/>
              <a:ext cx="952297" cy="1556999"/>
              <a:chOff x="4323554" y="3939556"/>
              <a:chExt cx="952297" cy="1556999"/>
            </a:xfrm>
          </p:grpSpPr>
          <p:pic>
            <p:nvPicPr>
              <p:cNvPr id="17" name="Picture 2" descr="Camera lens - Free electronics icons">
                <a:extLst>
                  <a:ext uri="{FF2B5EF4-FFF2-40B4-BE49-F238E27FC236}">
                    <a16:creationId xmlns:a16="http://schemas.microsoft.com/office/drawing/2014/main" id="{D3825D6A-D436-9D78-A8C9-B9F5CB237F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6501" y="4910151"/>
                <a:ext cx="586404" cy="5864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4" descr="Pie chart">
                <a:extLst>
                  <a:ext uri="{FF2B5EF4-FFF2-40B4-BE49-F238E27FC236}">
                    <a16:creationId xmlns:a16="http://schemas.microsoft.com/office/drawing/2014/main" id="{20D0FEF2-F317-A8EA-008B-2BE0E4EF10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23554" y="3939556"/>
                <a:ext cx="952297" cy="9522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108C28-26DA-79BA-EBC9-88CA496AC8BA}"/>
                </a:ext>
              </a:extLst>
            </p:cNvPr>
            <p:cNvSpPr txBox="1"/>
            <p:nvPr/>
          </p:nvSpPr>
          <p:spPr>
            <a:xfrm>
              <a:off x="3154742" y="5226985"/>
              <a:ext cx="159775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FISHEYE</a:t>
              </a:r>
            </a:p>
            <a:p>
              <a:r>
                <a:rPr lang="en-US">
                  <a:solidFill>
                    <a:schemeClr val="bg1"/>
                  </a:solidFill>
                </a:rPr>
                <a:t>OMNIDIRECTIONAL</a:t>
              </a:r>
              <a:br>
                <a:rPr lang="en-US">
                  <a:solidFill>
                    <a:schemeClr val="bg1"/>
                  </a:solidFill>
                </a:rPr>
              </a:br>
              <a:r>
                <a:rPr lang="en-US">
                  <a:solidFill>
                    <a:schemeClr val="bg1"/>
                  </a:solidFill>
                </a:rPr>
                <a:t>IMAGE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AFA69F-D84B-C82F-5A4F-ADA26C73D7F7}"/>
              </a:ext>
            </a:extLst>
          </p:cNvPr>
          <p:cNvGrpSpPr/>
          <p:nvPr/>
        </p:nvGrpSpPr>
        <p:grpSpPr>
          <a:xfrm>
            <a:off x="627660" y="4610317"/>
            <a:ext cx="1268589" cy="1637921"/>
            <a:chOff x="627660" y="4610317"/>
            <a:chExt cx="1268589" cy="1637921"/>
          </a:xfrm>
        </p:grpSpPr>
        <p:pic>
          <p:nvPicPr>
            <p:cNvPr id="4" name="Picture 3" descr="A picture containing circle&#10;&#10;Description automatically generated">
              <a:extLst>
                <a:ext uri="{FF2B5EF4-FFF2-40B4-BE49-F238E27FC236}">
                  <a16:creationId xmlns:a16="http://schemas.microsoft.com/office/drawing/2014/main" id="{DA3FCF6D-53EF-3D52-66EE-CE34DF976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660" y="4610317"/>
              <a:ext cx="1268589" cy="126858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CA391B-1860-FB80-A1E1-96CA35727B9F}"/>
                </a:ext>
              </a:extLst>
            </p:cNvPr>
            <p:cNvSpPr txBox="1"/>
            <p:nvPr/>
          </p:nvSpPr>
          <p:spPr>
            <a:xfrm>
              <a:off x="740986" y="5878906"/>
              <a:ext cx="11019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URBAN/CITY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8394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E8CE9A-19CB-05CD-0BC6-4677F576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79" y="221998"/>
            <a:ext cx="10829911" cy="1325563"/>
          </a:xfrm>
        </p:spPr>
        <p:txBody>
          <a:bodyPr>
            <a:no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Work</a:t>
            </a:r>
            <a:b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Leveraging Deep Visual Descriptors for Hierarchical Efficient Localization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F1E83BC-B61E-4FEB-A945-7F769D8ED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11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5EE91-690E-15EA-3C04-9ACFB7F39C71}"/>
              </a:ext>
            </a:extLst>
          </p:cNvPr>
          <p:cNvSpPr txBox="1"/>
          <p:nvPr/>
        </p:nvSpPr>
        <p:spPr>
          <a:xfrm>
            <a:off x="0" y="6398828"/>
            <a:ext cx="5715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bg1"/>
                </a:solidFill>
              </a:rPr>
              <a:t>Sarlin, Paul-Edouard, Frédéric Debraine, Marcin Dymczyk, Roland Siegwart, and Cesar Cadena. 2018. </a:t>
            </a:r>
            <a:br>
              <a:rPr lang="en-US" sz="1100">
                <a:solidFill>
                  <a:schemeClr val="bg1"/>
                </a:solidFill>
              </a:rPr>
            </a:br>
            <a:r>
              <a:rPr lang="en-US" sz="1100">
                <a:solidFill>
                  <a:schemeClr val="bg1"/>
                </a:solidFill>
              </a:rPr>
              <a:t>“Leveraging Deep Visual Descriptors for Hierarchical Efficient Localization.” </a:t>
            </a:r>
            <a:r>
              <a:rPr lang="en-US" sz="1100" i="1">
                <a:solidFill>
                  <a:schemeClr val="bg1"/>
                </a:solidFill>
              </a:rPr>
              <a:t>arXiv [cs.CV]</a:t>
            </a:r>
            <a:r>
              <a:rPr lang="en-US" sz="1100">
                <a:solidFill>
                  <a:schemeClr val="bg1"/>
                </a:solidFill>
              </a:rPr>
              <a:t>. arXiv. http://arxiv.org/abs/1809.01019.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82AF933-F767-FEB0-98CA-4D40B8A05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2242"/>
            <a:ext cx="4300593" cy="248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8B5A89-EFB6-F071-F017-DCCA5FA220BD}"/>
              </a:ext>
            </a:extLst>
          </p:cNvPr>
          <p:cNvSpPr/>
          <p:nvPr/>
        </p:nvSpPr>
        <p:spPr>
          <a:xfrm>
            <a:off x="187155" y="4277578"/>
            <a:ext cx="1583907" cy="546998"/>
          </a:xfrm>
          <a:prstGeom prst="roundRect">
            <a:avLst/>
          </a:prstGeom>
          <a:solidFill>
            <a:srgbClr val="843C0C"/>
          </a:solidFill>
          <a:ln w="571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INDIRECT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METHOD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0B2F28-2527-EB07-5A87-310F38D28FB1}"/>
              </a:ext>
            </a:extLst>
          </p:cNvPr>
          <p:cNvSpPr/>
          <p:nvPr/>
        </p:nvSpPr>
        <p:spPr>
          <a:xfrm>
            <a:off x="2421478" y="4273038"/>
            <a:ext cx="1583908" cy="546998"/>
          </a:xfrm>
          <a:prstGeom prst="roundRect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DIRECT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METHOD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042CA5-79ED-67D9-FD9B-58D4EE8E15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4754"/>
          <a:stretch/>
        </p:blipFill>
        <p:spPr>
          <a:xfrm>
            <a:off x="4182696" y="1402242"/>
            <a:ext cx="4363951" cy="2484328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07D02BD-9776-97DC-B9A8-70DDF4C74C8A}"/>
              </a:ext>
            </a:extLst>
          </p:cNvPr>
          <p:cNvGrpSpPr/>
          <p:nvPr/>
        </p:nvGrpSpPr>
        <p:grpSpPr>
          <a:xfrm>
            <a:off x="4598769" y="4059819"/>
            <a:ext cx="1414897" cy="1318758"/>
            <a:chOff x="4843337" y="4027857"/>
            <a:chExt cx="1414897" cy="131875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D05999-37E4-FD50-DC6F-01B2BBA9B8F8}"/>
                </a:ext>
              </a:extLst>
            </p:cNvPr>
            <p:cNvSpPr txBox="1"/>
            <p:nvPr/>
          </p:nvSpPr>
          <p:spPr>
            <a:xfrm>
              <a:off x="4843337" y="4423285"/>
              <a:ext cx="141489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EXTRACT </a:t>
              </a:r>
            </a:p>
            <a:p>
              <a:pPr algn="ctr"/>
              <a:r>
                <a:rPr lang="en-US">
                  <a:solidFill>
                    <a:schemeClr val="bg1"/>
                  </a:solidFill>
                </a:rPr>
                <a:t>GLOBAL</a:t>
              </a:r>
            </a:p>
            <a:p>
              <a:pPr algn="ctr"/>
              <a:r>
                <a:rPr lang="en-US">
                  <a:solidFill>
                    <a:schemeClr val="bg1"/>
                  </a:solidFill>
                </a:rPr>
                <a:t>DESCRIPTOR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F686D0-9D8C-7782-C888-F6AF6DAF76A0}"/>
                </a:ext>
              </a:extLst>
            </p:cNvPr>
            <p:cNvSpPr txBox="1"/>
            <p:nvPr/>
          </p:nvSpPr>
          <p:spPr>
            <a:xfrm>
              <a:off x="4843337" y="4027857"/>
              <a:ext cx="141489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u="sng">
                  <a:solidFill>
                    <a:schemeClr val="bg1"/>
                  </a:solidFill>
                </a:rPr>
                <a:t>NetVLAD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8561AB7-B6AD-59F3-A8C8-62B32825E799}"/>
              </a:ext>
            </a:extLst>
          </p:cNvPr>
          <p:cNvSpPr txBox="1"/>
          <p:nvPr/>
        </p:nvSpPr>
        <p:spPr>
          <a:xfrm>
            <a:off x="6555363" y="3886696"/>
            <a:ext cx="1511351" cy="659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GLOBAL SEARCH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SIMILARITY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67DA53-0343-6BDA-B722-6B4319192DDA}"/>
              </a:ext>
            </a:extLst>
          </p:cNvPr>
          <p:cNvSpPr txBox="1"/>
          <p:nvPr/>
        </p:nvSpPr>
        <p:spPr>
          <a:xfrm>
            <a:off x="8431847" y="3877293"/>
            <a:ext cx="1414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VERIFY</a:t>
            </a:r>
            <a:br>
              <a:rPr lang="th-TH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CANDIDATES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690D97C-CC03-26AE-5FA1-2523EBA9D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001" y="4647779"/>
            <a:ext cx="5572912" cy="205415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65817B2-E6EA-2386-6D69-84DC22B52D5D}"/>
              </a:ext>
            </a:extLst>
          </p:cNvPr>
          <p:cNvSpPr txBox="1"/>
          <p:nvPr/>
        </p:nvSpPr>
        <p:spPr>
          <a:xfrm>
            <a:off x="758087" y="5210374"/>
            <a:ext cx="27844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HIERARCHICAL LOCALIZATION</a:t>
            </a:r>
          </a:p>
          <a:p>
            <a:pPr algn="ctr"/>
            <a:r>
              <a:rPr lang="en-US" sz="2000">
                <a:solidFill>
                  <a:schemeClr val="bg1"/>
                </a:solidFill>
              </a:rPr>
              <a:t>(Coarse to Fine)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108B6B3-2BD4-0B21-F499-EB4A4958738A}"/>
              </a:ext>
            </a:extLst>
          </p:cNvPr>
          <p:cNvSpPr/>
          <p:nvPr/>
        </p:nvSpPr>
        <p:spPr>
          <a:xfrm>
            <a:off x="1894114" y="4354248"/>
            <a:ext cx="390181" cy="4619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18AC52-2E4E-3BFA-B4B9-7DBD1CDE3DF9}"/>
              </a:ext>
            </a:extLst>
          </p:cNvPr>
          <p:cNvSpPr txBox="1"/>
          <p:nvPr/>
        </p:nvSpPr>
        <p:spPr>
          <a:xfrm>
            <a:off x="10666910" y="3988750"/>
            <a:ext cx="1414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FINE POSE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63ACADF-6928-4B2B-0BBC-6C89920199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274"/>
          <a:stretch/>
        </p:blipFill>
        <p:spPr>
          <a:xfrm>
            <a:off x="8545557" y="1403180"/>
            <a:ext cx="3532980" cy="248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411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1" grpId="0"/>
      <p:bldP spid="22" grpId="0"/>
      <p:bldP spid="27" grpId="0" animBg="1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66FF11D-B4A4-E050-7282-FD778F1AE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53226"/>
          <a:stretch/>
        </p:blipFill>
        <p:spPr>
          <a:xfrm>
            <a:off x="4389112" y="1618324"/>
            <a:ext cx="2455852" cy="3540172"/>
          </a:xfr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F812833B-995B-7FCE-2144-1CAD0A1ED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0" y="221998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Work</a:t>
            </a:r>
            <a:b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CFVL: A Coarse-to-Fine Vehicle Localizer with Omnidirectional Perception across Severe Appearance Variations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803AD4-40BB-2FB4-A567-D956EAB95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00" y="1618324"/>
            <a:ext cx="3853500" cy="26808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5C2BB8-F35B-07ED-E254-409881FD01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4401"/>
          <a:stretch/>
        </p:blipFill>
        <p:spPr>
          <a:xfrm>
            <a:off x="7003815" y="1617191"/>
            <a:ext cx="5005306" cy="14938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333BF5-95A8-38E5-8E5B-4B45695FD128}"/>
              </a:ext>
            </a:extLst>
          </p:cNvPr>
          <p:cNvSpPr txBox="1"/>
          <p:nvPr/>
        </p:nvSpPr>
        <p:spPr>
          <a:xfrm>
            <a:off x="-1" y="6427113"/>
            <a:ext cx="884872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Fang, Yicheng, Kaiwei Wang, Ruiqi Cheng, and Kailun Yang. 2020. </a:t>
            </a:r>
            <a:b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“CFVL: A Coarse-to-Fine Vehicle Localizer with Omnidirectional Perception across Severe Appearance Variations.” </a:t>
            </a:r>
            <a:r>
              <a:rPr lang="en-US" sz="1100" i="1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2020 IEEE Intelligent Vehicles Symposium (IV)</a:t>
            </a:r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, October, 1885–91.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B9F2DAC-559B-39CF-4BBF-8C27E2ED7465}"/>
              </a:ext>
            </a:extLst>
          </p:cNvPr>
          <p:cNvSpPr/>
          <p:nvPr/>
        </p:nvSpPr>
        <p:spPr>
          <a:xfrm>
            <a:off x="261300" y="4468991"/>
            <a:ext cx="1583907" cy="546998"/>
          </a:xfrm>
          <a:prstGeom prst="roundRect">
            <a:avLst/>
          </a:prstGeom>
          <a:solidFill>
            <a:srgbClr val="843C0C"/>
          </a:solidFill>
          <a:ln w="571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INDIRECT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METHOD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36C7A2-A611-6D16-A4F7-E51DB93B923E}"/>
              </a:ext>
            </a:extLst>
          </p:cNvPr>
          <p:cNvSpPr/>
          <p:nvPr/>
        </p:nvSpPr>
        <p:spPr>
          <a:xfrm>
            <a:off x="2534518" y="4495934"/>
            <a:ext cx="1583908" cy="546998"/>
          </a:xfrm>
          <a:prstGeom prst="roundRect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DIRECT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METHOD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C671EE7-FD4C-F8AB-917D-50081AC4FBA0}"/>
              </a:ext>
            </a:extLst>
          </p:cNvPr>
          <p:cNvSpPr/>
          <p:nvPr/>
        </p:nvSpPr>
        <p:spPr>
          <a:xfrm>
            <a:off x="1990904" y="4495934"/>
            <a:ext cx="390181" cy="4619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24220D-0639-93CF-C448-C1AAF73C93B0}"/>
              </a:ext>
            </a:extLst>
          </p:cNvPr>
          <p:cNvSpPr txBox="1"/>
          <p:nvPr/>
        </p:nvSpPr>
        <p:spPr>
          <a:xfrm>
            <a:off x="793785" y="5042932"/>
            <a:ext cx="27844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HIERARCHICAL LOCALIZATION</a:t>
            </a:r>
          </a:p>
          <a:p>
            <a:pPr algn="ctr"/>
            <a:r>
              <a:rPr lang="en-US" sz="2000">
                <a:solidFill>
                  <a:schemeClr val="bg1"/>
                </a:solidFill>
              </a:rPr>
              <a:t>(Coarse to Fine)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DA6E8C-C427-F5F9-6EFB-E5D37F0A67EE}"/>
              </a:ext>
            </a:extLst>
          </p:cNvPr>
          <p:cNvGrpSpPr/>
          <p:nvPr/>
        </p:nvGrpSpPr>
        <p:grpSpPr>
          <a:xfrm>
            <a:off x="4523198" y="4859574"/>
            <a:ext cx="2480617" cy="1556999"/>
            <a:chOff x="2271877" y="4718055"/>
            <a:chExt cx="2480617" cy="155699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D2B248E-B7F7-2CE4-E72F-D1CE6EB25E37}"/>
                </a:ext>
              </a:extLst>
            </p:cNvPr>
            <p:cNvGrpSpPr/>
            <p:nvPr/>
          </p:nvGrpSpPr>
          <p:grpSpPr>
            <a:xfrm>
              <a:off x="2271877" y="4718055"/>
              <a:ext cx="952297" cy="1556999"/>
              <a:chOff x="4323554" y="3939556"/>
              <a:chExt cx="952297" cy="1556999"/>
            </a:xfrm>
          </p:grpSpPr>
          <p:pic>
            <p:nvPicPr>
              <p:cNvPr id="17" name="Picture 2" descr="Camera lens - Free electronics icons">
                <a:extLst>
                  <a:ext uri="{FF2B5EF4-FFF2-40B4-BE49-F238E27FC236}">
                    <a16:creationId xmlns:a16="http://schemas.microsoft.com/office/drawing/2014/main" id="{43220E6A-8726-A24E-8E39-BCD59657F5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6501" y="4910151"/>
                <a:ext cx="586404" cy="5864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4" descr="Pie chart">
                <a:extLst>
                  <a:ext uri="{FF2B5EF4-FFF2-40B4-BE49-F238E27FC236}">
                    <a16:creationId xmlns:a16="http://schemas.microsoft.com/office/drawing/2014/main" id="{CD4CAC79-3742-C5B9-209E-1A574C7351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23554" y="3939556"/>
                <a:ext cx="952297" cy="9522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D93963B-4675-CD58-4B3B-349EEBC8E209}"/>
                </a:ext>
              </a:extLst>
            </p:cNvPr>
            <p:cNvSpPr txBox="1"/>
            <p:nvPr/>
          </p:nvSpPr>
          <p:spPr>
            <a:xfrm>
              <a:off x="3154742" y="5226985"/>
              <a:ext cx="159775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PANORAMA</a:t>
              </a:r>
            </a:p>
            <a:p>
              <a:r>
                <a:rPr lang="en-US">
                  <a:solidFill>
                    <a:schemeClr val="bg1"/>
                  </a:solidFill>
                </a:rPr>
                <a:t>OMNIDIRECTIONAL</a:t>
              </a:r>
              <a:br>
                <a:rPr lang="en-US">
                  <a:solidFill>
                    <a:schemeClr val="bg1"/>
                  </a:solidFill>
                </a:rPr>
              </a:br>
              <a:r>
                <a:rPr lang="en-US">
                  <a:solidFill>
                    <a:schemeClr val="bg1"/>
                  </a:solidFill>
                </a:rPr>
                <a:t>IMAGE</a:t>
              </a:r>
            </a:p>
          </p:txBody>
        </p:sp>
      </p:grpSp>
      <p:sp>
        <p:nvSpPr>
          <p:cNvPr id="19" name="Slide Number Placeholder 8">
            <a:extLst>
              <a:ext uri="{FF2B5EF4-FFF2-40B4-BE49-F238E27FC236}">
                <a16:creationId xmlns:a16="http://schemas.microsoft.com/office/drawing/2014/main" id="{DEF89F33-5EF5-0B64-205A-74EF666EC177}"/>
              </a:ext>
            </a:extLst>
          </p:cNvPr>
          <p:cNvSpPr txBox="1">
            <a:spLocks/>
          </p:cNvSpPr>
          <p:nvPr/>
        </p:nvSpPr>
        <p:spPr>
          <a:xfrm>
            <a:off x="11506201" y="6400847"/>
            <a:ext cx="685800" cy="4571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1"/>
                </a:solidFill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12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20" name="Content Placeholder 8">
            <a:extLst>
              <a:ext uri="{FF2B5EF4-FFF2-40B4-BE49-F238E27FC236}">
                <a16:creationId xmlns:a16="http://schemas.microsoft.com/office/drawing/2014/main" id="{D2A49932-A977-248D-32A0-53B76C4409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b="49472"/>
          <a:stretch/>
        </p:blipFill>
        <p:spPr>
          <a:xfrm>
            <a:off x="7351449" y="3274416"/>
            <a:ext cx="4310038" cy="293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11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C8A9-FB25-4EA2-C337-0A921691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242"/>
            <a:ext cx="4206024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Global Descriptor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E774080-6789-519F-FC1F-E2AEB94E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13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39742-76D3-B03F-7F97-0BFBD555925E}"/>
              </a:ext>
            </a:extLst>
          </p:cNvPr>
          <p:cNvSpPr txBox="1"/>
          <p:nvPr/>
        </p:nvSpPr>
        <p:spPr>
          <a:xfrm>
            <a:off x="26949" y="6334780"/>
            <a:ext cx="11326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Arandjelovic, Relja, Petr Gronat, Akihiko Torii, Tomas Pajdla, and Josef Sivic. 2018. </a:t>
            </a:r>
            <a:br>
              <a:rPr lang="th-TH" sz="14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14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“NetVLAD: CNN Architecture for Weakly Supervised Place Recognition.” </a:t>
            </a:r>
            <a:r>
              <a:rPr lang="en-US" sz="1400" i="1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IEEE Transactions on Pattern Analysis and Machine Intelligence</a:t>
            </a:r>
            <a:r>
              <a:rPr lang="en-US" sz="14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40 (6): 1437–51.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3861D28-E486-85A2-ADFC-C11B30A375D6}"/>
              </a:ext>
            </a:extLst>
          </p:cNvPr>
          <p:cNvGrpSpPr/>
          <p:nvPr/>
        </p:nvGrpSpPr>
        <p:grpSpPr>
          <a:xfrm>
            <a:off x="325822" y="3478870"/>
            <a:ext cx="3964840" cy="1271595"/>
            <a:chOff x="376426" y="3091610"/>
            <a:chExt cx="5052691" cy="165566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A432E0D-2875-13B7-30E9-64F185A6D14E}"/>
                </a:ext>
              </a:extLst>
            </p:cNvPr>
            <p:cNvSpPr/>
            <p:nvPr/>
          </p:nvSpPr>
          <p:spPr>
            <a:xfrm>
              <a:off x="376426" y="3091610"/>
              <a:ext cx="5052691" cy="1655660"/>
            </a:xfrm>
            <a:prstGeom prst="roundRect">
              <a:avLst/>
            </a:prstGeom>
            <a:solidFill>
              <a:srgbClr val="843C0C"/>
            </a:solidFill>
            <a:ln w="57150"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GLOBAL FEATURE EXTRACTION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D03978D-EF35-1354-5E0B-ED1E026E5762}"/>
                </a:ext>
              </a:extLst>
            </p:cNvPr>
            <p:cNvSpPr/>
            <p:nvPr/>
          </p:nvSpPr>
          <p:spPr>
            <a:xfrm>
              <a:off x="638895" y="3687302"/>
              <a:ext cx="1952065" cy="921123"/>
            </a:xfrm>
            <a:prstGeom prst="roundRect">
              <a:avLst/>
            </a:prstGeom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LOCAL</a:t>
              </a:r>
              <a:br>
                <a:rPr lang="en-US" sz="1600" b="1">
                  <a:solidFill>
                    <a:schemeClr val="bg1"/>
                  </a:solidFill>
                </a:rPr>
              </a:br>
              <a:r>
                <a:rPr lang="en-US" sz="1600" b="1">
                  <a:solidFill>
                    <a:schemeClr val="bg1"/>
                  </a:solidFill>
                </a:rPr>
                <a:t>FEATURE</a:t>
              </a:r>
              <a:br>
                <a:rPr lang="en-US" sz="1600" b="1">
                  <a:solidFill>
                    <a:schemeClr val="bg1"/>
                  </a:solidFill>
                </a:rPr>
              </a:br>
              <a:r>
                <a:rPr lang="en-US" sz="1600" b="1">
                  <a:solidFill>
                    <a:schemeClr val="bg1"/>
                  </a:solidFill>
                </a:rPr>
                <a:t>EXTRACTION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981B299-27DE-4414-4FA7-62426E59351B}"/>
                </a:ext>
              </a:extLst>
            </p:cNvPr>
            <p:cNvSpPr/>
            <p:nvPr/>
          </p:nvSpPr>
          <p:spPr>
            <a:xfrm>
              <a:off x="3219490" y="3687301"/>
              <a:ext cx="1952065" cy="921123"/>
            </a:xfrm>
            <a:prstGeom prst="roundRect">
              <a:avLst/>
            </a:prstGeom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FEATURE</a:t>
              </a:r>
              <a:br>
                <a:rPr lang="en-US" sz="1600" b="1">
                  <a:solidFill>
                    <a:schemeClr val="bg1"/>
                  </a:solidFill>
                </a:rPr>
              </a:br>
              <a:r>
                <a:rPr lang="en-US" sz="1600" b="1">
                  <a:solidFill>
                    <a:schemeClr val="bg1"/>
                  </a:solidFill>
                </a:rPr>
                <a:t>AGGREGATION</a:t>
              </a:r>
              <a:br>
                <a:rPr lang="en-US" sz="1600" b="1">
                  <a:solidFill>
                    <a:schemeClr val="bg1"/>
                  </a:solidFill>
                </a:rPr>
              </a:br>
              <a:r>
                <a:rPr lang="en-US" sz="1600" b="1">
                  <a:solidFill>
                    <a:schemeClr val="bg1"/>
                  </a:solidFill>
                </a:rPr>
                <a:t>(POOLING)</a:t>
              </a: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6E49ACE6-169A-8B66-A339-492D266F6B26}"/>
                </a:ext>
              </a:extLst>
            </p:cNvPr>
            <p:cNvSpPr/>
            <p:nvPr/>
          </p:nvSpPr>
          <p:spPr>
            <a:xfrm>
              <a:off x="2698150" y="3886200"/>
              <a:ext cx="337457" cy="50074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0C86AC3-9EF4-0323-8ED0-2491D38426CF}"/>
              </a:ext>
            </a:extLst>
          </p:cNvPr>
          <p:cNvSpPr txBox="1"/>
          <p:nvPr/>
        </p:nvSpPr>
        <p:spPr>
          <a:xfrm>
            <a:off x="1245953" y="3065450"/>
            <a:ext cx="2163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DATABASE PREPROCESSING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14FD46A-215B-3EAF-500B-A679BBF19482}"/>
              </a:ext>
            </a:extLst>
          </p:cNvPr>
          <p:cNvGrpSpPr/>
          <p:nvPr/>
        </p:nvGrpSpPr>
        <p:grpSpPr>
          <a:xfrm>
            <a:off x="6432939" y="332170"/>
            <a:ext cx="5374490" cy="3056581"/>
            <a:chOff x="6432939" y="332170"/>
            <a:chExt cx="5374490" cy="30565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8D3FC6-AA16-E309-E1C2-A1FD663AFF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3816" t="4578"/>
            <a:stretch/>
          </p:blipFill>
          <p:spPr>
            <a:xfrm>
              <a:off x="7806490" y="332170"/>
              <a:ext cx="4000939" cy="3056581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3ED4EDC-F5A2-B53E-C1E5-2559B3377C3A}"/>
                </a:ext>
              </a:extLst>
            </p:cNvPr>
            <p:cNvSpPr txBox="1"/>
            <p:nvPr/>
          </p:nvSpPr>
          <p:spPr>
            <a:xfrm>
              <a:off x="6432939" y="1378352"/>
              <a:ext cx="129183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u="sng">
                  <a:solidFill>
                    <a:schemeClr val="bg1"/>
                  </a:solidFill>
                </a:rPr>
                <a:t>BoVW</a:t>
              </a:r>
            </a:p>
            <a:p>
              <a:pPr algn="ctr"/>
              <a:r>
                <a:rPr lang="en-US" b="1">
                  <a:solidFill>
                    <a:schemeClr val="bg1"/>
                  </a:solidFill>
                </a:rPr>
                <a:t>BAG OF </a:t>
              </a:r>
            </a:p>
            <a:p>
              <a:pPr algn="ctr"/>
              <a:r>
                <a:rPr lang="en-US" b="1">
                  <a:solidFill>
                    <a:schemeClr val="bg1"/>
                  </a:solidFill>
                </a:rPr>
                <a:t>VISUAL WORD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1085C53-26DB-E653-5212-080368E08583}"/>
              </a:ext>
            </a:extLst>
          </p:cNvPr>
          <p:cNvGrpSpPr/>
          <p:nvPr/>
        </p:nvGrpSpPr>
        <p:grpSpPr>
          <a:xfrm>
            <a:off x="6453945" y="3410555"/>
            <a:ext cx="5352817" cy="2847443"/>
            <a:chOff x="6453945" y="3410555"/>
            <a:chExt cx="5352817" cy="2847443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816C603-7B89-20FC-7BA3-566B9A14B4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9162" t="4578"/>
            <a:stretch/>
          </p:blipFill>
          <p:spPr>
            <a:xfrm>
              <a:off x="7805823" y="3410555"/>
              <a:ext cx="4000939" cy="284744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E0C174-4A1F-6FA8-74C1-9A6D2DACB516}"/>
                </a:ext>
              </a:extLst>
            </p:cNvPr>
            <p:cNvSpPr txBox="1"/>
            <p:nvPr/>
          </p:nvSpPr>
          <p:spPr>
            <a:xfrm>
              <a:off x="6453945" y="4158166"/>
              <a:ext cx="1158074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u="sng">
                  <a:solidFill>
                    <a:schemeClr val="bg1"/>
                  </a:solidFill>
                </a:rPr>
                <a:t>VLAD</a:t>
              </a:r>
            </a:p>
            <a:p>
              <a:r>
                <a:rPr lang="en-US" b="1">
                  <a:solidFill>
                    <a:schemeClr val="bg1"/>
                  </a:solidFill>
                </a:rPr>
                <a:t>VECTOR OF</a:t>
              </a:r>
              <a:br>
                <a:rPr lang="en-US" b="1">
                  <a:solidFill>
                    <a:schemeClr val="bg1"/>
                  </a:solidFill>
                </a:rPr>
              </a:br>
              <a:r>
                <a:rPr lang="en-US" b="1">
                  <a:solidFill>
                    <a:schemeClr val="bg1"/>
                  </a:solidFill>
                </a:rPr>
                <a:t>LOCALLY</a:t>
              </a:r>
              <a:br>
                <a:rPr lang="en-US" b="1">
                  <a:solidFill>
                    <a:schemeClr val="bg1"/>
                  </a:solidFill>
                </a:rPr>
              </a:br>
              <a:r>
                <a:rPr lang="en-US" b="1">
                  <a:solidFill>
                    <a:schemeClr val="bg1"/>
                  </a:solidFill>
                </a:rPr>
                <a:t>AGGREGATED</a:t>
              </a:r>
              <a:br>
                <a:rPr lang="en-US" b="1">
                  <a:solidFill>
                    <a:schemeClr val="bg1"/>
                  </a:solidFill>
                </a:rPr>
              </a:br>
              <a:r>
                <a:rPr lang="en-US" b="1">
                  <a:solidFill>
                    <a:schemeClr val="bg1"/>
                  </a:solidFill>
                </a:rPr>
                <a:t>DESCRIPTOR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397AA9E-50FC-2336-FA11-5EE6E6E36290}"/>
              </a:ext>
            </a:extLst>
          </p:cNvPr>
          <p:cNvGrpSpPr/>
          <p:nvPr/>
        </p:nvGrpSpPr>
        <p:grpSpPr>
          <a:xfrm>
            <a:off x="2302378" y="5087591"/>
            <a:ext cx="808369" cy="831459"/>
            <a:chOff x="2338303" y="5101335"/>
            <a:chExt cx="961112" cy="98856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6108249-9FA6-413C-C0C3-2112CDC288F7}"/>
                </a:ext>
              </a:extLst>
            </p:cNvPr>
            <p:cNvSpPr/>
            <p:nvPr/>
          </p:nvSpPr>
          <p:spPr>
            <a:xfrm>
              <a:off x="2338303" y="5135962"/>
              <a:ext cx="128179" cy="138039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1BCB819-4908-44AD-97B0-FC12AF4DC864}"/>
                </a:ext>
              </a:extLst>
            </p:cNvPr>
            <p:cNvSpPr/>
            <p:nvPr/>
          </p:nvSpPr>
          <p:spPr>
            <a:xfrm>
              <a:off x="2500992" y="5391188"/>
              <a:ext cx="65939" cy="7101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60B8083-F72F-8AFB-EB4C-A2D274F5497B}"/>
                </a:ext>
              </a:extLst>
            </p:cNvPr>
            <p:cNvSpPr/>
            <p:nvPr/>
          </p:nvSpPr>
          <p:spPr>
            <a:xfrm>
              <a:off x="2646158" y="5101335"/>
              <a:ext cx="128179" cy="138039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473CC13-322A-465F-4E25-ED58E0662199}"/>
                </a:ext>
              </a:extLst>
            </p:cNvPr>
            <p:cNvSpPr/>
            <p:nvPr/>
          </p:nvSpPr>
          <p:spPr>
            <a:xfrm>
              <a:off x="2693720" y="5262091"/>
              <a:ext cx="128179" cy="138039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204C428-27A6-6F63-234A-0D494C25E975}"/>
                </a:ext>
              </a:extLst>
            </p:cNvPr>
            <p:cNvSpPr/>
            <p:nvPr/>
          </p:nvSpPr>
          <p:spPr>
            <a:xfrm>
              <a:off x="2512821" y="5207972"/>
              <a:ext cx="128179" cy="138039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9C6F624-B73A-8832-6E8D-CF60A8EA8383}"/>
                </a:ext>
              </a:extLst>
            </p:cNvPr>
            <p:cNvSpPr/>
            <p:nvPr/>
          </p:nvSpPr>
          <p:spPr>
            <a:xfrm>
              <a:off x="2808884" y="5651537"/>
              <a:ext cx="128179" cy="1380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900B6C4-60FD-D4AF-C2EF-53A6F0FDE0FF}"/>
                </a:ext>
              </a:extLst>
            </p:cNvPr>
            <p:cNvSpPr/>
            <p:nvPr/>
          </p:nvSpPr>
          <p:spPr>
            <a:xfrm>
              <a:off x="3171236" y="5651537"/>
              <a:ext cx="128179" cy="1380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F3F5D45-6D0E-0014-E541-2B29CA59D2C3}"/>
                </a:ext>
              </a:extLst>
            </p:cNvPr>
            <p:cNvSpPr/>
            <p:nvPr/>
          </p:nvSpPr>
          <p:spPr>
            <a:xfrm>
              <a:off x="2872973" y="5813718"/>
              <a:ext cx="128179" cy="1380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6500862-F271-018F-D984-8C4F4ADE3FC7}"/>
                </a:ext>
              </a:extLst>
            </p:cNvPr>
            <p:cNvSpPr/>
            <p:nvPr/>
          </p:nvSpPr>
          <p:spPr>
            <a:xfrm>
              <a:off x="2657975" y="5929580"/>
              <a:ext cx="128179" cy="1380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63E6C2C-3E2A-C342-8A77-CC0165F42D97}"/>
                </a:ext>
              </a:extLst>
            </p:cNvPr>
            <p:cNvSpPr/>
            <p:nvPr/>
          </p:nvSpPr>
          <p:spPr>
            <a:xfrm>
              <a:off x="3054723" y="5798285"/>
              <a:ext cx="128179" cy="1380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85C93A9-A1EA-95EF-E3AC-0C49B421D9EC}"/>
                </a:ext>
              </a:extLst>
            </p:cNvPr>
            <p:cNvSpPr/>
            <p:nvPr/>
          </p:nvSpPr>
          <p:spPr>
            <a:xfrm>
              <a:off x="3083258" y="5951861"/>
              <a:ext cx="128179" cy="1380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197CC32-9BD6-EC89-A826-65B0BAE77B61}"/>
              </a:ext>
            </a:extLst>
          </p:cNvPr>
          <p:cNvGrpSpPr/>
          <p:nvPr/>
        </p:nvGrpSpPr>
        <p:grpSpPr>
          <a:xfrm>
            <a:off x="258752" y="4921253"/>
            <a:ext cx="1988930" cy="1183722"/>
            <a:chOff x="258752" y="4921253"/>
            <a:chExt cx="1988930" cy="118372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27342BC-DB94-059B-D37C-9C71FFCC18DD}"/>
                </a:ext>
              </a:extLst>
            </p:cNvPr>
            <p:cNvGrpSpPr/>
            <p:nvPr/>
          </p:nvGrpSpPr>
          <p:grpSpPr>
            <a:xfrm>
              <a:off x="258752" y="5147965"/>
              <a:ext cx="1243849" cy="780378"/>
              <a:chOff x="-1264501" y="4839373"/>
              <a:chExt cx="1847077" cy="1158837"/>
            </a:xfrm>
          </p:grpSpPr>
          <p:pic>
            <p:nvPicPr>
              <p:cNvPr id="29" name="Picture 2" descr="Statue of liberty - Free monuments icons">
                <a:extLst>
                  <a:ext uri="{FF2B5EF4-FFF2-40B4-BE49-F238E27FC236}">
                    <a16:creationId xmlns:a16="http://schemas.microsoft.com/office/drawing/2014/main" id="{5A9D6288-E9B6-F11B-6F14-92326C8FD1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264501" y="4839373"/>
                <a:ext cx="1158837" cy="11588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8" name="Picture 6" descr="Forest - Free nature icons">
                <a:extLst>
                  <a:ext uri="{FF2B5EF4-FFF2-40B4-BE49-F238E27FC236}">
                    <a16:creationId xmlns:a16="http://schemas.microsoft.com/office/drawing/2014/main" id="{339BF350-F7BE-A997-6922-080A8716ED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088284" y="4841452"/>
                <a:ext cx="1154679" cy="11546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" name="Picture 8" descr="Taj mahal Icons &amp; Symbols">
                <a:extLst>
                  <a:ext uri="{FF2B5EF4-FFF2-40B4-BE49-F238E27FC236}">
                    <a16:creationId xmlns:a16="http://schemas.microsoft.com/office/drawing/2014/main" id="{0695380B-E651-E0E7-ED39-71D4A13DD0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colorTemperature colorTemp="112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916225" y="4841451"/>
                <a:ext cx="1154680" cy="11546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10" descr="Taj Mahal by Nukul | NextDesigns on Dribbble">
                <a:extLst>
                  <a:ext uri="{FF2B5EF4-FFF2-40B4-BE49-F238E27FC236}">
                    <a16:creationId xmlns:a16="http://schemas.microsoft.com/office/drawing/2014/main" id="{AB3A66FD-A650-1830-795D-B4629062D4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093" t="19514" r="27055" b="21879"/>
              <a:stretch/>
            </p:blipFill>
            <p:spPr bwMode="auto">
              <a:xfrm>
                <a:off x="-744165" y="4840080"/>
                <a:ext cx="1154680" cy="1157423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" name="Picture 4" descr="Pyramids - Free travel icons">
                <a:extLst>
                  <a:ext uri="{FF2B5EF4-FFF2-40B4-BE49-F238E27FC236}">
                    <a16:creationId xmlns:a16="http://schemas.microsoft.com/office/drawing/2014/main" id="{54BD8F99-A2F2-1D88-09EA-CA1983BA8E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572104" y="4841451"/>
                <a:ext cx="1154680" cy="11546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4F84253-D24F-7162-7C1D-75D33D51F6E3}"/>
                </a:ext>
              </a:extLst>
            </p:cNvPr>
            <p:cNvGrpSpPr/>
            <p:nvPr/>
          </p:nvGrpSpPr>
          <p:grpSpPr>
            <a:xfrm>
              <a:off x="1063960" y="4921253"/>
              <a:ext cx="1183722" cy="1183722"/>
              <a:chOff x="645526" y="3138258"/>
              <a:chExt cx="1597932" cy="1597932"/>
            </a:xfrm>
          </p:grpSpPr>
          <p:pic>
            <p:nvPicPr>
              <p:cNvPr id="15" name="Picture 6" descr="Taj mahal - Free architecture and city icons">
                <a:extLst>
                  <a:ext uri="{FF2B5EF4-FFF2-40B4-BE49-F238E27FC236}">
                    <a16:creationId xmlns:a16="http://schemas.microsoft.com/office/drawing/2014/main" id="{02285FEB-E6DA-CC0F-2E02-905D6C3883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526" y="3138258"/>
                <a:ext cx="1597932" cy="15979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4698088-81DD-CDD7-3E66-D78BEFAF8625}"/>
                  </a:ext>
                </a:extLst>
              </p:cNvPr>
              <p:cNvSpPr/>
              <p:nvPr/>
            </p:nvSpPr>
            <p:spPr>
              <a:xfrm>
                <a:off x="838200" y="3577047"/>
                <a:ext cx="141514" cy="1524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974493F-E239-E3B6-E0CA-55A84EF1571F}"/>
                  </a:ext>
                </a:extLst>
              </p:cNvPr>
              <p:cNvSpPr/>
              <p:nvPr/>
            </p:nvSpPr>
            <p:spPr>
              <a:xfrm>
                <a:off x="1017814" y="3858825"/>
                <a:ext cx="72799" cy="78399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333A3B3-852D-5EC4-CF4D-3F68F323F5BB}"/>
                  </a:ext>
                </a:extLst>
              </p:cNvPr>
              <p:cNvSpPr/>
              <p:nvPr/>
            </p:nvSpPr>
            <p:spPr>
              <a:xfrm>
                <a:off x="1250157" y="4089983"/>
                <a:ext cx="141514" cy="1524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0090CD7-B6F0-2DD2-C887-D5B1EB3F7AEA}"/>
                  </a:ext>
                </a:extLst>
              </p:cNvPr>
              <p:cNvSpPr/>
              <p:nvPr/>
            </p:nvSpPr>
            <p:spPr>
              <a:xfrm>
                <a:off x="1543211" y="3716298"/>
                <a:ext cx="141514" cy="1524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68DD726-3321-637B-FC99-767B20E4E191}"/>
                  </a:ext>
                </a:extLst>
              </p:cNvPr>
              <p:cNvSpPr/>
              <p:nvPr/>
            </p:nvSpPr>
            <p:spPr>
              <a:xfrm>
                <a:off x="1230592" y="3716298"/>
                <a:ext cx="141514" cy="1524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8107231-6907-6FCC-6BF3-BCF440258600}"/>
                  </a:ext>
                </a:extLst>
              </p:cNvPr>
              <p:cNvSpPr/>
              <p:nvPr/>
            </p:nvSpPr>
            <p:spPr>
              <a:xfrm>
                <a:off x="1650206" y="4089983"/>
                <a:ext cx="141514" cy="1524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F82AA78-86D0-38F3-EDF0-21CE25B6EF0B}"/>
                  </a:ext>
                </a:extLst>
              </p:cNvPr>
              <p:cNvSpPr/>
              <p:nvPr/>
            </p:nvSpPr>
            <p:spPr>
              <a:xfrm>
                <a:off x="1893334" y="3625401"/>
                <a:ext cx="141514" cy="15240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E2819B3-368E-6114-AAE3-36EEBE8E41E9}"/>
                  </a:ext>
                </a:extLst>
              </p:cNvPr>
              <p:cNvSpPr/>
              <p:nvPr/>
            </p:nvSpPr>
            <p:spPr>
              <a:xfrm>
                <a:off x="1574006" y="3375813"/>
                <a:ext cx="141514" cy="1524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132CCB4-3B6C-384F-CABD-2640B2BAC0BA}"/>
                  </a:ext>
                </a:extLst>
              </p:cNvPr>
              <p:cNvSpPr/>
              <p:nvPr/>
            </p:nvSpPr>
            <p:spPr>
              <a:xfrm>
                <a:off x="1083549" y="4396952"/>
                <a:ext cx="141514" cy="1524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0E43871-DD5F-1BE9-BFC6-7877043D65E7}"/>
                  </a:ext>
                </a:extLst>
              </p:cNvPr>
              <p:cNvSpPr/>
              <p:nvPr/>
            </p:nvSpPr>
            <p:spPr>
              <a:xfrm>
                <a:off x="1521572" y="4251998"/>
                <a:ext cx="141514" cy="1524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A4687CE-8A35-65F1-C6AB-565544CB1690}"/>
                  </a:ext>
                </a:extLst>
              </p:cNvPr>
              <p:cNvSpPr/>
              <p:nvPr/>
            </p:nvSpPr>
            <p:spPr>
              <a:xfrm>
                <a:off x="1553075" y="4421551"/>
                <a:ext cx="141514" cy="1524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3733326-EFB9-D8EA-688B-F4F011FCFBD4}"/>
              </a:ext>
            </a:extLst>
          </p:cNvPr>
          <p:cNvGrpSpPr/>
          <p:nvPr/>
        </p:nvGrpSpPr>
        <p:grpSpPr>
          <a:xfrm>
            <a:off x="384571" y="1302704"/>
            <a:ext cx="4892193" cy="1658236"/>
            <a:chOff x="384571" y="1302704"/>
            <a:chExt cx="4892193" cy="165823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96DC742-A189-746E-227A-DD7B2B26C944}"/>
                </a:ext>
              </a:extLst>
            </p:cNvPr>
            <p:cNvGrpSpPr/>
            <p:nvPr/>
          </p:nvGrpSpPr>
          <p:grpSpPr>
            <a:xfrm>
              <a:off x="384571" y="1302704"/>
              <a:ext cx="4576574" cy="1447358"/>
              <a:chOff x="376426" y="1360325"/>
              <a:chExt cx="5052691" cy="1597932"/>
            </a:xfrm>
          </p:grpSpPr>
          <p:pic>
            <p:nvPicPr>
              <p:cNvPr id="4" name="Picture 6" descr="Taj mahal - Free architecture and city icons">
                <a:extLst>
                  <a:ext uri="{FF2B5EF4-FFF2-40B4-BE49-F238E27FC236}">
                    <a16:creationId xmlns:a16="http://schemas.microsoft.com/office/drawing/2014/main" id="{EF38FFC6-007A-CBC3-4B1D-9D80A832C6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6426" y="1360325"/>
                <a:ext cx="1597932" cy="15979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6294B17-D783-09F9-B5D0-7C63345EAFFA}"/>
                  </a:ext>
                </a:extLst>
              </p:cNvPr>
              <p:cNvSpPr/>
              <p:nvPr/>
            </p:nvSpPr>
            <p:spPr>
              <a:xfrm>
                <a:off x="2243458" y="1698729"/>
                <a:ext cx="1952065" cy="921123"/>
              </a:xfrm>
              <a:prstGeom prst="roundRect">
                <a:avLst/>
              </a:prstGeom>
              <a:solidFill>
                <a:srgbClr val="843C0C"/>
              </a:solidFill>
              <a:ln w="57150"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>
                    <a:solidFill>
                      <a:schemeClr val="bg1"/>
                    </a:solidFill>
                  </a:rPr>
                  <a:t>GLOBAL</a:t>
                </a:r>
                <a:br>
                  <a:rPr lang="en-US" sz="1600" b="1">
                    <a:solidFill>
                      <a:schemeClr val="bg1"/>
                    </a:solidFill>
                  </a:rPr>
                </a:br>
                <a:r>
                  <a:rPr lang="en-US" sz="1600" b="1">
                    <a:solidFill>
                      <a:schemeClr val="bg1"/>
                    </a:solidFill>
                  </a:rPr>
                  <a:t>DESCRIPTOR</a:t>
                </a:r>
                <a:br>
                  <a:rPr lang="en-US" sz="1600" b="1">
                    <a:solidFill>
                      <a:schemeClr val="bg1"/>
                    </a:solidFill>
                  </a:rPr>
                </a:br>
                <a:r>
                  <a:rPr lang="en-US" sz="1600" b="1">
                    <a:solidFill>
                      <a:schemeClr val="bg1"/>
                    </a:solidFill>
                  </a:rPr>
                  <a:t>EXTRACTION</a:t>
                </a:r>
              </a:p>
            </p:txBody>
          </p:sp>
          <p:pic>
            <p:nvPicPr>
              <p:cNvPr id="8" name="Picture 7" descr="A picture containing design&#10;&#10;Description automatically generated">
                <a:extLst>
                  <a:ext uri="{FF2B5EF4-FFF2-40B4-BE49-F238E27FC236}">
                    <a16:creationId xmlns:a16="http://schemas.microsoft.com/office/drawing/2014/main" id="{96E8491D-A950-0A11-ED11-A9927E1ECE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99953" y="1690688"/>
                <a:ext cx="929164" cy="929164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5946625-C028-0C97-1573-5773449CF7EF}"/>
                </a:ext>
              </a:extLst>
            </p:cNvPr>
            <p:cNvSpPr txBox="1"/>
            <p:nvPr/>
          </p:nvSpPr>
          <p:spPr>
            <a:xfrm>
              <a:off x="3810045" y="2437720"/>
              <a:ext cx="14667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COMPACT</a:t>
              </a:r>
              <a:br>
                <a:rPr lang="en-US" sz="1400" b="1">
                  <a:solidFill>
                    <a:schemeClr val="bg1"/>
                  </a:solidFill>
                </a:rPr>
              </a:br>
              <a:r>
                <a:rPr lang="en-US" sz="1400" b="1">
                  <a:solidFill>
                    <a:schemeClr val="bg1"/>
                  </a:solidFill>
                </a:rPr>
                <a:t>REPRESENTATION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F47F7D9-734B-77F1-CD78-CA173134D799}"/>
              </a:ext>
            </a:extLst>
          </p:cNvPr>
          <p:cNvGrpSpPr/>
          <p:nvPr/>
        </p:nvGrpSpPr>
        <p:grpSpPr>
          <a:xfrm>
            <a:off x="3313313" y="3618033"/>
            <a:ext cx="2597250" cy="2340256"/>
            <a:chOff x="3313313" y="3618033"/>
            <a:chExt cx="2597250" cy="2340256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D115955A-E348-D223-5A72-91A5A1A79D1B}"/>
                </a:ext>
              </a:extLst>
            </p:cNvPr>
            <p:cNvGrpSpPr/>
            <p:nvPr/>
          </p:nvGrpSpPr>
          <p:grpSpPr>
            <a:xfrm>
              <a:off x="3313313" y="3618033"/>
              <a:ext cx="2363900" cy="2340256"/>
              <a:chOff x="2942864" y="3618033"/>
              <a:chExt cx="2363900" cy="2340256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035AA870-15B6-6837-F154-D954DCA8FB80}"/>
                  </a:ext>
                </a:extLst>
              </p:cNvPr>
              <p:cNvGrpSpPr/>
              <p:nvPr/>
            </p:nvGrpSpPr>
            <p:grpSpPr>
              <a:xfrm>
                <a:off x="2942864" y="3618033"/>
                <a:ext cx="2363900" cy="2340256"/>
                <a:chOff x="2942864" y="3618033"/>
                <a:chExt cx="2363900" cy="2340256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B5C1A885-1369-7F16-28DB-DC59A3534239}"/>
                    </a:ext>
                  </a:extLst>
                </p:cNvPr>
                <p:cNvGrpSpPr/>
                <p:nvPr/>
              </p:nvGrpSpPr>
              <p:grpSpPr>
                <a:xfrm>
                  <a:off x="4505851" y="3618033"/>
                  <a:ext cx="800913" cy="858442"/>
                  <a:chOff x="3743897" y="5909837"/>
                  <a:chExt cx="947278" cy="1015320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25FF9BDC-6BBD-5104-534A-1353B1DE75A7}"/>
                      </a:ext>
                    </a:extLst>
                  </p:cNvPr>
                  <p:cNvSpPr/>
                  <p:nvPr/>
                </p:nvSpPr>
                <p:spPr>
                  <a:xfrm>
                    <a:off x="3942509" y="6560229"/>
                    <a:ext cx="210153" cy="359294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D6821312-B54B-302A-3DC4-93F28C140D3E}"/>
                      </a:ext>
                    </a:extLst>
                  </p:cNvPr>
                  <p:cNvSpPr/>
                  <p:nvPr/>
                </p:nvSpPr>
                <p:spPr>
                  <a:xfrm>
                    <a:off x="4198588" y="6383974"/>
                    <a:ext cx="210153" cy="536519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2355F7A5-6B77-F10E-125A-116FA15F39C2}"/>
                      </a:ext>
                    </a:extLst>
                  </p:cNvPr>
                  <p:cNvGrpSpPr/>
                  <p:nvPr/>
                </p:nvGrpSpPr>
                <p:grpSpPr>
                  <a:xfrm>
                    <a:off x="3743897" y="5909837"/>
                    <a:ext cx="947278" cy="1015320"/>
                    <a:chOff x="3321767" y="4541537"/>
                    <a:chExt cx="947278" cy="1015320"/>
                  </a:xfrm>
                </p:grpSpPr>
                <p:cxnSp>
                  <p:nvCxnSpPr>
                    <p:cNvPr id="36" name="Straight Arrow Connector 35">
                      <a:extLst>
                        <a:ext uri="{FF2B5EF4-FFF2-40B4-BE49-F238E27FC236}">
                          <a16:creationId xmlns:a16="http://schemas.microsoft.com/office/drawing/2014/main" id="{F012A54A-5027-C0B4-37E8-636E4C8262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321767" y="4541537"/>
                      <a:ext cx="0" cy="1015319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Arrow Connector 36">
                      <a:extLst>
                        <a:ext uri="{FF2B5EF4-FFF2-40B4-BE49-F238E27FC236}">
                          <a16:creationId xmlns:a16="http://schemas.microsoft.com/office/drawing/2014/main" id="{9375E456-5D09-7AA7-DCAF-561700462C9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321786" y="5556857"/>
                      <a:ext cx="947259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9D1EA145-AE2C-449A-D193-8F9C9F5E3012}"/>
                    </a:ext>
                  </a:extLst>
                </p:cNvPr>
                <p:cNvGrpSpPr/>
                <p:nvPr/>
              </p:nvGrpSpPr>
              <p:grpSpPr>
                <a:xfrm>
                  <a:off x="2942864" y="4989894"/>
                  <a:ext cx="983529" cy="968395"/>
                  <a:chOff x="3039228" y="4996381"/>
                  <a:chExt cx="983529" cy="968395"/>
                </a:xfrm>
              </p:grpSpPr>
              <p:sp>
                <p:nvSpPr>
                  <p:cNvPr id="85" name="Oval 84">
                    <a:extLst>
                      <a:ext uri="{FF2B5EF4-FFF2-40B4-BE49-F238E27FC236}">
                        <a16:creationId xmlns:a16="http://schemas.microsoft.com/office/drawing/2014/main" id="{81120117-C04C-5A19-6277-2FCBE0609E93}"/>
                      </a:ext>
                    </a:extLst>
                  </p:cNvPr>
                  <p:cNvSpPr/>
                  <p:nvPr/>
                </p:nvSpPr>
                <p:spPr>
                  <a:xfrm>
                    <a:off x="3039228" y="4996381"/>
                    <a:ext cx="613959" cy="52322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" name="Oval 85">
                    <a:extLst>
                      <a:ext uri="{FF2B5EF4-FFF2-40B4-BE49-F238E27FC236}">
                        <a16:creationId xmlns:a16="http://schemas.microsoft.com/office/drawing/2014/main" id="{4833EC7B-F92E-32EA-44CB-C67FA6E9C480}"/>
                      </a:ext>
                    </a:extLst>
                  </p:cNvPr>
                  <p:cNvSpPr/>
                  <p:nvPr/>
                </p:nvSpPr>
                <p:spPr>
                  <a:xfrm>
                    <a:off x="3318976" y="5532408"/>
                    <a:ext cx="703781" cy="432368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90" name="Arrow: Right 89">
                <a:extLst>
                  <a:ext uri="{FF2B5EF4-FFF2-40B4-BE49-F238E27FC236}">
                    <a16:creationId xmlns:a16="http://schemas.microsoft.com/office/drawing/2014/main" id="{F0A2FBF3-18AE-4967-8865-97EE881E13A5}"/>
                  </a:ext>
                </a:extLst>
              </p:cNvPr>
              <p:cNvSpPr/>
              <p:nvPr/>
            </p:nvSpPr>
            <p:spPr>
              <a:xfrm>
                <a:off x="3959846" y="4022852"/>
                <a:ext cx="264802" cy="384585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3F34D91-6753-A6FB-D222-FE48B403BAB0}"/>
                </a:ext>
              </a:extLst>
            </p:cNvPr>
            <p:cNvSpPr txBox="1"/>
            <p:nvPr/>
          </p:nvSpPr>
          <p:spPr>
            <a:xfrm>
              <a:off x="4443844" y="4513705"/>
              <a:ext cx="14667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COMPACT</a:t>
              </a:r>
              <a:br>
                <a:rPr lang="en-US" sz="1400" b="1">
                  <a:solidFill>
                    <a:schemeClr val="bg1"/>
                  </a:solidFill>
                </a:rPr>
              </a:br>
              <a:r>
                <a:rPr lang="en-US" sz="1400" b="1">
                  <a:solidFill>
                    <a:schemeClr val="bg1"/>
                  </a:solidFill>
                </a:rPr>
                <a:t>REPRESENTATION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119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E8CE9A-19CB-05CD-0BC6-4677F576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67050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NetVLAD – Trainable VLAD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3C745F0-BA67-0470-6FF9-4BDCAE96C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14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DEB5F0-4F63-C021-2D70-23DE5939485A}"/>
              </a:ext>
            </a:extLst>
          </p:cNvPr>
          <p:cNvGrpSpPr/>
          <p:nvPr/>
        </p:nvGrpSpPr>
        <p:grpSpPr>
          <a:xfrm>
            <a:off x="7199725" y="111580"/>
            <a:ext cx="4731019" cy="3175806"/>
            <a:chOff x="7652756" y="3379594"/>
            <a:chExt cx="4154006" cy="287840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03CC056-F44C-4AFF-071D-70839590C9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162" t="7096"/>
            <a:stretch/>
          </p:blipFill>
          <p:spPr>
            <a:xfrm>
              <a:off x="7652756" y="3379594"/>
              <a:ext cx="4154006" cy="2878403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30E0DD-C274-20D7-C234-027312B31175}"/>
                </a:ext>
              </a:extLst>
            </p:cNvPr>
            <p:cNvSpPr txBox="1"/>
            <p:nvPr/>
          </p:nvSpPr>
          <p:spPr>
            <a:xfrm>
              <a:off x="7760028" y="3438835"/>
              <a:ext cx="771588" cy="530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u="sng"/>
                <a:t>VLAD</a:t>
              </a:r>
              <a:endParaRPr lang="en-US" sz="3200" b="1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70F1E95D-BB67-530B-3AD6-1EB458E984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187" t="41387" r="488" b="7833"/>
          <a:stretch/>
        </p:blipFill>
        <p:spPr>
          <a:xfrm>
            <a:off x="7199725" y="3326782"/>
            <a:ext cx="4710355" cy="30625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2081914-74EC-65E6-2922-4D1580EDABC8}"/>
              </a:ext>
            </a:extLst>
          </p:cNvPr>
          <p:cNvSpPr txBox="1"/>
          <p:nvPr/>
        </p:nvSpPr>
        <p:spPr>
          <a:xfrm>
            <a:off x="26949" y="6334780"/>
            <a:ext cx="11326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err="1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Arandjelovic</a:t>
            </a:r>
            <a:r>
              <a:rPr lang="en-US" sz="14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, Relja, Petr </a:t>
            </a:r>
            <a:r>
              <a:rPr lang="en-US" sz="1400" err="1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Gronat</a:t>
            </a:r>
            <a:r>
              <a:rPr lang="en-US" sz="14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, Akihiko Torii, Tomas </a:t>
            </a:r>
            <a:r>
              <a:rPr lang="en-US" sz="1400" err="1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Pajdla</a:t>
            </a:r>
            <a:r>
              <a:rPr lang="en-US" sz="14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, and Josef </a:t>
            </a:r>
            <a:r>
              <a:rPr lang="en-US" sz="1400" err="1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Sivic</a:t>
            </a:r>
            <a:r>
              <a:rPr lang="en-US" sz="14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. 2018. </a:t>
            </a:r>
            <a:br>
              <a:rPr lang="th-TH" sz="14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14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“NetVLAD: CNN Architecture for Weakly Supervised Place Recognition.” </a:t>
            </a:r>
            <a:r>
              <a:rPr lang="en-US" sz="1400" i="1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IEEE Transactions on Pattern Analysis and Machine Intelligence</a:t>
            </a:r>
            <a:r>
              <a:rPr lang="en-US" sz="14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40 (6): 1437–51.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DB40073-C6ED-7C4C-477E-5E9FECBA923E}"/>
              </a:ext>
            </a:extLst>
          </p:cNvPr>
          <p:cNvGrpSpPr/>
          <p:nvPr/>
        </p:nvGrpSpPr>
        <p:grpSpPr>
          <a:xfrm>
            <a:off x="543574" y="1474770"/>
            <a:ext cx="1608905" cy="1784989"/>
            <a:chOff x="243008" y="1474770"/>
            <a:chExt cx="1608905" cy="178498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9C2F79-F396-6648-6516-B3D08F9DCEF3}"/>
                </a:ext>
              </a:extLst>
            </p:cNvPr>
            <p:cNvSpPr txBox="1"/>
            <p:nvPr/>
          </p:nvSpPr>
          <p:spPr>
            <a:xfrm>
              <a:off x="243008" y="2551873"/>
              <a:ext cx="160890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LEARNING-BASED</a:t>
              </a:r>
              <a:br>
                <a:rPr lang="en-US" sz="2000" b="1">
                  <a:solidFill>
                    <a:schemeClr val="bg1"/>
                  </a:solidFill>
                  <a:cs typeface="TH Sarabun New"/>
                </a:rPr>
              </a:br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VLAD</a:t>
              </a:r>
            </a:p>
          </p:txBody>
        </p:sp>
        <p:pic>
          <p:nvPicPr>
            <p:cNvPr id="1026" name="Picture 2" descr="Coding icon">
              <a:extLst>
                <a:ext uri="{FF2B5EF4-FFF2-40B4-BE49-F238E27FC236}">
                  <a16:creationId xmlns:a16="http://schemas.microsoft.com/office/drawing/2014/main" id="{663D31F2-9DEF-60E0-BF18-F5D417E7F4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39" y="1474770"/>
              <a:ext cx="1015663" cy="10156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4E8C334-97DD-F88B-1E24-948AB0C3E64A}"/>
              </a:ext>
            </a:extLst>
          </p:cNvPr>
          <p:cNvGrpSpPr/>
          <p:nvPr/>
        </p:nvGrpSpPr>
        <p:grpSpPr>
          <a:xfrm>
            <a:off x="142096" y="3838964"/>
            <a:ext cx="3076990" cy="2130592"/>
            <a:chOff x="116994" y="3640274"/>
            <a:chExt cx="3076990" cy="213059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204969-1458-A693-766C-963DBE378D45}"/>
                </a:ext>
              </a:extLst>
            </p:cNvPr>
            <p:cNvSpPr txBox="1"/>
            <p:nvPr/>
          </p:nvSpPr>
          <p:spPr>
            <a:xfrm>
              <a:off x="568805" y="5370756"/>
              <a:ext cx="22749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DISCONTINUITY IN VLAD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05E968F-FDE4-2A1E-B8F2-521FB7E38339}"/>
                </a:ext>
              </a:extLst>
            </p:cNvPr>
            <p:cNvSpPr txBox="1"/>
            <p:nvPr/>
          </p:nvSpPr>
          <p:spPr>
            <a:xfrm>
              <a:off x="1004010" y="3640274"/>
              <a:ext cx="146606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VLAD VECTOR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3CC892B-2412-972C-AFA9-157F379AB7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486" t="27295" r="44145" b="43702"/>
            <a:stretch/>
          </p:blipFill>
          <p:spPr>
            <a:xfrm>
              <a:off x="116994" y="4039198"/>
              <a:ext cx="3076990" cy="1238041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0AF8FAA-E99E-7D84-B8F9-B82340427469}"/>
              </a:ext>
            </a:extLst>
          </p:cNvPr>
          <p:cNvGrpSpPr/>
          <p:nvPr/>
        </p:nvGrpSpPr>
        <p:grpSpPr>
          <a:xfrm>
            <a:off x="3442438" y="3834633"/>
            <a:ext cx="3406456" cy="2412020"/>
            <a:chOff x="3425994" y="3639350"/>
            <a:chExt cx="3406456" cy="241202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97DEBB9D-71B3-9CE1-72EC-1CDC193C60FD}"/>
                    </a:ext>
                  </a:extLst>
                </p:cNvPr>
                <p:cNvSpPr/>
                <p:nvPr/>
              </p:nvSpPr>
              <p:spPr>
                <a:xfrm>
                  <a:off x="3425994" y="4027979"/>
                  <a:ext cx="3406456" cy="124926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:,</m:t>
                            </m:r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GB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en-GB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GB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Sup>
                                      <m:sSubSupPr>
                                        <m:ctrlPr>
                                          <a:rPr lang="en-GB" sz="16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GB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p>
                                </m:sSup>
                              </m:num>
                              <m:den>
                                <m:r>
                                  <a:rPr lang="en-GB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GB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GB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GB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sSubSup>
                                          <m:sSubSupPr>
                                            <m:ctrlPr>
                                              <a:rPr lang="en-GB" sz="160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GB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sSup>
                                              <m:sSupPr>
                                                <m:ctrlPr>
                                                  <a:rPr lang="en-GB" sz="16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GB" sz="16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GB" sz="16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sub>
                                          <m:sup>
                                            <m:r>
                                              <a:rPr lang="en-GB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GB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GB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sSup>
                                              <m:sSupPr>
                                                <m:ctrlPr>
                                                  <a:rPr lang="en-GB" sz="16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GB" sz="16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GB" sz="16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sub>
                                        </m:sSub>
                                      </m:sup>
                                    </m:sSup>
                                  </m:e>
                                </m:nary>
                              </m:den>
                            </m:f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GB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GB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GB" sz="160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97DEBB9D-71B3-9CE1-72EC-1CDC193C60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5994" y="4027979"/>
                  <a:ext cx="3406456" cy="12492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AD45060-CE5F-84FD-EBC9-A4D36286C9C1}"/>
                </a:ext>
              </a:extLst>
            </p:cNvPr>
            <p:cNvSpPr txBox="1"/>
            <p:nvPr/>
          </p:nvSpPr>
          <p:spPr>
            <a:xfrm>
              <a:off x="3576582" y="3639350"/>
              <a:ext cx="317915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VLAD VECTOR WITH CONTINUITY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357B44C-D99B-D3F4-20C4-23D3592AD77B}"/>
                </a:ext>
              </a:extLst>
            </p:cNvPr>
            <p:cNvSpPr txBox="1"/>
            <p:nvPr/>
          </p:nvSpPr>
          <p:spPr>
            <a:xfrm>
              <a:off x="4028669" y="5343484"/>
              <a:ext cx="227498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SOFTMAX FUNCTION</a:t>
              </a:r>
            </a:p>
            <a:p>
              <a:pPr algn="ctr"/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(SOFT ASSIGNMENT)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4A9EDBC-AD5A-8718-3F18-187D02626B1B}"/>
              </a:ext>
            </a:extLst>
          </p:cNvPr>
          <p:cNvGrpSpPr/>
          <p:nvPr/>
        </p:nvGrpSpPr>
        <p:grpSpPr>
          <a:xfrm>
            <a:off x="2400758" y="1506351"/>
            <a:ext cx="2241999" cy="1798389"/>
            <a:chOff x="2100192" y="1506351"/>
            <a:chExt cx="2241999" cy="179838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40D5804-6617-DED0-AD88-0BC3B24773FE}"/>
                </a:ext>
              </a:extLst>
            </p:cNvPr>
            <p:cNvSpPr txBox="1"/>
            <p:nvPr/>
          </p:nvSpPr>
          <p:spPr>
            <a:xfrm>
              <a:off x="2100192" y="2596854"/>
              <a:ext cx="224199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FOR TRAINING ON</a:t>
              </a:r>
              <a:br>
                <a:rPr lang="en-US" sz="2000" b="1">
                  <a:solidFill>
                    <a:schemeClr val="bg1"/>
                  </a:solidFill>
                  <a:cs typeface="TH Sarabun New"/>
                </a:rPr>
              </a:br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DOMAIN-SPECIFIC TASK</a:t>
              </a:r>
            </a:p>
          </p:txBody>
        </p:sp>
        <p:pic>
          <p:nvPicPr>
            <p:cNvPr id="1028" name="Picture 4" descr="Book icon">
              <a:extLst>
                <a:ext uri="{FF2B5EF4-FFF2-40B4-BE49-F238E27FC236}">
                  <a16:creationId xmlns:a16="http://schemas.microsoft.com/office/drawing/2014/main" id="{32B5D7C5-AD8F-2310-453A-A3635004C2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6958" y="1506351"/>
              <a:ext cx="952500" cy="95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2773BBD-A480-8702-6CAB-AE6925657505}"/>
              </a:ext>
            </a:extLst>
          </p:cNvPr>
          <p:cNvGrpSpPr/>
          <p:nvPr/>
        </p:nvGrpSpPr>
        <p:grpSpPr>
          <a:xfrm>
            <a:off x="4528287" y="1582876"/>
            <a:ext cx="2241999" cy="1687982"/>
            <a:chOff x="4340339" y="1616758"/>
            <a:chExt cx="2241999" cy="168798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ADD033-B4CA-5A77-9F29-46D9BFF74BC8}"/>
                </a:ext>
              </a:extLst>
            </p:cNvPr>
            <p:cNvSpPr txBox="1"/>
            <p:nvPr/>
          </p:nvSpPr>
          <p:spPr>
            <a:xfrm>
              <a:off x="4340339" y="2596854"/>
              <a:ext cx="224199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END-TO-END</a:t>
              </a:r>
              <a:br>
                <a:rPr lang="en-US" sz="2000" b="1">
                  <a:solidFill>
                    <a:schemeClr val="bg1"/>
                  </a:solidFill>
                  <a:cs typeface="TH Sarabun New"/>
                </a:rPr>
              </a:br>
              <a:r>
                <a:rPr lang="en-US" sz="2000" b="1">
                  <a:solidFill>
                    <a:schemeClr val="bg1"/>
                  </a:solidFill>
                  <a:cs typeface="TH Sarabun New"/>
                </a:rPr>
                <a:t>TRAINING</a:t>
              </a:r>
            </a:p>
          </p:txBody>
        </p:sp>
        <p:pic>
          <p:nvPicPr>
            <p:cNvPr id="1032" name="Picture 8" descr="Swap icon">
              <a:extLst>
                <a:ext uri="{FF2B5EF4-FFF2-40B4-BE49-F238E27FC236}">
                  <a16:creationId xmlns:a16="http://schemas.microsoft.com/office/drawing/2014/main" id="{C1E769A3-D34D-2C00-693E-F1B7C62732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82271">
              <a:off x="4996861" y="1616758"/>
              <a:ext cx="873675" cy="873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4970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67161-B159-877C-E183-00115C44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2494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NetVLAD – Structure &amp; Loss Function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FA2555-B5FE-A4D4-1FF6-C4DD153B268B}"/>
              </a:ext>
            </a:extLst>
          </p:cNvPr>
          <p:cNvGrpSpPr/>
          <p:nvPr/>
        </p:nvGrpSpPr>
        <p:grpSpPr>
          <a:xfrm>
            <a:off x="466916" y="2597471"/>
            <a:ext cx="11461014" cy="1737832"/>
            <a:chOff x="466916" y="2597471"/>
            <a:chExt cx="11461014" cy="173783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B4D530B-4140-F2E9-FC0E-19C9F3FDA5C8}"/>
                </a:ext>
              </a:extLst>
            </p:cNvPr>
            <p:cNvGrpSpPr/>
            <p:nvPr/>
          </p:nvGrpSpPr>
          <p:grpSpPr>
            <a:xfrm>
              <a:off x="8262936" y="2597471"/>
              <a:ext cx="3664994" cy="1685926"/>
              <a:chOff x="8277225" y="2200275"/>
              <a:chExt cx="3664994" cy="1685926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5D1FA905-88C3-14B2-02A8-7609F4570C02}"/>
                  </a:ext>
                </a:extLst>
              </p:cNvPr>
              <p:cNvSpPr/>
              <p:nvPr/>
            </p:nvSpPr>
            <p:spPr>
              <a:xfrm>
                <a:off x="8277225" y="2200275"/>
                <a:ext cx="3664994" cy="1685926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400" b="1"/>
                  <a:t>LOSS</a:t>
                </a:r>
                <a:r>
                  <a:rPr lang="th-TH" sz="1400" b="1"/>
                  <a:t> </a:t>
                </a:r>
                <a:r>
                  <a:rPr lang="en-US" sz="1400" b="1"/>
                  <a:t>FUNCTION</a:t>
                </a:r>
                <a:br>
                  <a:rPr lang="th-TH" sz="1400" b="1"/>
                </a:br>
                <a:r>
                  <a:rPr lang="en-US" sz="1400" b="1"/>
                  <a:t>(Triplet Loss)</a:t>
                </a:r>
              </a:p>
            </p:txBody>
          </p:sp>
          <p:pic>
            <p:nvPicPr>
              <p:cNvPr id="2054" name="Picture 6">
                <a:extLst>
                  <a:ext uri="{FF2B5EF4-FFF2-40B4-BE49-F238E27FC236}">
                    <a16:creationId xmlns:a16="http://schemas.microsoft.com/office/drawing/2014/main" id="{F164C309-9F8E-8234-AE15-35C9D999D0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43912" y="2833279"/>
                <a:ext cx="3331619" cy="8961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F05A0E9-3349-7E1A-7E45-E4F087434D58}"/>
                </a:ext>
              </a:extLst>
            </p:cNvPr>
            <p:cNvGrpSpPr/>
            <p:nvPr/>
          </p:nvGrpSpPr>
          <p:grpSpPr>
            <a:xfrm>
              <a:off x="466916" y="2649377"/>
              <a:ext cx="7730572" cy="1685926"/>
              <a:chOff x="546652" y="2504243"/>
              <a:chExt cx="7730572" cy="168592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3E3352E-9A95-678C-29A6-22DB2977ED5A}"/>
                  </a:ext>
                </a:extLst>
              </p:cNvPr>
              <p:cNvSpPr/>
              <p:nvPr/>
            </p:nvSpPr>
            <p:spPr>
              <a:xfrm>
                <a:off x="546652" y="2504243"/>
                <a:ext cx="7730572" cy="16859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" name="Picture 2" descr="NetVLAD: CNN architecture for weakly supervised place recognition">
                <a:extLst>
                  <a:ext uri="{FF2B5EF4-FFF2-40B4-BE49-F238E27FC236}">
                    <a16:creationId xmlns:a16="http://schemas.microsoft.com/office/drawing/2014/main" id="{D930A4A1-0974-4A82-DDAD-B12F9AA4CF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340" y="2612095"/>
                <a:ext cx="7548542" cy="1473858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777B32B-4A1E-4D50-6178-779460F430C4}"/>
              </a:ext>
            </a:extLst>
          </p:cNvPr>
          <p:cNvGrpSpPr/>
          <p:nvPr/>
        </p:nvGrpSpPr>
        <p:grpSpPr>
          <a:xfrm>
            <a:off x="1257299" y="4443155"/>
            <a:ext cx="10563225" cy="1180540"/>
            <a:chOff x="1257299" y="4443155"/>
            <a:chExt cx="10563225" cy="1180540"/>
          </a:xfrm>
        </p:grpSpPr>
        <p:sp>
          <p:nvSpPr>
            <p:cNvPr id="12" name="Arrow: Left 11">
              <a:extLst>
                <a:ext uri="{FF2B5EF4-FFF2-40B4-BE49-F238E27FC236}">
                  <a16:creationId xmlns:a16="http://schemas.microsoft.com/office/drawing/2014/main" id="{FA42B39E-065E-E5A7-8658-76C64D80B539}"/>
                </a:ext>
              </a:extLst>
            </p:cNvPr>
            <p:cNvSpPr/>
            <p:nvPr/>
          </p:nvSpPr>
          <p:spPr>
            <a:xfrm>
              <a:off x="4705349" y="4443155"/>
              <a:ext cx="7115175" cy="616335"/>
            </a:xfrm>
            <a:prstGeom prst="lef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b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GRADIENT BACKPROPAGATION</a:t>
              </a:r>
            </a:p>
          </p:txBody>
        </p:sp>
        <p:sp>
          <p:nvSpPr>
            <p:cNvPr id="13" name="Arrow: Left 12">
              <a:extLst>
                <a:ext uri="{FF2B5EF4-FFF2-40B4-BE49-F238E27FC236}">
                  <a16:creationId xmlns:a16="http://schemas.microsoft.com/office/drawing/2014/main" id="{1D50A3E9-E656-4659-DCD1-440AB080E1EB}"/>
                </a:ext>
              </a:extLst>
            </p:cNvPr>
            <p:cNvSpPr/>
            <p:nvPr/>
          </p:nvSpPr>
          <p:spPr>
            <a:xfrm>
              <a:off x="1257299" y="5007360"/>
              <a:ext cx="10563225" cy="616335"/>
            </a:xfrm>
            <a:prstGeom prst="lef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GRADIENT BACKPROPAGATION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C02F6AB-B84E-8774-8065-80449F78C40A}"/>
              </a:ext>
            </a:extLst>
          </p:cNvPr>
          <p:cNvGrpSpPr/>
          <p:nvPr/>
        </p:nvGrpSpPr>
        <p:grpSpPr>
          <a:xfrm>
            <a:off x="1325062" y="1451727"/>
            <a:ext cx="6386063" cy="1054334"/>
            <a:chOff x="376426" y="3091610"/>
            <a:chExt cx="5052691" cy="189251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9E75179-0032-01BD-F1A6-C8CB5CB59918}"/>
                </a:ext>
              </a:extLst>
            </p:cNvPr>
            <p:cNvSpPr/>
            <p:nvPr/>
          </p:nvSpPr>
          <p:spPr>
            <a:xfrm>
              <a:off x="376426" y="3091610"/>
              <a:ext cx="5052691" cy="1892510"/>
            </a:xfrm>
            <a:prstGeom prst="roundRect">
              <a:avLst/>
            </a:prstGeom>
            <a:solidFill>
              <a:srgbClr val="843C0C"/>
            </a:solidFill>
            <a:ln w="57150"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GLOBAL DESCRIPTOR EXTRACTION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14B3039-E62A-D292-7D41-4DFF72D72D9E}"/>
                </a:ext>
              </a:extLst>
            </p:cNvPr>
            <p:cNvSpPr/>
            <p:nvPr/>
          </p:nvSpPr>
          <p:spPr>
            <a:xfrm>
              <a:off x="638895" y="3776067"/>
              <a:ext cx="1952065" cy="1080426"/>
            </a:xfrm>
            <a:prstGeom prst="roundRect">
              <a:avLst/>
            </a:prstGeom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LOCAL FEATURE EXTRACTION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1926E8A-B614-F142-0720-E9F9E86547D2}"/>
                </a:ext>
              </a:extLst>
            </p:cNvPr>
            <p:cNvSpPr/>
            <p:nvPr/>
          </p:nvSpPr>
          <p:spPr>
            <a:xfrm>
              <a:off x="3219490" y="3776067"/>
              <a:ext cx="1952065" cy="1080426"/>
            </a:xfrm>
            <a:prstGeom prst="roundRect">
              <a:avLst/>
            </a:prstGeom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FEATURE AGGREGATION</a:t>
              </a:r>
              <a:br>
                <a:rPr lang="en-US" sz="1600" b="1">
                  <a:solidFill>
                    <a:schemeClr val="bg1"/>
                  </a:solidFill>
                </a:rPr>
              </a:br>
              <a:r>
                <a:rPr lang="en-US" sz="1600" b="1">
                  <a:solidFill>
                    <a:schemeClr val="bg1"/>
                  </a:solidFill>
                </a:rPr>
                <a:t>(POOLING)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77BD97D1-AEAE-AA84-B6FD-1BE5917FBC8B}"/>
                </a:ext>
              </a:extLst>
            </p:cNvPr>
            <p:cNvSpPr/>
            <p:nvPr/>
          </p:nvSpPr>
          <p:spPr>
            <a:xfrm>
              <a:off x="2748114" y="4096974"/>
              <a:ext cx="337457" cy="5007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31E4D51D-B35E-F9B3-4A8A-C4F1970E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15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80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04484-316C-CB24-8F0A-4C9DE7CA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Literature Review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2F6F4-DE05-EC79-CE58-79200E58B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306"/>
            <a:ext cx="10515600" cy="413609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[1,3] Visual Place Recognition can be improved by Indirect Method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Global Search / Candidate Filtering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[2] CNN Architecture can learn Fisheye Omnidirectional Image in Place Classification Tasks</a:t>
            </a:r>
            <a:br>
              <a:rPr lang="en-US">
                <a:solidFill>
                  <a:schemeClr val="bg1"/>
                </a:solidFill>
              </a:rPr>
            </a:br>
            <a:endParaRPr lang="th-TH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[3] NetVLAD can be used as Global Descriptor for Omnidirectional Panorama Images</a:t>
            </a:r>
            <a:br>
              <a:rPr lang="en-US">
                <a:solidFill>
                  <a:schemeClr val="bg1"/>
                </a:solidFill>
              </a:rPr>
            </a:br>
            <a:endParaRPr lang="th-TH">
              <a:solidFill>
                <a:schemeClr val="bg1"/>
              </a:solidFill>
            </a:endParaRPr>
          </a:p>
          <a:p>
            <a:r>
              <a:rPr lang="th-TH">
                <a:solidFill>
                  <a:schemeClr val="bg1"/>
                </a:solidFill>
              </a:rPr>
              <a:t>แต่ในงานวิจัยยังไม่มีการทดลองนำรูป </a:t>
            </a:r>
            <a:r>
              <a:rPr lang="en-US">
                <a:solidFill>
                  <a:schemeClr val="bg1"/>
                </a:solidFill>
              </a:rPr>
              <a:t>Omnidirectional </a:t>
            </a:r>
            <a:r>
              <a:rPr lang="th-TH">
                <a:solidFill>
                  <a:schemeClr val="bg1"/>
                </a:solidFill>
              </a:rPr>
              <a:t>ภายในอาคารมาใช้ตรงๆโดยไม่ผ่านการคลี่รูป </a:t>
            </a:r>
            <a:br>
              <a:rPr lang="en-US">
                <a:solidFill>
                  <a:schemeClr val="bg1"/>
                </a:solidFill>
              </a:rPr>
            </a:br>
            <a:r>
              <a:rPr lang="th-TH">
                <a:solidFill>
                  <a:schemeClr val="bg1"/>
                </a:solidFill>
              </a:rPr>
              <a:t>หรือใช้ส่วนของ </a:t>
            </a:r>
            <a:r>
              <a:rPr lang="en-US">
                <a:solidFill>
                  <a:schemeClr val="bg1"/>
                </a:solidFill>
              </a:rPr>
              <a:t>Feature Extraction </a:t>
            </a:r>
            <a:r>
              <a:rPr lang="th-TH">
                <a:solidFill>
                  <a:schemeClr val="bg1"/>
                </a:solidFill>
              </a:rPr>
              <a:t>ที่ปรับแต่งมาสำหรับ</a:t>
            </a:r>
            <a:r>
              <a:rPr lang="en-US">
                <a:solidFill>
                  <a:schemeClr val="bg1"/>
                </a:solidFill>
              </a:rPr>
              <a:t> Indoor</a:t>
            </a:r>
            <a:r>
              <a:rPr lang="th-TH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Omnidirectional Image </a:t>
            </a:r>
            <a:r>
              <a:rPr lang="th-TH">
                <a:solidFill>
                  <a:schemeClr val="bg1"/>
                </a:solidFill>
              </a:rPr>
              <a:t>โดยตรง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65FC2171-B2ED-0E93-181E-ECFA1DA5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16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0DEA8-58E4-3B29-459E-F9F5A984D844}"/>
              </a:ext>
            </a:extLst>
          </p:cNvPr>
          <p:cNvSpPr txBox="1"/>
          <p:nvPr/>
        </p:nvSpPr>
        <p:spPr>
          <a:xfrm>
            <a:off x="0" y="5669861"/>
            <a:ext cx="5715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bg1"/>
                </a:solidFill>
              </a:rPr>
              <a:t>[1] Sarlin, Paul-Edouard, Frédéric Debraine, Marcin Dymczyk, Roland Siegwart, and Cesar Cadena. 2018. </a:t>
            </a:r>
            <a:br>
              <a:rPr lang="en-US" sz="1100">
                <a:solidFill>
                  <a:schemeClr val="bg1"/>
                </a:solidFill>
              </a:rPr>
            </a:br>
            <a:r>
              <a:rPr lang="en-US" sz="1100">
                <a:solidFill>
                  <a:schemeClr val="bg1"/>
                </a:solidFill>
              </a:rPr>
              <a:t>“Leveraging Deep Visual Descriptors for Hierarchical Efficient Localization.” </a:t>
            </a:r>
            <a:r>
              <a:rPr lang="en-US" sz="1100" i="1">
                <a:solidFill>
                  <a:schemeClr val="bg1"/>
                </a:solidFill>
              </a:rPr>
              <a:t>arXiv [cs.CV]</a:t>
            </a:r>
            <a:r>
              <a:rPr lang="en-US" sz="1100">
                <a:solidFill>
                  <a:schemeClr val="bg1"/>
                </a:solidFill>
              </a:rPr>
              <a:t>. arXiv. http://arxiv.org/abs/1809.01019.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ADD42-8C39-376D-AAD9-855AACB5C9D1}"/>
              </a:ext>
            </a:extLst>
          </p:cNvPr>
          <p:cNvSpPr txBox="1"/>
          <p:nvPr/>
        </p:nvSpPr>
        <p:spPr>
          <a:xfrm>
            <a:off x="-1" y="6427113"/>
            <a:ext cx="884872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[3] Fang, Yicheng, Kaiwei Wang, Ruiqi Cheng, and Kailun Yang. 2020. </a:t>
            </a:r>
            <a:b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“CFVL: A Coarse-to-Fine Vehicle Localizer with Omnidirectional Perception across Severe Appearance Variations.” </a:t>
            </a:r>
            <a:r>
              <a:rPr lang="en-US" sz="1100" i="1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2020 IEEE Intelligent Vehicles Symposium (IV)</a:t>
            </a:r>
            <a:r>
              <a:rPr lang="en-US" sz="1100" noProof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, October, 1885–91.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031C4-A5A1-B1F5-40C1-36DAE3C540E8}"/>
              </a:ext>
            </a:extLst>
          </p:cNvPr>
          <p:cNvSpPr txBox="1"/>
          <p:nvPr/>
        </p:nvSpPr>
        <p:spPr>
          <a:xfrm>
            <a:off x="1" y="6055638"/>
            <a:ext cx="51882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[2] Lee, Jongwon, and Ayoung Kim. 2019. “Neural Network-Based Long-Term Place Recognition from Omni-Images.” </a:t>
            </a:r>
            <a:br>
              <a:rPr lang="en-US" sz="11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11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 </a:t>
            </a:r>
            <a:r>
              <a:rPr lang="en-US" sz="1100" i="1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2019 16th International Conference on Ubiquitous Robots (UR)</a:t>
            </a:r>
            <a:r>
              <a:rPr lang="en-US" sz="110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, 189–93.</a:t>
            </a:r>
          </a:p>
        </p:txBody>
      </p:sp>
    </p:spTree>
    <p:extLst>
      <p:ext uri="{BB962C8B-B14F-4D97-AF65-F5344CB8AC3E}">
        <p14:creationId xmlns:p14="http://schemas.microsoft.com/office/powerpoint/2010/main" val="1698357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5CA5AE-9A28-0685-303C-61045C30F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045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Objective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60231E-C4A6-B9E8-FFCD-2CB4061DD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0085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h-TH">
                <a:solidFill>
                  <a:schemeClr val="bg1"/>
                </a:solidFill>
              </a:rPr>
              <a:t>เพื่อศึกษาและค้นหาลักษณะ </a:t>
            </a:r>
            <a:r>
              <a:rPr lang="en-US">
                <a:solidFill>
                  <a:schemeClr val="bg1"/>
                </a:solidFill>
              </a:rPr>
              <a:t>Deep Learning Model Architecture </a:t>
            </a:r>
            <a:r>
              <a:rPr lang="th-TH">
                <a:solidFill>
                  <a:schemeClr val="bg1"/>
                </a:solidFill>
              </a:rPr>
              <a:t>ที่</a:t>
            </a:r>
            <a:r>
              <a:rPr lang="th-TH" u="sng">
                <a:solidFill>
                  <a:schemeClr val="bg1"/>
                </a:solidFill>
              </a:rPr>
              <a:t>เหมาะสม</a:t>
            </a:r>
            <a:r>
              <a:rPr lang="th-TH">
                <a:solidFill>
                  <a:schemeClr val="bg1"/>
                </a:solidFill>
              </a:rPr>
              <a:t>ที่สุด</a:t>
            </a:r>
            <a:br>
              <a:rPr lang="th-TH">
                <a:solidFill>
                  <a:schemeClr val="bg1"/>
                </a:solidFill>
              </a:rPr>
            </a:br>
            <a:r>
              <a:rPr lang="th-TH">
                <a:solidFill>
                  <a:schemeClr val="bg1"/>
                </a:solidFill>
              </a:rPr>
              <a:t>ในการสร้าง </a:t>
            </a:r>
            <a:r>
              <a:rPr lang="en-US">
                <a:solidFill>
                  <a:schemeClr val="bg1"/>
                </a:solidFill>
              </a:rPr>
              <a:t>Global Descriptor </a:t>
            </a:r>
            <a:r>
              <a:rPr lang="th-TH">
                <a:solidFill>
                  <a:schemeClr val="bg1"/>
                </a:solidFill>
              </a:rPr>
              <a:t>จากภาพ </a:t>
            </a:r>
            <a:r>
              <a:rPr lang="en-US">
                <a:solidFill>
                  <a:schemeClr val="bg1"/>
                </a:solidFill>
              </a:rPr>
              <a:t>Indoor Fisheye Omnidirectional</a:t>
            </a:r>
            <a:br>
              <a:rPr lang="en-US">
                <a:solidFill>
                  <a:schemeClr val="bg1"/>
                </a:solidFill>
              </a:rPr>
            </a:br>
            <a:r>
              <a:rPr lang="th-TH">
                <a:solidFill>
                  <a:schemeClr val="bg1"/>
                </a:solidFill>
              </a:rPr>
              <a:t>เพื่อ </a:t>
            </a:r>
            <a:r>
              <a:rPr lang="en-US">
                <a:solidFill>
                  <a:schemeClr val="bg1"/>
                </a:solidFill>
              </a:rPr>
              <a:t>Visual Place Recognition Task</a:t>
            </a:r>
            <a:br>
              <a:rPr lang="th-TH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r>
              <a:rPr lang="th-TH">
                <a:solidFill>
                  <a:schemeClr val="bg1"/>
                </a:solidFill>
              </a:rPr>
              <a:t>เหมาะสม </a:t>
            </a:r>
            <a:r>
              <a:rPr lang="en-US">
                <a:solidFill>
                  <a:schemeClr val="bg1"/>
                </a:solidFill>
              </a:rPr>
              <a:t>: </a:t>
            </a:r>
            <a:r>
              <a:rPr lang="th-TH">
                <a:solidFill>
                  <a:schemeClr val="bg1"/>
                </a:solidFill>
              </a:rPr>
              <a:t>การใช้งานในหุ่นยนต์ </a:t>
            </a:r>
          </a:p>
          <a:p>
            <a:pPr lvl="1"/>
            <a:r>
              <a:rPr lang="th-TH">
                <a:solidFill>
                  <a:schemeClr val="bg1"/>
                </a:solidFill>
              </a:rPr>
              <a:t>ให้ผลลัพธ์ของสถานที่ที่ถูกต้อง</a:t>
            </a:r>
          </a:p>
          <a:p>
            <a:pPr lvl="1"/>
            <a:r>
              <a:rPr lang="th-TH">
                <a:solidFill>
                  <a:schemeClr val="bg1"/>
                </a:solidFill>
              </a:rPr>
              <a:t>ทนต่อสภาพแสง และสภาพแวดล้อมที่เปลี่ยนไปได้</a:t>
            </a:r>
            <a:endParaRPr lang="en-US">
              <a:solidFill>
                <a:schemeClr val="bg1"/>
              </a:solidFill>
            </a:endParaRPr>
          </a:p>
          <a:p>
            <a:pPr lvl="1"/>
            <a:r>
              <a:rPr lang="th-TH">
                <a:solidFill>
                  <a:schemeClr val="bg1"/>
                </a:solidFill>
              </a:rPr>
              <a:t>ใช้เวลาน้อยในการประมวลผล</a:t>
            </a:r>
          </a:p>
          <a:p>
            <a:pPr lvl="1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5D26A7B5-43F5-78EC-3981-D507F262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17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421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E4BF-353A-A170-6E62-5902B92E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38CDA5-838B-90C7-32A0-7DD796EF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18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2050" name="Picture 2" descr="R2d2, star wars Icon in Star Wars - color Icons">
            <a:extLst>
              <a:ext uri="{FF2B5EF4-FFF2-40B4-BE49-F238E27FC236}">
                <a16:creationId xmlns:a16="http://schemas.microsoft.com/office/drawing/2014/main" id="{A12E834C-19F5-254D-5428-DA00C9605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06"/>
          <a:stretch/>
        </p:blipFill>
        <p:spPr bwMode="auto">
          <a:xfrm>
            <a:off x="4542638" y="5207000"/>
            <a:ext cx="3106724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2413317-2DF4-6FD0-2132-A945CBB0EDDF}"/>
              </a:ext>
            </a:extLst>
          </p:cNvPr>
          <p:cNvGrpSpPr/>
          <p:nvPr/>
        </p:nvGrpSpPr>
        <p:grpSpPr>
          <a:xfrm>
            <a:off x="111760" y="4091781"/>
            <a:ext cx="4754880" cy="1651001"/>
            <a:chOff x="463398" y="1406724"/>
            <a:chExt cx="4754880" cy="1651001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62A902EF-37EA-0E01-3421-D25CC76B4D99}"/>
                </a:ext>
              </a:extLst>
            </p:cNvPr>
            <p:cNvSpPr/>
            <p:nvPr/>
          </p:nvSpPr>
          <p:spPr>
            <a:xfrm>
              <a:off x="463398" y="1406724"/>
              <a:ext cx="4754880" cy="1651001"/>
            </a:xfrm>
            <a:prstGeom prst="wedgeRoundRectCallout">
              <a:avLst>
                <a:gd name="adj1" fmla="val 56170"/>
                <a:gd name="adj2" fmla="val 35029"/>
                <a:gd name="adj3" fmla="val 16667"/>
              </a:avLst>
            </a:prstGeom>
            <a:grpFill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2986D780-86A8-405D-E10F-F17151A7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027" y="1683622"/>
              <a:ext cx="1126609" cy="1126609"/>
            </a:xfrm>
            <a:prstGeom prst="rect">
              <a:avLst/>
            </a:prstGeom>
            <a:grpFill/>
          </p:spPr>
        </p:pic>
      </p:grpSp>
      <p:pic>
        <p:nvPicPr>
          <p:cNvPr id="12" name="Picture 11" descr="A picture containing design&#10;&#10;Description automatically generated">
            <a:extLst>
              <a:ext uri="{FF2B5EF4-FFF2-40B4-BE49-F238E27FC236}">
                <a16:creationId xmlns:a16="http://schemas.microsoft.com/office/drawing/2014/main" id="{82518400-D315-6B9C-1790-78604B1CC4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573" y="4442460"/>
            <a:ext cx="929164" cy="929164"/>
          </a:xfrm>
          <a:prstGeom prst="rect">
            <a:avLst/>
          </a:prstGeom>
        </p:spPr>
      </p:pic>
      <p:pic>
        <p:nvPicPr>
          <p:cNvPr id="14" name="Picture 13" descr="A picture containing screenshot, colorfulness, circle, graphics&#10;&#10;Description automatically generated">
            <a:extLst>
              <a:ext uri="{FF2B5EF4-FFF2-40B4-BE49-F238E27FC236}">
                <a16:creationId xmlns:a16="http://schemas.microsoft.com/office/drawing/2014/main" id="{0F94D617-105B-F71D-069C-D514717771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282" y="4317999"/>
            <a:ext cx="1177289" cy="1177289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4F60A6FA-5C19-B2BF-A8D3-8B93285093D2}"/>
              </a:ext>
            </a:extLst>
          </p:cNvPr>
          <p:cNvSpPr/>
          <p:nvPr/>
        </p:nvSpPr>
        <p:spPr>
          <a:xfrm>
            <a:off x="1484964" y="4725748"/>
            <a:ext cx="315352" cy="375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92E0C50-489F-F9FE-A72F-72F1622AC574}"/>
              </a:ext>
            </a:extLst>
          </p:cNvPr>
          <p:cNvSpPr/>
          <p:nvPr/>
        </p:nvSpPr>
        <p:spPr>
          <a:xfrm>
            <a:off x="3213906" y="4718683"/>
            <a:ext cx="433533" cy="375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2E02387-50B2-7C0A-D655-16CC92F5A633}"/>
              </a:ext>
            </a:extLst>
          </p:cNvPr>
          <p:cNvSpPr txBox="1">
            <a:spLocks/>
          </p:cNvSpPr>
          <p:nvPr/>
        </p:nvSpPr>
        <p:spPr>
          <a:xfrm>
            <a:off x="8345322" y="2837734"/>
            <a:ext cx="3221990" cy="1182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>
                <a:solidFill>
                  <a:schemeClr val="bg1"/>
                </a:solidFill>
              </a:rPr>
              <a:t>SCOPE / ASSUMPTION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>
                <a:solidFill>
                  <a:schemeClr val="bg1"/>
                </a:solidFill>
              </a:rPr>
              <a:t>EXPERIMENT DESIGN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>
                <a:solidFill>
                  <a:schemeClr val="bg1"/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2388016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9472-68CC-AF8A-684F-D71D6E08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D55B778-9E48-99F1-551D-715D511E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19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7DE2971-6F2B-5991-D473-02C564F2B07F}"/>
              </a:ext>
            </a:extLst>
          </p:cNvPr>
          <p:cNvGrpSpPr/>
          <p:nvPr/>
        </p:nvGrpSpPr>
        <p:grpSpPr>
          <a:xfrm>
            <a:off x="651657" y="1871142"/>
            <a:ext cx="2684017" cy="3909641"/>
            <a:chOff x="323163" y="801241"/>
            <a:chExt cx="2684017" cy="3909641"/>
          </a:xfrm>
        </p:grpSpPr>
        <p:pic>
          <p:nvPicPr>
            <p:cNvPr id="19" name="Picture 18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648ADA86-6D95-7513-41FE-36528E913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163" y="801241"/>
              <a:ext cx="2684017" cy="268401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D9CF8A-76DA-F23E-3238-3974F2A1B8DA}"/>
                </a:ext>
              </a:extLst>
            </p:cNvPr>
            <p:cNvSpPr txBox="1"/>
            <p:nvPr/>
          </p:nvSpPr>
          <p:spPr>
            <a:xfrm>
              <a:off x="682192" y="3510553"/>
              <a:ext cx="196596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800">
                  <a:solidFill>
                    <a:schemeClr val="bg1"/>
                  </a:solidFill>
                </a:rPr>
                <a:t>UPWARD-POINTED</a:t>
              </a:r>
              <a:br>
                <a:rPr lang="en-US" sz="1800">
                  <a:solidFill>
                    <a:schemeClr val="bg1"/>
                  </a:solidFill>
                </a:rPr>
              </a:br>
              <a:r>
                <a:rPr lang="en-US" sz="1800">
                  <a:solidFill>
                    <a:schemeClr val="bg1"/>
                  </a:solidFill>
                </a:rPr>
                <a:t>FISHEYE </a:t>
              </a:r>
              <a:br>
                <a:rPr lang="en-US" sz="1800">
                  <a:solidFill>
                    <a:schemeClr val="bg1"/>
                  </a:solidFill>
                </a:rPr>
              </a:br>
              <a:r>
                <a:rPr lang="en-US" sz="1800">
                  <a:solidFill>
                    <a:schemeClr val="bg1"/>
                  </a:solidFill>
                </a:rPr>
                <a:t>OMNIDIRECTIONAL IMAGE</a:t>
              </a:r>
              <a:br>
                <a:rPr lang="en-US" sz="1800">
                  <a:solidFill>
                    <a:schemeClr val="bg1"/>
                  </a:solidFill>
                </a:rPr>
              </a:br>
              <a:endParaRPr lang="en-US" sz="180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3E0625A-1662-21A4-8AEE-91A99FB131F3}"/>
              </a:ext>
            </a:extLst>
          </p:cNvPr>
          <p:cNvGrpSpPr/>
          <p:nvPr/>
        </p:nvGrpSpPr>
        <p:grpSpPr>
          <a:xfrm>
            <a:off x="4024234" y="1194663"/>
            <a:ext cx="2113767" cy="2362138"/>
            <a:chOff x="3581838" y="1873794"/>
            <a:chExt cx="2113767" cy="2362138"/>
          </a:xfrm>
        </p:grpSpPr>
        <p:sp>
          <p:nvSpPr>
            <p:cNvPr id="8" name="Text Placeholder 5">
              <a:extLst>
                <a:ext uri="{FF2B5EF4-FFF2-40B4-BE49-F238E27FC236}">
                  <a16:creationId xmlns:a16="http://schemas.microsoft.com/office/drawing/2014/main" id="{85527D89-B81B-3387-445F-12EFFCFC441E}"/>
                </a:ext>
              </a:extLst>
            </p:cNvPr>
            <p:cNvSpPr txBox="1">
              <a:spLocks/>
            </p:cNvSpPr>
            <p:nvPr/>
          </p:nvSpPr>
          <p:spPr>
            <a:xfrm>
              <a:off x="3581838" y="3530366"/>
              <a:ext cx="2113767" cy="7055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800">
                  <a:solidFill>
                    <a:schemeClr val="bg1"/>
                  </a:solidFill>
                </a:rPr>
                <a:t>INDOOR</a:t>
              </a:r>
              <a:br>
                <a:rPr lang="en-US" sz="1800">
                  <a:solidFill>
                    <a:schemeClr val="bg1"/>
                  </a:solidFill>
                </a:rPr>
              </a:br>
              <a:r>
                <a:rPr lang="en-US" sz="1800">
                  <a:solidFill>
                    <a:schemeClr val="bg1"/>
                  </a:solidFill>
                </a:rPr>
                <a:t>OFFICE ENVIRONMENT</a:t>
              </a:r>
            </a:p>
          </p:txBody>
        </p:sp>
        <p:pic>
          <p:nvPicPr>
            <p:cNvPr id="2052" name="Picture 4" descr="Meeting room icon">
              <a:extLst>
                <a:ext uri="{FF2B5EF4-FFF2-40B4-BE49-F238E27FC236}">
                  <a16:creationId xmlns:a16="http://schemas.microsoft.com/office/drawing/2014/main" id="{BC6F6077-8E89-77E1-05B6-55D2E4D298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0976" y="1873794"/>
              <a:ext cx="1475489" cy="1475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77FB13B-64C3-B250-436D-7C5FDEA57F2D}"/>
              </a:ext>
            </a:extLst>
          </p:cNvPr>
          <p:cNvGrpSpPr/>
          <p:nvPr/>
        </p:nvGrpSpPr>
        <p:grpSpPr>
          <a:xfrm>
            <a:off x="9239079" y="893215"/>
            <a:ext cx="1959191" cy="2703833"/>
            <a:chOff x="9127091" y="1584189"/>
            <a:chExt cx="1959191" cy="2703833"/>
          </a:xfrm>
        </p:grpSpPr>
        <p:sp>
          <p:nvSpPr>
            <p:cNvPr id="13" name="Text Placeholder 5">
              <a:extLst>
                <a:ext uri="{FF2B5EF4-FFF2-40B4-BE49-F238E27FC236}">
                  <a16:creationId xmlns:a16="http://schemas.microsoft.com/office/drawing/2014/main" id="{F0D5DA40-2F41-3755-106E-C7D4C0CB0C14}"/>
                </a:ext>
              </a:extLst>
            </p:cNvPr>
            <p:cNvSpPr txBox="1">
              <a:spLocks/>
            </p:cNvSpPr>
            <p:nvPr/>
          </p:nvSpPr>
          <p:spPr>
            <a:xfrm>
              <a:off x="9127091" y="3530366"/>
              <a:ext cx="1959191" cy="757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>
                  <a:solidFill>
                    <a:schemeClr val="bg1"/>
                  </a:solidFill>
                </a:rPr>
                <a:t>ROBOT MOVEMENT</a:t>
              </a:r>
              <a:br>
                <a:rPr lang="en-US" sz="2000">
                  <a:solidFill>
                    <a:schemeClr val="bg1"/>
                  </a:solidFill>
                </a:rPr>
              </a:br>
              <a:r>
                <a:rPr lang="en-US" sz="2000">
                  <a:solidFill>
                    <a:schemeClr val="bg1"/>
                  </a:solidFill>
                </a:rPr>
                <a:t>PLANAR (No Ramp)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E848776-ECA4-57FE-B5B5-24B2BF6C3FC0}"/>
                </a:ext>
              </a:extLst>
            </p:cNvPr>
            <p:cNvGrpSpPr/>
            <p:nvPr/>
          </p:nvGrpSpPr>
          <p:grpSpPr>
            <a:xfrm>
              <a:off x="9368939" y="1584189"/>
              <a:ext cx="1475489" cy="1867370"/>
              <a:chOff x="9368939" y="1584189"/>
              <a:chExt cx="1475489" cy="1867370"/>
            </a:xfrm>
          </p:grpSpPr>
          <p:pic>
            <p:nvPicPr>
              <p:cNvPr id="2056" name="Picture 8" descr="Rail icon">
                <a:extLst>
                  <a:ext uri="{FF2B5EF4-FFF2-40B4-BE49-F238E27FC236}">
                    <a16:creationId xmlns:a16="http://schemas.microsoft.com/office/drawing/2014/main" id="{2E61DEA8-A207-D349-DA9B-EC0F52ABD3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68939" y="1976070"/>
                <a:ext cx="1475489" cy="14754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60" name="Picture 12" descr="Cross icon">
                <a:extLst>
                  <a:ext uri="{FF2B5EF4-FFF2-40B4-BE49-F238E27FC236}">
                    <a16:creationId xmlns:a16="http://schemas.microsoft.com/office/drawing/2014/main" id="{EBB07A92-8A46-C3F3-E808-5F60C2516E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14803" y="1584189"/>
                <a:ext cx="783763" cy="7837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939B4D9-EA89-7B44-DAD2-31E949AB0E02}"/>
              </a:ext>
            </a:extLst>
          </p:cNvPr>
          <p:cNvGrpSpPr/>
          <p:nvPr/>
        </p:nvGrpSpPr>
        <p:grpSpPr>
          <a:xfrm>
            <a:off x="6407046" y="837113"/>
            <a:ext cx="2380536" cy="2686615"/>
            <a:chOff x="6158454" y="1651593"/>
            <a:chExt cx="2380536" cy="268661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85E939B-43F0-84EC-2F52-6217CD4935AA}"/>
                </a:ext>
              </a:extLst>
            </p:cNvPr>
            <p:cNvGrpSpPr/>
            <p:nvPr/>
          </p:nvGrpSpPr>
          <p:grpSpPr>
            <a:xfrm>
              <a:off x="6158454" y="2117640"/>
              <a:ext cx="1965961" cy="2220568"/>
              <a:chOff x="6315141" y="2261453"/>
              <a:chExt cx="1965961" cy="2220568"/>
            </a:xfrm>
          </p:grpSpPr>
          <p:pic>
            <p:nvPicPr>
              <p:cNvPr id="2054" name="Picture 6" descr="Table icon">
                <a:extLst>
                  <a:ext uri="{FF2B5EF4-FFF2-40B4-BE49-F238E27FC236}">
                    <a16:creationId xmlns:a16="http://schemas.microsoft.com/office/drawing/2014/main" id="{CB9E04BC-0656-A806-3F13-85866E554A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53230" y="2261453"/>
                <a:ext cx="1297238" cy="12972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AF9538-4D0A-7FDA-07E2-7F1003C52B40}"/>
                  </a:ext>
                </a:extLst>
              </p:cNvPr>
              <p:cNvSpPr txBox="1"/>
              <p:nvPr/>
            </p:nvSpPr>
            <p:spPr>
              <a:xfrm>
                <a:off x="6315141" y="3558691"/>
                <a:ext cx="196596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1800">
                    <a:solidFill>
                      <a:schemeClr val="bg1"/>
                    </a:solidFill>
                  </a:rPr>
                  <a:t>CAMERA</a:t>
                </a:r>
                <a:br>
                  <a:rPr lang="en-US" sz="1800">
                    <a:solidFill>
                      <a:schemeClr val="bg1"/>
                    </a:solidFill>
                  </a:rPr>
                </a:br>
                <a:r>
                  <a:rPr lang="en-US" sz="1800">
                    <a:solidFill>
                      <a:schemeClr val="bg1"/>
                    </a:solidFill>
                  </a:rPr>
                  <a:t>MOUNT ~80 CM </a:t>
                </a:r>
                <a:br>
                  <a:rPr lang="en-US" sz="1800">
                    <a:solidFill>
                      <a:schemeClr val="bg1"/>
                    </a:solidFill>
                  </a:rPr>
                </a:br>
                <a:r>
                  <a:rPr lang="en-US" sz="1800">
                    <a:solidFill>
                      <a:schemeClr val="bg1"/>
                    </a:solidFill>
                  </a:rPr>
                  <a:t>(DESK AVG.)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A084B36-3693-CD37-6867-781B434E84CD}"/>
                </a:ext>
              </a:extLst>
            </p:cNvPr>
            <p:cNvGrpSpPr/>
            <p:nvPr/>
          </p:nvGrpSpPr>
          <p:grpSpPr>
            <a:xfrm>
              <a:off x="6990339" y="1651593"/>
              <a:ext cx="1548651" cy="1733489"/>
              <a:chOff x="6990339" y="1651593"/>
              <a:chExt cx="1548651" cy="1733489"/>
            </a:xfrm>
          </p:grpSpPr>
          <p:sp>
            <p:nvSpPr>
              <p:cNvPr id="54" name="Partial Circle 53">
                <a:extLst>
                  <a:ext uri="{FF2B5EF4-FFF2-40B4-BE49-F238E27FC236}">
                    <a16:creationId xmlns:a16="http://schemas.microsoft.com/office/drawing/2014/main" id="{C1E686EE-0D2E-8352-8CE6-F62FE1AF977D}"/>
                  </a:ext>
                </a:extLst>
              </p:cNvPr>
              <p:cNvSpPr/>
              <p:nvPr/>
            </p:nvSpPr>
            <p:spPr>
              <a:xfrm rot="8158298">
                <a:off x="6990339" y="1651593"/>
                <a:ext cx="1548651" cy="1548651"/>
              </a:xfrm>
              <a:prstGeom prst="pie">
                <a:avLst>
                  <a:gd name="adj1" fmla="val 2100172"/>
                  <a:gd name="adj2" fmla="val 14023753"/>
                </a:avLst>
              </a:prstGeom>
              <a:solidFill>
                <a:srgbClr val="FFFF00">
                  <a:alpha val="3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2068" name="Picture 20" descr="Explorer icon">
                <a:extLst>
                  <a:ext uri="{FF2B5EF4-FFF2-40B4-BE49-F238E27FC236}">
                    <a16:creationId xmlns:a16="http://schemas.microsoft.com/office/drawing/2014/main" id="{60F97C0F-F039-2BB5-F3C1-D19275D75D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06025" y="2293761"/>
                <a:ext cx="1091321" cy="10913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40CAB4A-296F-203B-A66A-CFF8B44376E3}"/>
              </a:ext>
            </a:extLst>
          </p:cNvPr>
          <p:cNvGrpSpPr/>
          <p:nvPr/>
        </p:nvGrpSpPr>
        <p:grpSpPr>
          <a:xfrm>
            <a:off x="6782655" y="4105983"/>
            <a:ext cx="2404244" cy="1674800"/>
            <a:chOff x="6096000" y="4648268"/>
            <a:chExt cx="2404244" cy="1674800"/>
          </a:xfrm>
        </p:grpSpPr>
        <p:sp>
          <p:nvSpPr>
            <p:cNvPr id="10" name="Text Placeholder 5">
              <a:extLst>
                <a:ext uri="{FF2B5EF4-FFF2-40B4-BE49-F238E27FC236}">
                  <a16:creationId xmlns:a16="http://schemas.microsoft.com/office/drawing/2014/main" id="{0965282D-CFFF-5FAE-CBE0-BB786C96E0B3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5970285"/>
              <a:ext cx="2404244" cy="35278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>
                  <a:solidFill>
                    <a:schemeClr val="bg1"/>
                  </a:solidFill>
                </a:rPr>
                <a:t>ALL INTERNAL LIGHTING IS ON</a:t>
              </a:r>
            </a:p>
          </p:txBody>
        </p:sp>
        <p:pic>
          <p:nvPicPr>
            <p:cNvPr id="2072" name="Picture 24" descr="Spotlight icon">
              <a:extLst>
                <a:ext uri="{FF2B5EF4-FFF2-40B4-BE49-F238E27FC236}">
                  <a16:creationId xmlns:a16="http://schemas.microsoft.com/office/drawing/2014/main" id="{29BA5379-2C2A-EBAA-791F-9BE57D683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9760" y="4648268"/>
              <a:ext cx="1246420" cy="1246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48" name="Group 2047">
            <a:extLst>
              <a:ext uri="{FF2B5EF4-FFF2-40B4-BE49-F238E27FC236}">
                <a16:creationId xmlns:a16="http://schemas.microsoft.com/office/drawing/2014/main" id="{E60C7B62-7B44-BF92-C0A3-AA4088B2F261}"/>
              </a:ext>
            </a:extLst>
          </p:cNvPr>
          <p:cNvGrpSpPr/>
          <p:nvPr/>
        </p:nvGrpSpPr>
        <p:grpSpPr>
          <a:xfrm>
            <a:off x="9347290" y="3947893"/>
            <a:ext cx="2121976" cy="2016892"/>
            <a:chOff x="8844783" y="4574949"/>
            <a:chExt cx="2121976" cy="2016892"/>
          </a:xfrm>
        </p:grpSpPr>
        <p:pic>
          <p:nvPicPr>
            <p:cNvPr id="2074" name="Picture 26" descr="Favorite icon">
              <a:extLst>
                <a:ext uri="{FF2B5EF4-FFF2-40B4-BE49-F238E27FC236}">
                  <a16:creationId xmlns:a16="http://schemas.microsoft.com/office/drawing/2014/main" id="{0283C568-FDBF-4173-4509-4F34A3446B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4783" y="4838396"/>
              <a:ext cx="1246418" cy="12464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26" descr="Favorite icon">
              <a:extLst>
                <a:ext uri="{FF2B5EF4-FFF2-40B4-BE49-F238E27FC236}">
                  <a16:creationId xmlns:a16="http://schemas.microsoft.com/office/drawing/2014/main" id="{66F44567-3979-3D13-A473-884FFB8A60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6614" y="4574949"/>
              <a:ext cx="701708" cy="701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107ACE1-0546-A501-45E7-ABBF74BDFAEB}"/>
                </a:ext>
              </a:extLst>
            </p:cNvPr>
            <p:cNvSpPr txBox="1"/>
            <p:nvPr/>
          </p:nvSpPr>
          <p:spPr>
            <a:xfrm>
              <a:off x="8898130" y="5945510"/>
              <a:ext cx="206862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800">
                  <a:solidFill>
                    <a:schemeClr val="bg1"/>
                  </a:solidFill>
                </a:rPr>
                <a:t>IMAGE CAPTURED</a:t>
              </a:r>
            </a:p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800">
                  <a:solidFill>
                    <a:schemeClr val="bg1"/>
                  </a:solidFill>
                </a:rPr>
                <a:t>AT POINT OF INTEREST</a:t>
              </a:r>
            </a:p>
          </p:txBody>
        </p:sp>
        <p:pic>
          <p:nvPicPr>
            <p:cNvPr id="60" name="Picture 26" descr="Favorite icon">
              <a:extLst>
                <a:ext uri="{FF2B5EF4-FFF2-40B4-BE49-F238E27FC236}">
                  <a16:creationId xmlns:a16="http://schemas.microsoft.com/office/drawing/2014/main" id="{B5551F51-F5A7-0779-6126-8CC56920E1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7102" y="4849375"/>
              <a:ext cx="962720" cy="962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93808C0-CC2F-279F-215D-BE3FB4BF3A01}"/>
              </a:ext>
            </a:extLst>
          </p:cNvPr>
          <p:cNvGrpSpPr/>
          <p:nvPr/>
        </p:nvGrpSpPr>
        <p:grpSpPr>
          <a:xfrm>
            <a:off x="3444318" y="3953545"/>
            <a:ext cx="3189464" cy="1827238"/>
            <a:chOff x="3444318" y="3953545"/>
            <a:chExt cx="3189464" cy="1827238"/>
          </a:xfrm>
        </p:grpSpPr>
        <p:sp>
          <p:nvSpPr>
            <p:cNvPr id="9" name="Text Placeholder 5">
              <a:extLst>
                <a:ext uri="{FF2B5EF4-FFF2-40B4-BE49-F238E27FC236}">
                  <a16:creationId xmlns:a16="http://schemas.microsoft.com/office/drawing/2014/main" id="{26315B62-AE0F-9774-FC7D-7E02D31BED9B}"/>
                </a:ext>
              </a:extLst>
            </p:cNvPr>
            <p:cNvSpPr txBox="1">
              <a:spLocks/>
            </p:cNvSpPr>
            <p:nvPr/>
          </p:nvSpPr>
          <p:spPr>
            <a:xfrm>
              <a:off x="3878995" y="5428000"/>
              <a:ext cx="2404244" cy="35278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>
                  <a:solidFill>
                    <a:schemeClr val="bg1"/>
                  </a:solidFill>
                </a:rPr>
                <a:t>MORNING, AFTERNOON, NIGHT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6D0AE1B-136B-2BAF-56F2-9E32F460FD87}"/>
                </a:ext>
              </a:extLst>
            </p:cNvPr>
            <p:cNvGrpSpPr/>
            <p:nvPr/>
          </p:nvGrpSpPr>
          <p:grpSpPr>
            <a:xfrm>
              <a:off x="3444318" y="3953545"/>
              <a:ext cx="3189464" cy="1364909"/>
              <a:chOff x="3638453" y="4766091"/>
              <a:chExt cx="2530854" cy="1083062"/>
            </a:xfrm>
          </p:grpSpPr>
          <p:pic>
            <p:nvPicPr>
              <p:cNvPr id="1026" name="Picture 2" descr="Night office open space workplace interior design">
                <a:extLst>
                  <a:ext uri="{FF2B5EF4-FFF2-40B4-BE49-F238E27FC236}">
                    <a16:creationId xmlns:a16="http://schemas.microsoft.com/office/drawing/2014/main" id="{FB286122-A3BF-B7BC-B5E6-04252C20A7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786" r="25581"/>
              <a:stretch/>
            </p:blipFill>
            <p:spPr bwMode="auto">
              <a:xfrm>
                <a:off x="4903880" y="4766091"/>
                <a:ext cx="1265427" cy="10830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Open space office workplace interior with tables">
                <a:extLst>
                  <a:ext uri="{FF2B5EF4-FFF2-40B4-BE49-F238E27FC236}">
                    <a16:creationId xmlns:a16="http://schemas.microsoft.com/office/drawing/2014/main" id="{41E40827-7680-6008-B379-9827C4C3E0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967" r="25400"/>
              <a:stretch/>
            </p:blipFill>
            <p:spPr bwMode="auto">
              <a:xfrm>
                <a:off x="3638453" y="4766091"/>
                <a:ext cx="1265427" cy="10830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61309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4461-DC01-5533-CF17-76C8E6D4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  <a:r>
              <a:rPr lang="th-TH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F4423EA-A7CE-7ACF-E1E6-C9047A76BD57}"/>
              </a:ext>
            </a:extLst>
          </p:cNvPr>
          <p:cNvGrpSpPr/>
          <p:nvPr/>
        </p:nvGrpSpPr>
        <p:grpSpPr>
          <a:xfrm>
            <a:off x="6332054" y="168628"/>
            <a:ext cx="5469420" cy="904739"/>
            <a:chOff x="238207" y="435172"/>
            <a:chExt cx="11715585" cy="193796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39BA0D1-28C3-A25B-772A-34AE1102BA2C}"/>
                </a:ext>
              </a:extLst>
            </p:cNvPr>
            <p:cNvSpPr/>
            <p:nvPr/>
          </p:nvSpPr>
          <p:spPr>
            <a:xfrm>
              <a:off x="238207" y="435172"/>
              <a:ext cx="11715585" cy="193796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31" name="Picture 30" descr="A picture containing circle, fisheye lens, mirror, fisheye&#10;&#10;Description automatically generated">
              <a:extLst>
                <a:ext uri="{FF2B5EF4-FFF2-40B4-BE49-F238E27FC236}">
                  <a16:creationId xmlns:a16="http://schemas.microsoft.com/office/drawing/2014/main" id="{3633C475-4325-BB0E-1A59-FD92F938D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1553" y="504155"/>
              <a:ext cx="1800000" cy="1800000"/>
            </a:xfrm>
            <a:prstGeom prst="rect">
              <a:avLst/>
            </a:prstGeom>
          </p:spPr>
        </p:pic>
        <p:pic>
          <p:nvPicPr>
            <p:cNvPr id="32" name="Picture 31" descr="A fish eye view of a room&#10;&#10;Description automatically generated with low confidence">
              <a:extLst>
                <a:ext uri="{FF2B5EF4-FFF2-40B4-BE49-F238E27FC236}">
                  <a16:creationId xmlns:a16="http://schemas.microsoft.com/office/drawing/2014/main" id="{5ED149B0-9148-784F-9CD7-E8ACF852D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0967" y="504155"/>
              <a:ext cx="1800000" cy="1800000"/>
            </a:xfrm>
            <a:prstGeom prst="rect">
              <a:avLst/>
            </a:prstGeom>
          </p:spPr>
        </p:pic>
        <p:pic>
          <p:nvPicPr>
            <p:cNvPr id="33" name="Picture 32" descr="A fish eye view of a room&#10;&#10;Description automatically generated with low confidence">
              <a:extLst>
                <a:ext uri="{FF2B5EF4-FFF2-40B4-BE49-F238E27FC236}">
                  <a16:creationId xmlns:a16="http://schemas.microsoft.com/office/drawing/2014/main" id="{C82E3573-3B78-FC15-4BEF-D86B777E3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0381" y="504155"/>
              <a:ext cx="1800000" cy="1800000"/>
            </a:xfrm>
            <a:prstGeom prst="rect">
              <a:avLst/>
            </a:prstGeom>
          </p:spPr>
        </p:pic>
        <p:pic>
          <p:nvPicPr>
            <p:cNvPr id="34" name="Picture 33" descr="A close-up of a room&#10;&#10;Description automatically generated with low confidence">
              <a:extLst>
                <a:ext uri="{FF2B5EF4-FFF2-40B4-BE49-F238E27FC236}">
                  <a16:creationId xmlns:a16="http://schemas.microsoft.com/office/drawing/2014/main" id="{537CF369-1FDE-BB67-7F90-3B6DC8C83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9795" y="504155"/>
              <a:ext cx="1800000" cy="1800000"/>
            </a:xfrm>
            <a:prstGeom prst="rect">
              <a:avLst/>
            </a:prstGeom>
          </p:spPr>
        </p:pic>
        <p:pic>
          <p:nvPicPr>
            <p:cNvPr id="35" name="Picture 34" descr="A picture containing fisheye lens, circle, mirror, camera lens&#10;&#10;Description automatically generated">
              <a:extLst>
                <a:ext uri="{FF2B5EF4-FFF2-40B4-BE49-F238E27FC236}">
                  <a16:creationId xmlns:a16="http://schemas.microsoft.com/office/drawing/2014/main" id="{250E318F-DB82-53C0-075F-828B5AE28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99209" y="504155"/>
              <a:ext cx="1800000" cy="18000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A00ADF9-CE73-C3C0-456E-0938BA327B5E}"/>
                </a:ext>
              </a:extLst>
            </p:cNvPr>
            <p:cNvSpPr txBox="1"/>
            <p:nvPr/>
          </p:nvSpPr>
          <p:spPr>
            <a:xfrm>
              <a:off x="392791" y="1080989"/>
              <a:ext cx="834752" cy="665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LAB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FDDC0C3-182F-8C37-F565-F6B5F84327DF}"/>
              </a:ext>
            </a:extLst>
          </p:cNvPr>
          <p:cNvGrpSpPr/>
          <p:nvPr/>
        </p:nvGrpSpPr>
        <p:grpSpPr>
          <a:xfrm>
            <a:off x="6328756" y="1157286"/>
            <a:ext cx="5469420" cy="904739"/>
            <a:chOff x="238207" y="2543650"/>
            <a:chExt cx="11715585" cy="193796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4F9D65B-EED9-4DE9-1FB5-2C93EC61E297}"/>
                </a:ext>
              </a:extLst>
            </p:cNvPr>
            <p:cNvSpPr/>
            <p:nvPr/>
          </p:nvSpPr>
          <p:spPr>
            <a:xfrm>
              <a:off x="238207" y="2543650"/>
              <a:ext cx="11715585" cy="19379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ED8181-09D1-709E-4B96-930D6AF724ED}"/>
                </a:ext>
              </a:extLst>
            </p:cNvPr>
            <p:cNvSpPr txBox="1"/>
            <p:nvPr/>
          </p:nvSpPr>
          <p:spPr>
            <a:xfrm>
              <a:off x="349510" y="3189467"/>
              <a:ext cx="875162" cy="6650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LIFT</a:t>
              </a:r>
            </a:p>
          </p:txBody>
        </p:sp>
        <p:pic>
          <p:nvPicPr>
            <p:cNvPr id="40" name="Picture 39" descr="A close-up of a room&#10;&#10;Description automatically generated with low confidence">
              <a:extLst>
                <a:ext uri="{FF2B5EF4-FFF2-40B4-BE49-F238E27FC236}">
                  <a16:creationId xmlns:a16="http://schemas.microsoft.com/office/drawing/2014/main" id="{AE8F73AB-B0FE-98B4-E024-5457E6143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99209" y="2612633"/>
              <a:ext cx="1800000" cy="1800000"/>
            </a:xfrm>
            <a:prstGeom prst="rect">
              <a:avLst/>
            </a:prstGeom>
          </p:spPr>
        </p:pic>
        <p:pic>
          <p:nvPicPr>
            <p:cNvPr id="41" name="Picture 40" descr="A close-up of a room&#10;&#10;Description automatically generated with low confidence">
              <a:extLst>
                <a:ext uri="{FF2B5EF4-FFF2-40B4-BE49-F238E27FC236}">
                  <a16:creationId xmlns:a16="http://schemas.microsoft.com/office/drawing/2014/main" id="{958A6FEE-E8A4-DDF0-6FD3-90227E0DD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9795" y="2612633"/>
              <a:ext cx="1800000" cy="1800000"/>
            </a:xfrm>
            <a:prstGeom prst="rect">
              <a:avLst/>
            </a:prstGeom>
          </p:spPr>
        </p:pic>
        <p:pic>
          <p:nvPicPr>
            <p:cNvPr id="42" name="Picture 41" descr="A close-up of a room&#10;&#10;Description automatically generated with low confidence">
              <a:extLst>
                <a:ext uri="{FF2B5EF4-FFF2-40B4-BE49-F238E27FC236}">
                  <a16:creationId xmlns:a16="http://schemas.microsoft.com/office/drawing/2014/main" id="{F1BE660F-74D4-DEB0-52B3-94A29D941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0381" y="2612633"/>
              <a:ext cx="1800000" cy="1800000"/>
            </a:xfrm>
            <a:prstGeom prst="rect">
              <a:avLst/>
            </a:prstGeom>
          </p:spPr>
        </p:pic>
        <p:pic>
          <p:nvPicPr>
            <p:cNvPr id="43" name="Picture 42" descr="A close-up of a white room&#10;&#10;Description automatically generated with low confidence">
              <a:extLst>
                <a:ext uri="{FF2B5EF4-FFF2-40B4-BE49-F238E27FC236}">
                  <a16:creationId xmlns:a16="http://schemas.microsoft.com/office/drawing/2014/main" id="{44356C73-2BB1-55FB-5596-01D6A6B64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0967" y="2612633"/>
              <a:ext cx="1800000" cy="1800000"/>
            </a:xfrm>
            <a:prstGeom prst="rect">
              <a:avLst/>
            </a:prstGeom>
          </p:spPr>
        </p:pic>
        <p:pic>
          <p:nvPicPr>
            <p:cNvPr id="44" name="Picture 43" descr="A close-up of a white room&#10;&#10;Description automatically generated with medium confidence">
              <a:extLst>
                <a:ext uri="{FF2B5EF4-FFF2-40B4-BE49-F238E27FC236}">
                  <a16:creationId xmlns:a16="http://schemas.microsoft.com/office/drawing/2014/main" id="{CC88953B-001C-9FCC-036F-0F49E54D5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1553" y="2612633"/>
              <a:ext cx="1800000" cy="18000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AC7F66B-2321-25DE-FFF7-0B997C7B0A71}"/>
              </a:ext>
            </a:extLst>
          </p:cNvPr>
          <p:cNvGrpSpPr/>
          <p:nvPr/>
        </p:nvGrpSpPr>
        <p:grpSpPr>
          <a:xfrm>
            <a:off x="6325459" y="2134689"/>
            <a:ext cx="5472717" cy="904739"/>
            <a:chOff x="224080" y="4614101"/>
            <a:chExt cx="11722649" cy="1937966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B8002C9-7011-9EE1-F57F-B5FA4D70EDE2}"/>
                </a:ext>
              </a:extLst>
            </p:cNvPr>
            <p:cNvSpPr/>
            <p:nvPr/>
          </p:nvSpPr>
          <p:spPr>
            <a:xfrm>
              <a:off x="238207" y="4614101"/>
              <a:ext cx="11708522" cy="193796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E2EF6CA-7DA2-C050-22F2-8C202D10B79B}"/>
                </a:ext>
              </a:extLst>
            </p:cNvPr>
            <p:cNvSpPr txBox="1"/>
            <p:nvPr/>
          </p:nvSpPr>
          <p:spPr>
            <a:xfrm>
              <a:off x="224080" y="5275282"/>
              <a:ext cx="1475539" cy="554193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en-US" sz="1400" b="1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RESTROOM</a:t>
              </a:r>
            </a:p>
          </p:txBody>
        </p:sp>
        <p:pic>
          <p:nvPicPr>
            <p:cNvPr id="48" name="Picture 47" descr="A close-up of a circular object&#10;&#10;Description automatically generated with low confidence">
              <a:extLst>
                <a:ext uri="{FF2B5EF4-FFF2-40B4-BE49-F238E27FC236}">
                  <a16:creationId xmlns:a16="http://schemas.microsoft.com/office/drawing/2014/main" id="{FC6990E4-BEDA-E020-5207-1ED2A6585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0510" y="4696144"/>
              <a:ext cx="1800000" cy="1800000"/>
            </a:xfrm>
            <a:prstGeom prst="rect">
              <a:avLst/>
            </a:prstGeom>
          </p:spPr>
        </p:pic>
        <p:pic>
          <p:nvPicPr>
            <p:cNvPr id="49" name="Picture 48" descr="A close-up of a room&#10;&#10;Description automatically generated with low confidence">
              <a:extLst>
                <a:ext uri="{FF2B5EF4-FFF2-40B4-BE49-F238E27FC236}">
                  <a16:creationId xmlns:a16="http://schemas.microsoft.com/office/drawing/2014/main" id="{260BFF75-ECE8-44AE-9FF0-9FB237C21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8270" y="4696144"/>
              <a:ext cx="1800000" cy="1800000"/>
            </a:xfrm>
            <a:prstGeom prst="rect">
              <a:avLst/>
            </a:prstGeom>
          </p:spPr>
        </p:pic>
        <p:pic>
          <p:nvPicPr>
            <p:cNvPr id="50" name="Picture 49" descr="A close-up of a room&#10;&#10;Description automatically generated with low confidence">
              <a:extLst>
                <a:ext uri="{FF2B5EF4-FFF2-40B4-BE49-F238E27FC236}">
                  <a16:creationId xmlns:a16="http://schemas.microsoft.com/office/drawing/2014/main" id="{F7D2CBB4-6104-755E-B275-BE787A36B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6031" y="4696144"/>
              <a:ext cx="1800000" cy="1800000"/>
            </a:xfrm>
            <a:prstGeom prst="rect">
              <a:avLst/>
            </a:prstGeom>
          </p:spPr>
        </p:pic>
        <p:pic>
          <p:nvPicPr>
            <p:cNvPr id="51" name="Picture 50" descr="A picture containing circle, fisheye lens, fisheye, indoor&#10;&#10;Description automatically generated">
              <a:extLst>
                <a:ext uri="{FF2B5EF4-FFF2-40B4-BE49-F238E27FC236}">
                  <a16:creationId xmlns:a16="http://schemas.microsoft.com/office/drawing/2014/main" id="{2C538024-B635-5217-07D1-87987BFF0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3792" y="4696144"/>
              <a:ext cx="1800000" cy="1800000"/>
            </a:xfrm>
            <a:prstGeom prst="rect">
              <a:avLst/>
            </a:prstGeom>
          </p:spPr>
        </p:pic>
        <p:pic>
          <p:nvPicPr>
            <p:cNvPr id="52" name="Picture 51" descr="A picture containing circle, fisheye lens, indoor, mirror&#10;&#10;Description automatically generated">
              <a:extLst>
                <a:ext uri="{FF2B5EF4-FFF2-40B4-BE49-F238E27FC236}">
                  <a16:creationId xmlns:a16="http://schemas.microsoft.com/office/drawing/2014/main" id="{7F53C73F-6E42-C3FC-517B-82BBAC4E6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1553" y="4696144"/>
              <a:ext cx="1800000" cy="1800000"/>
            </a:xfrm>
            <a:prstGeom prst="rect">
              <a:avLst/>
            </a:prstGeom>
          </p:spPr>
        </p:pic>
      </p:grp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A27B96E1-E72D-E6DE-C504-11535DE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24296" cy="46672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Possible Locations</a:t>
            </a:r>
          </a:p>
          <a:p>
            <a:pPr lvl="1"/>
            <a:r>
              <a:rPr lang="en-US" sz="2800">
                <a:solidFill>
                  <a:schemeClr val="bg1"/>
                </a:solidFill>
              </a:rPr>
              <a:t>Engineering Building</a:t>
            </a:r>
          </a:p>
          <a:p>
            <a:pPr lvl="2"/>
            <a:r>
              <a:rPr lang="en-US" sz="2400">
                <a:solidFill>
                  <a:schemeClr val="bg1"/>
                </a:solidFill>
              </a:rPr>
              <a:t>Building 4 – Floor 20 (LAB)</a:t>
            </a:r>
          </a:p>
          <a:p>
            <a:pPr lvl="2"/>
            <a:r>
              <a:rPr lang="en-US" sz="2400">
                <a:solidFill>
                  <a:schemeClr val="bg1"/>
                </a:solidFill>
              </a:rPr>
              <a:t>Building 4 – Floor 17 (Administration)</a:t>
            </a:r>
          </a:p>
          <a:p>
            <a:pPr lvl="2"/>
            <a:r>
              <a:rPr lang="en-US" sz="2400">
                <a:solidFill>
                  <a:schemeClr val="bg1"/>
                </a:solidFill>
              </a:rPr>
              <a:t>Building 3 – Floor 1  (Larger Area)</a:t>
            </a:r>
          </a:p>
          <a:p>
            <a:pPr lvl="2"/>
            <a:endParaRPr lang="en-US" sz="2400">
              <a:solidFill>
                <a:schemeClr val="bg1"/>
              </a:solidFill>
            </a:endParaRPr>
          </a:p>
          <a:p>
            <a:r>
              <a:rPr lang="en-US" sz="3200">
                <a:solidFill>
                  <a:schemeClr val="bg1"/>
                </a:solidFill>
              </a:rPr>
              <a:t>“SAME PLACE”</a:t>
            </a:r>
            <a:endParaRPr lang="th-TH" sz="3200">
              <a:solidFill>
                <a:schemeClr val="bg1"/>
              </a:solidFill>
            </a:endParaRPr>
          </a:p>
          <a:p>
            <a:pPr lvl="1"/>
            <a:r>
              <a:rPr lang="en-US" sz="2800">
                <a:solidFill>
                  <a:schemeClr val="bg1"/>
                </a:solidFill>
              </a:rPr>
              <a:t>Within X Meters RADIUS</a:t>
            </a:r>
          </a:p>
          <a:p>
            <a:pPr lvl="1"/>
            <a:r>
              <a:rPr lang="en-US" sz="2800">
                <a:solidFill>
                  <a:schemeClr val="bg1"/>
                </a:solidFill>
              </a:rPr>
              <a:t>Viewing Direction is Ignored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2638FC-DE4D-2590-8E93-2D7D5ECA4274}"/>
              </a:ext>
            </a:extLst>
          </p:cNvPr>
          <p:cNvCxnSpPr>
            <a:cxnSpLocks/>
          </p:cNvCxnSpPr>
          <p:nvPr/>
        </p:nvCxnSpPr>
        <p:spPr>
          <a:xfrm>
            <a:off x="6441636" y="5005137"/>
            <a:ext cx="54568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10B3BB-D444-E4D2-1178-BE9F8CDAF41D}"/>
              </a:ext>
            </a:extLst>
          </p:cNvPr>
          <p:cNvCxnSpPr>
            <a:cxnSpLocks/>
          </p:cNvCxnSpPr>
          <p:nvPr/>
        </p:nvCxnSpPr>
        <p:spPr>
          <a:xfrm>
            <a:off x="5978946" y="5639239"/>
            <a:ext cx="5412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9EDDECC-6E24-13CB-4ADA-440D90247F27}"/>
              </a:ext>
            </a:extLst>
          </p:cNvPr>
          <p:cNvSpPr/>
          <p:nvPr/>
        </p:nvSpPr>
        <p:spPr>
          <a:xfrm>
            <a:off x="6418206" y="5004700"/>
            <a:ext cx="1717390" cy="634539"/>
          </a:xfrm>
          <a:prstGeom prst="ellipse">
            <a:avLst/>
          </a:prstGeom>
          <a:solidFill>
            <a:srgbClr val="843C0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4CD5D79-A546-9948-AB38-85D197EAF392}"/>
              </a:ext>
            </a:extLst>
          </p:cNvPr>
          <p:cNvSpPr/>
          <p:nvPr/>
        </p:nvSpPr>
        <p:spPr>
          <a:xfrm>
            <a:off x="8478170" y="5000615"/>
            <a:ext cx="1717390" cy="6345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EE8F53-D958-6239-A386-0A8C8FDC0ED2}"/>
              </a:ext>
            </a:extLst>
          </p:cNvPr>
          <p:cNvSpPr/>
          <p:nvPr/>
        </p:nvSpPr>
        <p:spPr>
          <a:xfrm>
            <a:off x="10489273" y="5005575"/>
            <a:ext cx="1569959" cy="61539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A0A5C6-36C2-2518-1360-68B6E4A9D6AD}"/>
              </a:ext>
            </a:extLst>
          </p:cNvPr>
          <p:cNvSpPr/>
          <p:nvPr/>
        </p:nvSpPr>
        <p:spPr>
          <a:xfrm>
            <a:off x="8321776" y="3764973"/>
            <a:ext cx="2339719" cy="12383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4FEDACA9-848D-BB98-A490-20B91079BD0C}"/>
              </a:ext>
            </a:extLst>
          </p:cNvPr>
          <p:cNvSpPr/>
          <p:nvPr/>
        </p:nvSpPr>
        <p:spPr>
          <a:xfrm>
            <a:off x="7229673" y="5153733"/>
            <a:ext cx="905923" cy="3175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206538-8E8A-6632-DECC-86A26A3A04AA}"/>
              </a:ext>
            </a:extLst>
          </p:cNvPr>
          <p:cNvSpPr txBox="1"/>
          <p:nvPr/>
        </p:nvSpPr>
        <p:spPr>
          <a:xfrm>
            <a:off x="7501595" y="5303697"/>
            <a:ext cx="236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X</a:t>
            </a:r>
          </a:p>
        </p:txBody>
      </p:sp>
      <p:pic>
        <p:nvPicPr>
          <p:cNvPr id="12" name="Picture 20" descr="Explorer icon">
            <a:extLst>
              <a:ext uri="{FF2B5EF4-FFF2-40B4-BE49-F238E27FC236}">
                <a16:creationId xmlns:a16="http://schemas.microsoft.com/office/drawing/2014/main" id="{F0BF00B0-D8A3-9B0A-617C-59974F34B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565" y="3978316"/>
            <a:ext cx="1398246" cy="1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F03C33-F69C-4453-517A-AC5A92D7ACA0}"/>
              </a:ext>
            </a:extLst>
          </p:cNvPr>
          <p:cNvCxnSpPr>
            <a:cxnSpLocks/>
            <a:stCxn id="13" idx="7"/>
            <a:endCxn id="8" idx="2"/>
          </p:cNvCxnSpPr>
          <p:nvPr/>
        </p:nvCxnSpPr>
        <p:spPr>
          <a:xfrm>
            <a:off x="8135596" y="5312523"/>
            <a:ext cx="342574" cy="5362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BF4F5B-DE97-84B0-5B73-EAE474CAA22C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10195560" y="5313271"/>
            <a:ext cx="293713" cy="461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B418FAA0-FEFF-A5FD-42C4-E64E9BF0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20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165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9472-68CC-AF8A-684F-D71D6E08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Preliminary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37D32-A404-4310-ABC9-0A0EDC450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329" y="1648765"/>
            <a:ext cx="5602856" cy="47908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cs typeface="TH Sarabun New"/>
              </a:rPr>
              <a:t>Experiment on Simple Toy Dataset</a:t>
            </a:r>
            <a:endParaRPr lang="th-TH">
              <a:solidFill>
                <a:schemeClr val="bg1"/>
              </a:solidFill>
              <a:cs typeface="TH Sarabun New"/>
            </a:endParaRPr>
          </a:p>
          <a:p>
            <a:pPr lvl="1"/>
            <a:r>
              <a:rPr lang="en-US">
                <a:solidFill>
                  <a:schemeClr val="bg1"/>
                </a:solidFill>
                <a:cs typeface="TH Sarabun New"/>
              </a:rPr>
              <a:t>Webcam Image (Pinhole Camera)</a:t>
            </a:r>
            <a:endParaRPr lang="th-TH">
              <a:solidFill>
                <a:schemeClr val="bg1"/>
              </a:solidFill>
              <a:cs typeface="TH Sarabun New"/>
            </a:endParaRPr>
          </a:p>
          <a:p>
            <a:pPr lvl="1"/>
            <a:r>
              <a:rPr lang="en-US">
                <a:solidFill>
                  <a:schemeClr val="bg1"/>
                </a:solidFill>
                <a:cs typeface="TH Sarabun New"/>
              </a:rPr>
              <a:t>Collect Data from Floor 20 Building 4</a:t>
            </a:r>
            <a:endParaRPr lang="th-TH">
              <a:solidFill>
                <a:schemeClr val="bg1"/>
              </a:solidFill>
              <a:cs typeface="TH Sarabun New"/>
            </a:endParaRPr>
          </a:p>
          <a:p>
            <a:pPr lvl="2"/>
            <a:r>
              <a:rPr lang="en-US" sz="1800">
                <a:solidFill>
                  <a:schemeClr val="bg1"/>
                </a:solidFill>
                <a:cs typeface="TH Sarabun New"/>
              </a:rPr>
              <a:t>Front of ISL2 Lab </a:t>
            </a:r>
          </a:p>
          <a:p>
            <a:pPr lvl="2"/>
            <a:r>
              <a:rPr lang="en-US" sz="1800">
                <a:solidFill>
                  <a:schemeClr val="bg1"/>
                </a:solidFill>
                <a:cs typeface="TH Sarabun New"/>
              </a:rPr>
              <a:t>Elevator Hall </a:t>
            </a:r>
            <a:endParaRPr lang="th-TH" sz="1800">
              <a:solidFill>
                <a:schemeClr val="bg1"/>
              </a:solidFill>
              <a:cs typeface="TH Sarabun New"/>
            </a:endParaRPr>
          </a:p>
          <a:p>
            <a:pPr lvl="2"/>
            <a:r>
              <a:rPr lang="en-US" sz="1800">
                <a:solidFill>
                  <a:schemeClr val="bg1"/>
                </a:solidFill>
                <a:cs typeface="TH Sarabun New"/>
              </a:rPr>
              <a:t>Men Restroom Hallway</a:t>
            </a:r>
            <a:br>
              <a:rPr lang="th-TH" sz="1800">
                <a:solidFill>
                  <a:schemeClr val="bg1"/>
                </a:solidFill>
                <a:cs typeface="TH Sarabun New"/>
              </a:rPr>
            </a:br>
            <a:endParaRPr lang="en-US" sz="1800">
              <a:solidFill>
                <a:schemeClr val="bg1"/>
              </a:solidFill>
              <a:cs typeface="TH Sarabun New"/>
            </a:endParaRPr>
          </a:p>
          <a:p>
            <a:r>
              <a:rPr lang="en-US">
                <a:solidFill>
                  <a:schemeClr val="bg1"/>
                </a:solidFill>
                <a:cs typeface="TH Sarabun New"/>
              </a:rPr>
              <a:t>Train Global Descriptor with NetVLAD</a:t>
            </a:r>
            <a:br>
              <a:rPr lang="en-US">
                <a:solidFill>
                  <a:schemeClr val="bg1"/>
                </a:solidFill>
                <a:cs typeface="TH Sarabun New"/>
              </a:rPr>
            </a:br>
            <a:r>
              <a:rPr lang="en-US">
                <a:solidFill>
                  <a:schemeClr val="bg1"/>
                </a:solidFill>
                <a:cs typeface="TH Sarabun New"/>
              </a:rPr>
              <a:t>Default Architecture (VGG16 + NetVLAD)</a:t>
            </a:r>
          </a:p>
          <a:p>
            <a:r>
              <a:rPr lang="en-US">
                <a:solidFill>
                  <a:schemeClr val="bg1"/>
                </a:solidFill>
                <a:cs typeface="TH Sarabun New"/>
              </a:rPr>
              <a:t>Compare the result from transfer learning</a:t>
            </a:r>
          </a:p>
          <a:p>
            <a:pPr lvl="1"/>
            <a:r>
              <a:rPr lang="en-US">
                <a:solidFill>
                  <a:schemeClr val="bg1"/>
                </a:solidFill>
                <a:cs typeface="TH Sarabun New"/>
              </a:rPr>
              <a:t>Fine-Tuning with Our Custom Dataset</a:t>
            </a:r>
          </a:p>
          <a:p>
            <a:pPr lvl="1"/>
            <a:r>
              <a:rPr lang="en-US">
                <a:solidFill>
                  <a:schemeClr val="bg1"/>
                </a:solidFill>
                <a:cs typeface="TH Sarabun New"/>
              </a:rPr>
              <a:t>Non-Fine Tuning (Off the Shelf) Training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C26719-169D-3FBF-95FB-DF84D5D47FF0}"/>
              </a:ext>
            </a:extLst>
          </p:cNvPr>
          <p:cNvGrpSpPr/>
          <p:nvPr/>
        </p:nvGrpSpPr>
        <p:grpSpPr>
          <a:xfrm>
            <a:off x="5672369" y="1314507"/>
            <a:ext cx="6389030" cy="3903397"/>
            <a:chOff x="5672369" y="350677"/>
            <a:chExt cx="6389030" cy="390339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DF86FEC-77C7-C9DF-EE0F-7E6127808F92}"/>
                </a:ext>
              </a:extLst>
            </p:cNvPr>
            <p:cNvGrpSpPr/>
            <p:nvPr/>
          </p:nvGrpSpPr>
          <p:grpSpPr>
            <a:xfrm>
              <a:off x="5672369" y="1058605"/>
              <a:ext cx="6389030" cy="1056859"/>
              <a:chOff x="294290" y="544229"/>
              <a:chExt cx="11715585" cy="1937966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D2AC677-2182-B0FE-B690-8D12F25C6166}"/>
                  </a:ext>
                </a:extLst>
              </p:cNvPr>
              <p:cNvSpPr/>
              <p:nvPr/>
            </p:nvSpPr>
            <p:spPr>
              <a:xfrm>
                <a:off x="294290" y="544229"/>
                <a:ext cx="11715585" cy="1937966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pic>
            <p:nvPicPr>
              <p:cNvPr id="31" name="Picture 30" descr="A picture containing indoor, furniture, floor, door&#10;&#10;Description automatically generated">
                <a:extLst>
                  <a:ext uri="{FF2B5EF4-FFF2-40B4-BE49-F238E27FC236}">
                    <a16:creationId xmlns:a16="http://schemas.microsoft.com/office/drawing/2014/main" id="{4B35DFD8-C2A5-D321-67CF-F0CE0401D8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65194" y="826850"/>
                <a:ext cx="1987844" cy="1490885"/>
              </a:xfrm>
              <a:prstGeom prst="rect">
                <a:avLst/>
              </a:prstGeom>
            </p:spPr>
          </p:pic>
          <p:pic>
            <p:nvPicPr>
              <p:cNvPr id="32" name="Picture 31" descr="A picture containing indoor, floor, door, flooring&#10;&#10;Description automatically generated">
                <a:extLst>
                  <a:ext uri="{FF2B5EF4-FFF2-40B4-BE49-F238E27FC236}">
                    <a16:creationId xmlns:a16="http://schemas.microsoft.com/office/drawing/2014/main" id="{4142C9BD-BE03-ED19-CB82-2AA6978934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34557" y="826850"/>
                <a:ext cx="1987844" cy="1490885"/>
              </a:xfrm>
              <a:prstGeom prst="rect">
                <a:avLst/>
              </a:prstGeom>
            </p:spPr>
          </p:pic>
          <p:pic>
            <p:nvPicPr>
              <p:cNvPr id="33" name="Picture 32" descr="A picture containing indoor, floor, door, shelf&#10;&#10;Description automatically generated">
                <a:extLst>
                  <a:ext uri="{FF2B5EF4-FFF2-40B4-BE49-F238E27FC236}">
                    <a16:creationId xmlns:a16="http://schemas.microsoft.com/office/drawing/2014/main" id="{BA5B7A1C-FA05-7169-3F79-7DDF3769E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12130" y="826850"/>
                <a:ext cx="1987844" cy="1490885"/>
              </a:xfrm>
              <a:prstGeom prst="rect">
                <a:avLst/>
              </a:prstGeom>
            </p:spPr>
          </p:pic>
          <p:pic>
            <p:nvPicPr>
              <p:cNvPr id="34" name="Picture 33" descr="A picture containing indoor, shelf, book, shelving&#10;&#10;Description automatically generated">
                <a:extLst>
                  <a:ext uri="{FF2B5EF4-FFF2-40B4-BE49-F238E27FC236}">
                    <a16:creationId xmlns:a16="http://schemas.microsoft.com/office/drawing/2014/main" id="{F9DC1606-5229-3A2A-DF93-9A6B29543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81493" y="826850"/>
                <a:ext cx="1987844" cy="1490885"/>
              </a:xfrm>
              <a:prstGeom prst="rect">
                <a:avLst/>
              </a:prstGeom>
            </p:spPr>
          </p:pic>
          <p:pic>
            <p:nvPicPr>
              <p:cNvPr id="35" name="Picture 34" descr="A blue refrigerator in a room&#10;&#10;Description automatically generated with low confidence">
                <a:extLst>
                  <a:ext uri="{FF2B5EF4-FFF2-40B4-BE49-F238E27FC236}">
                    <a16:creationId xmlns:a16="http://schemas.microsoft.com/office/drawing/2014/main" id="{F66E0A00-AB15-DDDB-5D5B-D6627C9BA6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50855" y="826850"/>
                <a:ext cx="1987844" cy="1490885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8824BAE-CB71-7B11-6A8E-9F67FE5C15F2}"/>
                  </a:ext>
                </a:extLst>
              </p:cNvPr>
              <p:cNvSpPr txBox="1"/>
              <p:nvPr/>
            </p:nvSpPr>
            <p:spPr>
              <a:xfrm>
                <a:off x="587008" y="1230091"/>
                <a:ext cx="975547" cy="792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>
                    <a:solidFill>
                      <a:schemeClr val="bg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LAB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2A071EE-A47F-CA7A-DCFD-85A5A2D51F07}"/>
                </a:ext>
              </a:extLst>
            </p:cNvPr>
            <p:cNvGrpSpPr/>
            <p:nvPr/>
          </p:nvGrpSpPr>
          <p:grpSpPr>
            <a:xfrm>
              <a:off x="5672369" y="2127603"/>
              <a:ext cx="6389030" cy="1056859"/>
              <a:chOff x="294290" y="2579165"/>
              <a:chExt cx="11715585" cy="193796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1CE8BD7-39A3-B6B3-3945-64D897930F5D}"/>
                  </a:ext>
                </a:extLst>
              </p:cNvPr>
              <p:cNvSpPr/>
              <p:nvPr/>
            </p:nvSpPr>
            <p:spPr>
              <a:xfrm>
                <a:off x="294290" y="2579165"/>
                <a:ext cx="11715585" cy="19379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pic>
            <p:nvPicPr>
              <p:cNvPr id="39" name="Picture 38" descr="A picture containing indoor, flooring, ceiling, cleanliness&#10;&#10;Description automatically generated">
                <a:extLst>
                  <a:ext uri="{FF2B5EF4-FFF2-40B4-BE49-F238E27FC236}">
                    <a16:creationId xmlns:a16="http://schemas.microsoft.com/office/drawing/2014/main" id="{6B68AF3F-CABA-5E3A-182D-4FD74ADD8F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2641" y="2839527"/>
                <a:ext cx="1987844" cy="1490885"/>
              </a:xfrm>
              <a:prstGeom prst="rect">
                <a:avLst/>
              </a:prstGeom>
            </p:spPr>
          </p:pic>
          <p:pic>
            <p:nvPicPr>
              <p:cNvPr id="40" name="Picture 39" descr="A person standing in a hallway&#10;&#10;Description automatically generated with low confidence">
                <a:extLst>
                  <a:ext uri="{FF2B5EF4-FFF2-40B4-BE49-F238E27FC236}">
                    <a16:creationId xmlns:a16="http://schemas.microsoft.com/office/drawing/2014/main" id="{9F236D79-21DD-F2B5-9388-DBA2BDDC3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3280" y="2839527"/>
                <a:ext cx="1987844" cy="1490885"/>
              </a:xfrm>
              <a:prstGeom prst="rect">
                <a:avLst/>
              </a:prstGeom>
            </p:spPr>
          </p:pic>
          <p:pic>
            <p:nvPicPr>
              <p:cNvPr id="41" name="Picture 40" descr="An elevator in a building&#10;&#10;Description automatically generated with low confidence">
                <a:extLst>
                  <a:ext uri="{FF2B5EF4-FFF2-40B4-BE49-F238E27FC236}">
                    <a16:creationId xmlns:a16="http://schemas.microsoft.com/office/drawing/2014/main" id="{75943286-AC5D-4446-14B7-CC0E64835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65194" y="2839527"/>
                <a:ext cx="1987844" cy="1490885"/>
              </a:xfrm>
              <a:prstGeom prst="rect">
                <a:avLst/>
              </a:prstGeom>
            </p:spPr>
          </p:pic>
          <p:pic>
            <p:nvPicPr>
              <p:cNvPr id="42" name="Picture 41" descr="A picture containing indoor, floor, flooring, fixture&#10;&#10;Description automatically generated">
                <a:extLst>
                  <a:ext uri="{FF2B5EF4-FFF2-40B4-BE49-F238E27FC236}">
                    <a16:creationId xmlns:a16="http://schemas.microsoft.com/office/drawing/2014/main" id="{584F7CB7-4E75-3D83-3197-FA3224C910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34557" y="2839527"/>
                <a:ext cx="1987844" cy="1490885"/>
              </a:xfrm>
              <a:prstGeom prst="rect">
                <a:avLst/>
              </a:prstGeom>
            </p:spPr>
          </p:pic>
          <p:pic>
            <p:nvPicPr>
              <p:cNvPr id="43" name="Picture 42" descr="A picture containing indoor, floor, flooring, fixture&#10;&#10;Description automatically generated">
                <a:extLst>
                  <a:ext uri="{FF2B5EF4-FFF2-40B4-BE49-F238E27FC236}">
                    <a16:creationId xmlns:a16="http://schemas.microsoft.com/office/drawing/2014/main" id="{C0743FBE-E407-B772-0102-FCF9A8E52B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03917" y="2839527"/>
                <a:ext cx="1987844" cy="1490885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6932D02-8502-4C2D-D8E5-4D26684277BC}"/>
                  </a:ext>
                </a:extLst>
              </p:cNvPr>
              <p:cNvSpPr txBox="1"/>
              <p:nvPr/>
            </p:nvSpPr>
            <p:spPr>
              <a:xfrm>
                <a:off x="562913" y="3206796"/>
                <a:ext cx="1023181" cy="792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>
                    <a:solidFill>
                      <a:schemeClr val="bg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LIFT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D8ED9C5-D1D8-100A-BEEC-65265EC277CE}"/>
                </a:ext>
              </a:extLst>
            </p:cNvPr>
            <p:cNvGrpSpPr/>
            <p:nvPr/>
          </p:nvGrpSpPr>
          <p:grpSpPr>
            <a:xfrm>
              <a:off x="5672369" y="3197215"/>
              <a:ext cx="6389030" cy="1056859"/>
              <a:chOff x="287227" y="4614101"/>
              <a:chExt cx="11715586" cy="193796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1F6C387-39BF-C97E-5927-6097F1047829}"/>
                  </a:ext>
                </a:extLst>
              </p:cNvPr>
              <p:cNvSpPr/>
              <p:nvPr/>
            </p:nvSpPr>
            <p:spPr>
              <a:xfrm>
                <a:off x="294291" y="4614101"/>
                <a:ext cx="11708522" cy="1937966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pic>
            <p:nvPicPr>
              <p:cNvPr id="47" name="Picture 46" descr="A person walking in a hallway&#10;&#10;Description automatically generated with low confidence">
                <a:extLst>
                  <a:ext uri="{FF2B5EF4-FFF2-40B4-BE49-F238E27FC236}">
                    <a16:creationId xmlns:a16="http://schemas.microsoft.com/office/drawing/2014/main" id="{A2113550-36E9-82DA-5165-B1A3AA5B3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58134" y="4919292"/>
                <a:ext cx="1992333" cy="1494252"/>
              </a:xfrm>
              <a:prstGeom prst="rect">
                <a:avLst/>
              </a:prstGeom>
            </p:spPr>
          </p:pic>
          <p:pic>
            <p:nvPicPr>
              <p:cNvPr id="48" name="Picture 47" descr="A picture containing indoor, flooring, fixture, floor&#10;&#10;Description automatically generated">
                <a:extLst>
                  <a:ext uri="{FF2B5EF4-FFF2-40B4-BE49-F238E27FC236}">
                    <a16:creationId xmlns:a16="http://schemas.microsoft.com/office/drawing/2014/main" id="{75461DA7-D7D0-DCDC-1B4B-AE9C95086F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6221" y="4919292"/>
                <a:ext cx="1992333" cy="1494252"/>
              </a:xfrm>
              <a:prstGeom prst="rect">
                <a:avLst/>
              </a:prstGeom>
            </p:spPr>
          </p:pic>
          <p:pic>
            <p:nvPicPr>
              <p:cNvPr id="49" name="Picture 48" descr="A picture containing indoor, fixture, flooring, building&#10;&#10;Description automatically generated">
                <a:extLst>
                  <a:ext uri="{FF2B5EF4-FFF2-40B4-BE49-F238E27FC236}">
                    <a16:creationId xmlns:a16="http://schemas.microsoft.com/office/drawing/2014/main" id="{B7B564B0-0C87-3F83-88FB-BF62B9C1AE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96858" y="4919292"/>
                <a:ext cx="1992333" cy="1494252"/>
              </a:xfrm>
              <a:prstGeom prst="rect">
                <a:avLst/>
              </a:prstGeom>
            </p:spPr>
          </p:pic>
          <p:pic>
            <p:nvPicPr>
              <p:cNvPr id="50" name="Picture 49" descr="A picture containing building, flooring, fixture, architecture&#10;&#10;Description automatically generated">
                <a:extLst>
                  <a:ext uri="{FF2B5EF4-FFF2-40B4-BE49-F238E27FC236}">
                    <a16:creationId xmlns:a16="http://schemas.microsoft.com/office/drawing/2014/main" id="{D49D5727-07DD-067B-D18E-7500C89907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27498" y="4919292"/>
                <a:ext cx="1992333" cy="1494252"/>
              </a:xfrm>
              <a:prstGeom prst="rect">
                <a:avLst/>
              </a:prstGeom>
            </p:spPr>
          </p:pic>
          <p:pic>
            <p:nvPicPr>
              <p:cNvPr id="51" name="Picture 50" descr="A picture containing door, fixture, indoor, floor&#10;&#10;Description automatically generated">
                <a:extLst>
                  <a:ext uri="{FF2B5EF4-FFF2-40B4-BE49-F238E27FC236}">
                    <a16:creationId xmlns:a16="http://schemas.microsoft.com/office/drawing/2014/main" id="{2332F20E-B5B1-A29F-E491-73543C03AA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35581" y="4919292"/>
                <a:ext cx="1992333" cy="1494252"/>
              </a:xfrm>
              <a:prstGeom prst="rect">
                <a:avLst/>
              </a:prstGeom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3D227D4-EE16-96BD-ED41-4953920B6AD0}"/>
                  </a:ext>
                </a:extLst>
              </p:cNvPr>
              <p:cNvSpPr txBox="1"/>
              <p:nvPr/>
            </p:nvSpPr>
            <p:spPr>
              <a:xfrm>
                <a:off x="287227" y="5368036"/>
                <a:ext cx="1623368" cy="60971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r>
                  <a:rPr lang="en-US" sz="1400" b="1">
                    <a:solidFill>
                      <a:schemeClr val="bg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RESTROOM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99AF70-FE57-F81F-9688-27491AF43C1B}"/>
                </a:ext>
              </a:extLst>
            </p:cNvPr>
            <p:cNvSpPr/>
            <p:nvPr/>
          </p:nvSpPr>
          <p:spPr>
            <a:xfrm>
              <a:off x="6727742" y="350677"/>
              <a:ext cx="4278283" cy="6878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PINHOLE IMAGE DATASET</a:t>
              </a:r>
            </a:p>
            <a:p>
              <a:pPr algn="ctr"/>
              <a:r>
                <a:rPr lang="en-US" sz="2400" b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“ISL2 – 3 PLACES”</a:t>
              </a:r>
            </a:p>
          </p:txBody>
        </p:sp>
      </p:grp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D55B778-9E48-99F1-551D-715D511E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21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357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36A8FF-E6D9-55E2-9462-A08F66519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470" y="1171030"/>
            <a:ext cx="5108219" cy="170274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BCE16B-32B7-A4EF-5D5D-AED8A278729E}"/>
              </a:ext>
            </a:extLst>
          </p:cNvPr>
          <p:cNvSpPr/>
          <p:nvPr/>
        </p:nvSpPr>
        <p:spPr>
          <a:xfrm>
            <a:off x="7775133" y="256036"/>
            <a:ext cx="2850139" cy="68747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Result Fine-Tuned</a:t>
            </a:r>
          </a:p>
          <a:p>
            <a:pPr algn="ctr"/>
            <a:r>
              <a:rPr lang="en-US"/>
              <a:t>All Correct @5 = 72.414%</a:t>
            </a:r>
          </a:p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2E9909-D0B0-4C48-ABB9-09EBD5E3025D}"/>
              </a:ext>
            </a:extLst>
          </p:cNvPr>
          <p:cNvSpPr/>
          <p:nvPr/>
        </p:nvSpPr>
        <p:spPr>
          <a:xfrm>
            <a:off x="1591438" y="256036"/>
            <a:ext cx="2850139" cy="6874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/>
              <a:t>Result Non-Fine-Tuned</a:t>
            </a:r>
          </a:p>
          <a:p>
            <a:pPr algn="ctr"/>
            <a:r>
              <a:rPr lang="en-US"/>
              <a:t>All Correct@5 = 48.276%</a:t>
            </a:r>
          </a:p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0CB862-D071-FEE8-F1F4-491E81414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467" y="2634141"/>
            <a:ext cx="5108222" cy="1702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4CF137-08A8-DB32-F09A-F864F3833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825" y="1171030"/>
            <a:ext cx="5108224" cy="17027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D0D056-351F-A782-C0BC-B2EBC8B8B02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9523"/>
          <a:stretch/>
        </p:blipFill>
        <p:spPr>
          <a:xfrm>
            <a:off x="6726467" y="4071039"/>
            <a:ext cx="5108222" cy="1370317"/>
          </a:xfrm>
          <a:prstGeom prst="rect">
            <a:avLst/>
          </a:prstGeom>
        </p:spPr>
      </p:pic>
      <p:pic>
        <p:nvPicPr>
          <p:cNvPr id="16" name="Picture 15" descr="A picture containing screenshot, door, text&#10;&#10;Description automatically generated">
            <a:extLst>
              <a:ext uri="{FF2B5EF4-FFF2-40B4-BE49-F238E27FC236}">
                <a16:creationId xmlns:a16="http://schemas.microsoft.com/office/drawing/2014/main" id="{39FEE879-F03F-7E3D-6D1A-E604D2F03A8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6"/>
          <a:stretch/>
        </p:blipFill>
        <p:spPr>
          <a:xfrm>
            <a:off x="408820" y="3984531"/>
            <a:ext cx="5108227" cy="14336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78515E0-E161-5035-1942-AB462260D9A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7974"/>
          <a:stretch/>
        </p:blipFill>
        <p:spPr>
          <a:xfrm>
            <a:off x="408823" y="2597857"/>
            <a:ext cx="5108227" cy="1396689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11A664D9-2777-F11C-0F3E-756508DCD87D}"/>
              </a:ext>
            </a:extLst>
          </p:cNvPr>
          <p:cNvSpPr/>
          <p:nvPr/>
        </p:nvSpPr>
        <p:spPr>
          <a:xfrm>
            <a:off x="4602892" y="383059"/>
            <a:ext cx="3015049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1775F6C-100B-38F4-EA91-46D7A0DF7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3213" y="5676145"/>
            <a:ext cx="8345574" cy="9081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</a:rPr>
              <a:t>Fine Tuning CNN to Own Image Domain improve the result</a:t>
            </a:r>
          </a:p>
          <a:p>
            <a:pPr marL="0" indent="0" algn="ctr">
              <a:buNone/>
            </a:pPr>
            <a:r>
              <a:rPr lang="en-US" sz="2400">
                <a:solidFill>
                  <a:schemeClr val="bg1"/>
                </a:solidFill>
              </a:rPr>
              <a:t>-&gt; It might help the CNN to learn Fisheye Omnidirectional Image.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45CD0BE9-66C6-954A-38F9-47D7DAE8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22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415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4B534E-E32B-E5A9-BEA2-8245FA1F1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37" y="283320"/>
            <a:ext cx="11016175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– Visual Place Recognition (Information Retrieval)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3D2A3B80-2C67-5F13-BCD1-79588A99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23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0BDA241D-424B-6ED1-337C-A6E049DA7DD0}"/>
              </a:ext>
            </a:extLst>
          </p:cNvPr>
          <p:cNvGrpSpPr/>
          <p:nvPr/>
        </p:nvGrpSpPr>
        <p:grpSpPr>
          <a:xfrm>
            <a:off x="675813" y="2985507"/>
            <a:ext cx="5674955" cy="1538770"/>
            <a:chOff x="675813" y="2985507"/>
            <a:chExt cx="5674955" cy="1538770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F5BC03C-E69B-8C4E-26C7-05B86DC81C2D}"/>
                </a:ext>
              </a:extLst>
            </p:cNvPr>
            <p:cNvSpPr txBox="1"/>
            <p:nvPr/>
          </p:nvSpPr>
          <p:spPr>
            <a:xfrm>
              <a:off x="714554" y="3570170"/>
              <a:ext cx="563621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b="1">
                  <a:solidFill>
                    <a:schemeClr val="bg1"/>
                  </a:solidFill>
                </a:rPr>
                <a:t>Recall Rate @K Rank (Recall @K)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b="1">
                  <a:solidFill>
                    <a:schemeClr val="bg1"/>
                  </a:solidFill>
                </a:rPr>
                <a:t>Mean Average Precision @K Rank (mAP @K)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47198B-F935-5E46-0038-1776F80AF0D9}"/>
                </a:ext>
              </a:extLst>
            </p:cNvPr>
            <p:cNvSpPr txBox="1"/>
            <p:nvPr/>
          </p:nvSpPr>
          <p:spPr>
            <a:xfrm>
              <a:off x="675813" y="2985507"/>
              <a:ext cx="448712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>
                  <a:solidFill>
                    <a:schemeClr val="bg1"/>
                  </a:solidFill>
                </a:rPr>
                <a:t>CORRECT ANSWER DISTRIBUTION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81338F7-76DA-D4E0-60E9-A20D24563115}"/>
              </a:ext>
            </a:extLst>
          </p:cNvPr>
          <p:cNvGrpSpPr/>
          <p:nvPr/>
        </p:nvGrpSpPr>
        <p:grpSpPr>
          <a:xfrm>
            <a:off x="4069443" y="1545325"/>
            <a:ext cx="3959951" cy="987679"/>
            <a:chOff x="669798" y="1309767"/>
            <a:chExt cx="3959951" cy="987679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749E7E8-311C-9CCD-73D7-4F6AE4760B6E}"/>
                </a:ext>
              </a:extLst>
            </p:cNvPr>
            <p:cNvSpPr/>
            <p:nvPr/>
          </p:nvSpPr>
          <p:spPr>
            <a:xfrm>
              <a:off x="1472339" y="1832989"/>
              <a:ext cx="362857" cy="4644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C414A53-9E99-E63C-70D3-DC20E5FAD790}"/>
                </a:ext>
              </a:extLst>
            </p:cNvPr>
            <p:cNvSpPr/>
            <p:nvPr/>
          </p:nvSpPr>
          <p:spPr>
            <a:xfrm>
              <a:off x="2032305" y="1832989"/>
              <a:ext cx="362857" cy="4644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57DE0A4-527D-9E8F-8453-E87B383A6A55}"/>
                </a:ext>
              </a:extLst>
            </p:cNvPr>
            <p:cNvSpPr/>
            <p:nvPr/>
          </p:nvSpPr>
          <p:spPr>
            <a:xfrm>
              <a:off x="2588266" y="1832989"/>
              <a:ext cx="362857" cy="4644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A331DCA-8ADA-B572-7FDD-52B02EE440D0}"/>
                </a:ext>
              </a:extLst>
            </p:cNvPr>
            <p:cNvSpPr/>
            <p:nvPr/>
          </p:nvSpPr>
          <p:spPr>
            <a:xfrm>
              <a:off x="3147808" y="1832989"/>
              <a:ext cx="362857" cy="4644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3172EEC-DF73-7D28-A9B6-2268DC4B5766}"/>
                </a:ext>
              </a:extLst>
            </p:cNvPr>
            <p:cNvSpPr/>
            <p:nvPr/>
          </p:nvSpPr>
          <p:spPr>
            <a:xfrm>
              <a:off x="3707350" y="1832989"/>
              <a:ext cx="362857" cy="4644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B4B9240-9E7F-16E0-36D7-330B364521E9}"/>
                </a:ext>
              </a:extLst>
            </p:cNvPr>
            <p:cNvSpPr/>
            <p:nvPr/>
          </p:nvSpPr>
          <p:spPr>
            <a:xfrm>
              <a:off x="4266892" y="1832988"/>
              <a:ext cx="362857" cy="4644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6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4E81551-4AA0-35E4-FAED-EDDD148609C2}"/>
                </a:ext>
              </a:extLst>
            </p:cNvPr>
            <p:cNvSpPr txBox="1"/>
            <p:nvPr/>
          </p:nvSpPr>
          <p:spPr>
            <a:xfrm>
              <a:off x="1309999" y="1309767"/>
              <a:ext cx="29193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>
                  <a:solidFill>
                    <a:schemeClr val="bg1"/>
                  </a:solidFill>
                </a:rPr>
                <a:t>TOP-K RANKED ANSWER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3EAC628-C3EB-DB82-66F6-55F8DA33A692}"/>
                </a:ext>
              </a:extLst>
            </p:cNvPr>
            <p:cNvSpPr/>
            <p:nvPr/>
          </p:nvSpPr>
          <p:spPr>
            <a:xfrm>
              <a:off x="669798" y="1832987"/>
              <a:ext cx="362857" cy="464457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Q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65A8A334-6CDA-AC3E-6C19-601D53A1C3BB}"/>
                </a:ext>
              </a:extLst>
            </p:cNvPr>
            <p:cNvCxnSpPr/>
            <p:nvPr/>
          </p:nvCxnSpPr>
          <p:spPr>
            <a:xfrm>
              <a:off x="1045355" y="2065215"/>
              <a:ext cx="313264" cy="0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4B844619-86AF-E7A6-693C-1ABABBF529D7}"/>
              </a:ext>
            </a:extLst>
          </p:cNvPr>
          <p:cNvGrpSpPr/>
          <p:nvPr/>
        </p:nvGrpSpPr>
        <p:grpSpPr>
          <a:xfrm>
            <a:off x="838200" y="4715955"/>
            <a:ext cx="2301424" cy="1918145"/>
            <a:chOff x="838200" y="4715955"/>
            <a:chExt cx="2301424" cy="19181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1FC5571-EE9B-6788-887A-C7939965F47A}"/>
                </a:ext>
              </a:extLst>
            </p:cNvPr>
            <p:cNvSpPr/>
            <p:nvPr/>
          </p:nvSpPr>
          <p:spPr>
            <a:xfrm>
              <a:off x="1340788" y="4715957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072EEBEC-9460-BFA4-BB20-C794D89C36DF}"/>
                    </a:ext>
                  </a:extLst>
                </p:cNvPr>
                <p:cNvSpPr/>
                <p:nvPr/>
              </p:nvSpPr>
              <p:spPr>
                <a:xfrm>
                  <a:off x="838200" y="4715955"/>
                  <a:ext cx="301746" cy="386235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100" b="1"/>
                </a:p>
              </p:txBody>
            </p:sp>
          </mc:Choice>
          <mc:Fallback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072EEBEC-9460-BFA4-BB20-C794D89C36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4715955"/>
                  <a:ext cx="301746" cy="386235"/>
                </a:xfrm>
                <a:prstGeom prst="rect">
                  <a:avLst/>
                </a:prstGeom>
                <a:blipFill>
                  <a:blip r:embed="rId3"/>
                  <a:stretch>
                    <a:fillRect l="-19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972CAB-98CD-BCCE-381D-B298CE8EEB3A}"/>
                </a:ext>
              </a:extLst>
            </p:cNvPr>
            <p:cNvSpPr/>
            <p:nvPr/>
          </p:nvSpPr>
          <p:spPr>
            <a:xfrm>
              <a:off x="1641476" y="4715956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73C1B3-C538-C747-BC8A-D5BB36F2B6F8}"/>
                </a:ext>
              </a:extLst>
            </p:cNvPr>
            <p:cNvSpPr/>
            <p:nvPr/>
          </p:nvSpPr>
          <p:spPr>
            <a:xfrm>
              <a:off x="1938989" y="4715956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6992BC-BBE5-E847-EBE2-105AABF3D4FA}"/>
                </a:ext>
              </a:extLst>
            </p:cNvPr>
            <p:cNvSpPr/>
            <p:nvPr/>
          </p:nvSpPr>
          <p:spPr>
            <a:xfrm>
              <a:off x="2239677" y="4715956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818E04-F7B4-60B2-0EAB-EAA3129C2999}"/>
                </a:ext>
              </a:extLst>
            </p:cNvPr>
            <p:cNvSpPr/>
            <p:nvPr/>
          </p:nvSpPr>
          <p:spPr>
            <a:xfrm>
              <a:off x="2540365" y="4715955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E78F9C-9F41-03BB-AA0C-DDAA6759A9D1}"/>
                </a:ext>
              </a:extLst>
            </p:cNvPr>
            <p:cNvSpPr/>
            <p:nvPr/>
          </p:nvSpPr>
          <p:spPr>
            <a:xfrm>
              <a:off x="2837878" y="4715955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9595F0-35BB-6654-A04A-020DA440046F}"/>
                </a:ext>
              </a:extLst>
            </p:cNvPr>
            <p:cNvSpPr/>
            <p:nvPr/>
          </p:nvSpPr>
          <p:spPr>
            <a:xfrm>
              <a:off x="1340788" y="5100640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2D5BB3B-30C3-BFBF-E2AC-5B3FF7249AA9}"/>
                    </a:ext>
                  </a:extLst>
                </p:cNvPr>
                <p:cNvSpPr/>
                <p:nvPr/>
              </p:nvSpPr>
              <p:spPr>
                <a:xfrm>
                  <a:off x="838200" y="5100638"/>
                  <a:ext cx="301746" cy="386235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100" b="1"/>
                </a:p>
              </p:txBody>
            </p:sp>
          </mc:Choice>
          <mc:Fallback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2D5BB3B-30C3-BFBF-E2AC-5B3FF7249A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5100638"/>
                  <a:ext cx="301746" cy="386235"/>
                </a:xfrm>
                <a:prstGeom prst="rect">
                  <a:avLst/>
                </a:prstGeom>
                <a:blipFill>
                  <a:blip r:embed="rId4"/>
                  <a:stretch>
                    <a:fillRect l="-19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BA9B85-782D-84F3-4A10-EF7DB49CF537}"/>
                </a:ext>
              </a:extLst>
            </p:cNvPr>
            <p:cNvSpPr/>
            <p:nvPr/>
          </p:nvSpPr>
          <p:spPr>
            <a:xfrm>
              <a:off x="1641476" y="5100639"/>
              <a:ext cx="301746" cy="38623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42E182-F6B3-257C-7876-295F3CEB4D9A}"/>
                </a:ext>
              </a:extLst>
            </p:cNvPr>
            <p:cNvSpPr/>
            <p:nvPr/>
          </p:nvSpPr>
          <p:spPr>
            <a:xfrm>
              <a:off x="1938989" y="5100639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9417C36-3F06-1E23-B932-06703DB81A69}"/>
                </a:ext>
              </a:extLst>
            </p:cNvPr>
            <p:cNvSpPr/>
            <p:nvPr/>
          </p:nvSpPr>
          <p:spPr>
            <a:xfrm>
              <a:off x="2239677" y="5100639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EFB37F-D52F-7C60-7336-5809201E8FAE}"/>
                </a:ext>
              </a:extLst>
            </p:cNvPr>
            <p:cNvSpPr/>
            <p:nvPr/>
          </p:nvSpPr>
          <p:spPr>
            <a:xfrm>
              <a:off x="2540365" y="5100638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487639-B075-6E86-F338-3F0894F9260E}"/>
                </a:ext>
              </a:extLst>
            </p:cNvPr>
            <p:cNvSpPr/>
            <p:nvPr/>
          </p:nvSpPr>
          <p:spPr>
            <a:xfrm>
              <a:off x="2837878" y="5100638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0282AC4-A727-0807-320F-403C691BEFBF}"/>
                </a:ext>
              </a:extLst>
            </p:cNvPr>
            <p:cNvSpPr/>
            <p:nvPr/>
          </p:nvSpPr>
          <p:spPr>
            <a:xfrm>
              <a:off x="1340788" y="5485322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1D82CF0-F93C-AB6E-27E3-AB8C11CE8598}"/>
                    </a:ext>
                  </a:extLst>
                </p:cNvPr>
                <p:cNvSpPr/>
                <p:nvPr/>
              </p:nvSpPr>
              <p:spPr>
                <a:xfrm>
                  <a:off x="838200" y="5485320"/>
                  <a:ext cx="301746" cy="386235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100" b="1"/>
                </a:p>
              </p:txBody>
            </p:sp>
          </mc:Choice>
          <mc:Fallback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1D82CF0-F93C-AB6E-27E3-AB8C11CE85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5485320"/>
                  <a:ext cx="301746" cy="386235"/>
                </a:xfrm>
                <a:prstGeom prst="rect">
                  <a:avLst/>
                </a:prstGeom>
                <a:blipFill>
                  <a:blip r:embed="rId5"/>
                  <a:stretch>
                    <a:fillRect l="-19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4442B70-1A18-8E62-4EC9-DB8095C02768}"/>
                </a:ext>
              </a:extLst>
            </p:cNvPr>
            <p:cNvSpPr/>
            <p:nvPr/>
          </p:nvSpPr>
          <p:spPr>
            <a:xfrm>
              <a:off x="1641476" y="5485321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702F22-9BD9-C05C-F70C-26C09AE9C2A8}"/>
                </a:ext>
              </a:extLst>
            </p:cNvPr>
            <p:cNvSpPr/>
            <p:nvPr/>
          </p:nvSpPr>
          <p:spPr>
            <a:xfrm>
              <a:off x="1938989" y="5485321"/>
              <a:ext cx="301746" cy="38623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8E9CF54-6878-21AC-5E23-A3F3B750221B}"/>
                </a:ext>
              </a:extLst>
            </p:cNvPr>
            <p:cNvSpPr/>
            <p:nvPr/>
          </p:nvSpPr>
          <p:spPr>
            <a:xfrm>
              <a:off x="2239677" y="5485321"/>
              <a:ext cx="301746" cy="38623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6D77F00-257F-2529-4F23-D6E5713D8ACC}"/>
                </a:ext>
              </a:extLst>
            </p:cNvPr>
            <p:cNvSpPr/>
            <p:nvPr/>
          </p:nvSpPr>
          <p:spPr>
            <a:xfrm>
              <a:off x="2540365" y="5485320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B950584-1B1C-FD91-18A6-95FCB265D74E}"/>
                </a:ext>
              </a:extLst>
            </p:cNvPr>
            <p:cNvSpPr/>
            <p:nvPr/>
          </p:nvSpPr>
          <p:spPr>
            <a:xfrm>
              <a:off x="2837878" y="5485320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3AEC77E-8FD5-3ABE-39FB-579BEDA07473}"/>
                </a:ext>
              </a:extLst>
            </p:cNvPr>
            <p:cNvSpPr/>
            <p:nvPr/>
          </p:nvSpPr>
          <p:spPr>
            <a:xfrm>
              <a:off x="1340788" y="5870003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3C106D87-A96E-83DC-432B-D70B7203DA54}"/>
                    </a:ext>
                  </a:extLst>
                </p:cNvPr>
                <p:cNvSpPr/>
                <p:nvPr/>
              </p:nvSpPr>
              <p:spPr>
                <a:xfrm>
                  <a:off x="838200" y="5870001"/>
                  <a:ext cx="301746" cy="386235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100" b="1"/>
                </a:p>
              </p:txBody>
            </p:sp>
          </mc:Choice>
          <mc:Fallback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3C106D87-A96E-83DC-432B-D70B7203D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5870001"/>
                  <a:ext cx="301746" cy="386235"/>
                </a:xfrm>
                <a:prstGeom prst="rect">
                  <a:avLst/>
                </a:prstGeom>
                <a:blipFill>
                  <a:blip r:embed="rId6"/>
                  <a:stretch>
                    <a:fillRect l="-19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6A24CE24-946C-850C-A625-98815EB6B510}"/>
                </a:ext>
              </a:extLst>
            </p:cNvPr>
            <p:cNvSpPr/>
            <p:nvPr/>
          </p:nvSpPr>
          <p:spPr>
            <a:xfrm>
              <a:off x="1641476" y="5870002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BA3B18B-0013-6067-14ED-6490126F4709}"/>
                </a:ext>
              </a:extLst>
            </p:cNvPr>
            <p:cNvSpPr/>
            <p:nvPr/>
          </p:nvSpPr>
          <p:spPr>
            <a:xfrm>
              <a:off x="1938989" y="5870002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61A6008-0CBE-3C40-9376-5D057B7FD970}"/>
                </a:ext>
              </a:extLst>
            </p:cNvPr>
            <p:cNvSpPr/>
            <p:nvPr/>
          </p:nvSpPr>
          <p:spPr>
            <a:xfrm>
              <a:off x="2239677" y="5870002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5ED5D3D4-B5CC-217A-D216-15F79F453294}"/>
                </a:ext>
              </a:extLst>
            </p:cNvPr>
            <p:cNvSpPr/>
            <p:nvPr/>
          </p:nvSpPr>
          <p:spPr>
            <a:xfrm>
              <a:off x="2540365" y="5870001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E705541-7EEA-D022-B490-93DDE56562A1}"/>
                </a:ext>
              </a:extLst>
            </p:cNvPr>
            <p:cNvSpPr/>
            <p:nvPr/>
          </p:nvSpPr>
          <p:spPr>
            <a:xfrm>
              <a:off x="2837878" y="5870001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67F4405-C680-68F1-6E63-26CFCAE67857}"/>
                </a:ext>
              </a:extLst>
            </p:cNvPr>
            <p:cNvSpPr/>
            <p:nvPr/>
          </p:nvSpPr>
          <p:spPr>
            <a:xfrm>
              <a:off x="1340788" y="6247865"/>
              <a:ext cx="301746" cy="38623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9BC6FFE9-A39B-EEEC-26EA-E733042366CB}"/>
                    </a:ext>
                  </a:extLst>
                </p:cNvPr>
                <p:cNvSpPr/>
                <p:nvPr/>
              </p:nvSpPr>
              <p:spPr>
                <a:xfrm>
                  <a:off x="838200" y="6247863"/>
                  <a:ext cx="301746" cy="386235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1100" b="1" i="1" dirty="0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sz="1100" b="1"/>
                </a:p>
              </p:txBody>
            </p:sp>
          </mc:Choice>
          <mc:Fallback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9BC6FFE9-A39B-EEEC-26EA-E733042366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6247863"/>
                  <a:ext cx="301746" cy="386235"/>
                </a:xfrm>
                <a:prstGeom prst="rect">
                  <a:avLst/>
                </a:prstGeom>
                <a:blipFill>
                  <a:blip r:embed="rId7"/>
                  <a:stretch>
                    <a:fillRect l="-19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FDA928D5-CA6A-13DB-ECE0-62F60EC57C5C}"/>
                </a:ext>
              </a:extLst>
            </p:cNvPr>
            <p:cNvSpPr/>
            <p:nvPr/>
          </p:nvSpPr>
          <p:spPr>
            <a:xfrm>
              <a:off x="1641476" y="6247864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F0A7A6E-2E61-F239-D530-C07E30098DBA}"/>
                </a:ext>
              </a:extLst>
            </p:cNvPr>
            <p:cNvSpPr/>
            <p:nvPr/>
          </p:nvSpPr>
          <p:spPr>
            <a:xfrm>
              <a:off x="1938989" y="6247864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A5622B7-29E2-FE96-6C17-4A3CE0140CBA}"/>
                </a:ext>
              </a:extLst>
            </p:cNvPr>
            <p:cNvSpPr/>
            <p:nvPr/>
          </p:nvSpPr>
          <p:spPr>
            <a:xfrm>
              <a:off x="2239677" y="6247864"/>
              <a:ext cx="301746" cy="38623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FCF6F4C2-97EC-BFEA-E72F-8BBD681CF7FB}"/>
                </a:ext>
              </a:extLst>
            </p:cNvPr>
            <p:cNvSpPr/>
            <p:nvPr/>
          </p:nvSpPr>
          <p:spPr>
            <a:xfrm>
              <a:off x="2540365" y="6247863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A7A42AA-647C-2C5C-E8FE-9A4000F2A42A}"/>
                </a:ext>
              </a:extLst>
            </p:cNvPr>
            <p:cNvSpPr/>
            <p:nvPr/>
          </p:nvSpPr>
          <p:spPr>
            <a:xfrm>
              <a:off x="2837878" y="6247863"/>
              <a:ext cx="301746" cy="3862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17A983AD-4917-A1A5-BF8D-3A036015C6C8}"/>
              </a:ext>
            </a:extLst>
          </p:cNvPr>
          <p:cNvGrpSpPr/>
          <p:nvPr/>
        </p:nvGrpSpPr>
        <p:grpSpPr>
          <a:xfrm>
            <a:off x="7274859" y="2985395"/>
            <a:ext cx="4711372" cy="3311490"/>
            <a:chOff x="7274859" y="2985395"/>
            <a:chExt cx="4711372" cy="331149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2E56E61-E6D2-ED4C-A0B7-12D7A73FC370}"/>
                </a:ext>
              </a:extLst>
            </p:cNvPr>
            <p:cNvSpPr txBox="1"/>
            <p:nvPr/>
          </p:nvSpPr>
          <p:spPr>
            <a:xfrm>
              <a:off x="7274859" y="2985395"/>
              <a:ext cx="178286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>
                  <a:solidFill>
                    <a:schemeClr val="bg1"/>
                  </a:solidFill>
                </a:rPr>
                <a:t>QUERY TIME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F51CB16-0813-4B49-C835-E5B347AD6CE5}"/>
                </a:ext>
              </a:extLst>
            </p:cNvPr>
            <p:cNvSpPr txBox="1"/>
            <p:nvPr/>
          </p:nvSpPr>
          <p:spPr>
            <a:xfrm>
              <a:off x="7337030" y="3570058"/>
              <a:ext cx="340509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b="1">
                  <a:solidFill>
                    <a:schemeClr val="bg1"/>
                  </a:solidFill>
                </a:rPr>
                <a:t>Feature Extraction Time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b="1">
                  <a:solidFill>
                    <a:schemeClr val="bg1"/>
                  </a:solidFill>
                </a:rPr>
                <a:t>Feature Matching Time</a:t>
              </a:r>
            </a:p>
          </p:txBody>
        </p:sp>
        <p:pic>
          <p:nvPicPr>
            <p:cNvPr id="176" name="Picture 175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9F001652-14E0-56DE-AB2D-E50724915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663" y="4689846"/>
              <a:ext cx="1198112" cy="1178602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77" name="Rectangle: Rounded Corners 176">
              <a:extLst>
                <a:ext uri="{FF2B5EF4-FFF2-40B4-BE49-F238E27FC236}">
                  <a16:creationId xmlns:a16="http://schemas.microsoft.com/office/drawing/2014/main" id="{70A3211C-00F0-1E15-772F-48D61D5B6C2B}"/>
                </a:ext>
              </a:extLst>
            </p:cNvPr>
            <p:cNvSpPr/>
            <p:nvPr/>
          </p:nvSpPr>
          <p:spPr>
            <a:xfrm>
              <a:off x="9111752" y="4980895"/>
              <a:ext cx="1823265" cy="622612"/>
            </a:xfrm>
            <a:prstGeom prst="roundRect">
              <a:avLst/>
            </a:prstGeom>
            <a:solidFill>
              <a:srgbClr val="843C0C"/>
            </a:solidFill>
            <a:ln w="57150"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GLOBAL DESCRIPTOR EXTRACTION</a:t>
              </a:r>
            </a:p>
          </p:txBody>
        </p:sp>
        <p:pic>
          <p:nvPicPr>
            <p:cNvPr id="1026" name="Picture 2" descr="Clock icon">
              <a:extLst>
                <a:ext uri="{FF2B5EF4-FFF2-40B4-BE49-F238E27FC236}">
                  <a16:creationId xmlns:a16="http://schemas.microsoft.com/office/drawing/2014/main" id="{309B6FF3-AB35-CBEA-9EBA-BC5BFDCEF5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4253" y="5538862"/>
              <a:ext cx="758023" cy="7580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8" name="Picture 177" descr="A picture containing design&#10;&#10;Description automatically generated">
              <a:extLst>
                <a:ext uri="{FF2B5EF4-FFF2-40B4-BE49-F238E27FC236}">
                  <a16:creationId xmlns:a16="http://schemas.microsoft.com/office/drawing/2014/main" id="{87A7BBD8-4BAC-F603-5066-7FA3FE218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6557" y="4829310"/>
              <a:ext cx="899674" cy="899674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72EAFCA-9CF4-7AD9-6933-566013AEEF5C}"/>
              </a:ext>
            </a:extLst>
          </p:cNvPr>
          <p:cNvGrpSpPr/>
          <p:nvPr/>
        </p:nvGrpSpPr>
        <p:grpSpPr>
          <a:xfrm>
            <a:off x="3861042" y="4714401"/>
            <a:ext cx="2308297" cy="1924967"/>
            <a:chOff x="3861042" y="4714401"/>
            <a:chExt cx="2308297" cy="1924967"/>
          </a:xfrm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71307CE2-250A-534B-9262-02F95BF558E4}"/>
                </a:ext>
              </a:extLst>
            </p:cNvPr>
            <p:cNvGrpSpPr/>
            <p:nvPr/>
          </p:nvGrpSpPr>
          <p:grpSpPr>
            <a:xfrm>
              <a:off x="3861042" y="4714401"/>
              <a:ext cx="2301424" cy="1924967"/>
              <a:chOff x="3861042" y="4714401"/>
              <a:chExt cx="2301424" cy="192496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4AF44BE-F5AF-8B81-1CB4-9605FEA7BDF6}"/>
                  </a:ext>
                </a:extLst>
              </p:cNvPr>
              <p:cNvSpPr/>
              <p:nvPr/>
            </p:nvSpPr>
            <p:spPr>
              <a:xfrm>
                <a:off x="4363630" y="4714403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1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5D8A47D9-5C27-D5C2-DD11-17A4B11F3B28}"/>
                      </a:ext>
                    </a:extLst>
                  </p:cNvPr>
                  <p:cNvSpPr/>
                  <p:nvPr/>
                </p:nvSpPr>
                <p:spPr>
                  <a:xfrm>
                    <a:off x="3861042" y="4714401"/>
                    <a:ext cx="301746" cy="386235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100" b="1"/>
                  </a:p>
                </p:txBody>
              </p:sp>
            </mc:Choice>
            <mc:Fallback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5D8A47D9-5C27-D5C2-DD11-17A4B11F3B2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61042" y="4714401"/>
                    <a:ext cx="301746" cy="38623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81A7C81-B9D6-1974-C773-AF7E4C173687}"/>
                  </a:ext>
                </a:extLst>
              </p:cNvPr>
              <p:cNvSpPr/>
              <p:nvPr/>
            </p:nvSpPr>
            <p:spPr>
              <a:xfrm>
                <a:off x="4664318" y="4714402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97FDB27-9820-8D94-376D-BFC647BF98E0}"/>
                  </a:ext>
                </a:extLst>
              </p:cNvPr>
              <p:cNvSpPr/>
              <p:nvPr/>
            </p:nvSpPr>
            <p:spPr>
              <a:xfrm>
                <a:off x="4961831" y="4714402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3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CAD189F-6A82-B1AB-B2D7-CF976CAA7C3F}"/>
                  </a:ext>
                </a:extLst>
              </p:cNvPr>
              <p:cNvSpPr/>
              <p:nvPr/>
            </p:nvSpPr>
            <p:spPr>
              <a:xfrm>
                <a:off x="5262519" y="4714402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4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2875972-5EAE-A3A2-4EAE-6201CEADE9EA}"/>
                  </a:ext>
                </a:extLst>
              </p:cNvPr>
              <p:cNvSpPr/>
              <p:nvPr/>
            </p:nvSpPr>
            <p:spPr>
              <a:xfrm>
                <a:off x="5563207" y="4714401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C4004DA-26F5-9EED-659C-C6F116A6BA16}"/>
                  </a:ext>
                </a:extLst>
              </p:cNvPr>
              <p:cNvSpPr/>
              <p:nvPr/>
            </p:nvSpPr>
            <p:spPr>
              <a:xfrm>
                <a:off x="5860720" y="4714401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6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B254F1C-7BC3-99F6-F4A8-0FAE1F41711D}"/>
                  </a:ext>
                </a:extLst>
              </p:cNvPr>
              <p:cNvSpPr/>
              <p:nvPr/>
            </p:nvSpPr>
            <p:spPr>
              <a:xfrm>
                <a:off x="4363630" y="5099086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1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CC2CB36C-325A-05F8-3C33-9D3E5E6AE65F}"/>
                      </a:ext>
                    </a:extLst>
                  </p:cNvPr>
                  <p:cNvSpPr/>
                  <p:nvPr/>
                </p:nvSpPr>
                <p:spPr>
                  <a:xfrm>
                    <a:off x="3861042" y="5099084"/>
                    <a:ext cx="301746" cy="386235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1100" b="1"/>
                  </a:p>
                </p:txBody>
              </p:sp>
            </mc:Choice>
            <mc:Fallback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CC2CB36C-325A-05F8-3C33-9D3E5E6AE65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61042" y="5099084"/>
                    <a:ext cx="301746" cy="38623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512F4FB-1047-32A9-D277-C213679B2607}"/>
                  </a:ext>
                </a:extLst>
              </p:cNvPr>
              <p:cNvSpPr/>
              <p:nvPr/>
            </p:nvSpPr>
            <p:spPr>
              <a:xfrm>
                <a:off x="4664318" y="5099085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AB0A45B-DA80-8E91-570E-C1428D0D06DD}"/>
                  </a:ext>
                </a:extLst>
              </p:cNvPr>
              <p:cNvSpPr/>
              <p:nvPr/>
            </p:nvSpPr>
            <p:spPr>
              <a:xfrm>
                <a:off x="4961831" y="5099085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3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A93A7D5-76A2-F448-8719-106BA952BE4C}"/>
                  </a:ext>
                </a:extLst>
              </p:cNvPr>
              <p:cNvSpPr/>
              <p:nvPr/>
            </p:nvSpPr>
            <p:spPr>
              <a:xfrm>
                <a:off x="5262519" y="5099085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4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AD8212B-7594-5F55-67B3-DE10F77D8BFD}"/>
                  </a:ext>
                </a:extLst>
              </p:cNvPr>
              <p:cNvSpPr/>
              <p:nvPr/>
            </p:nvSpPr>
            <p:spPr>
              <a:xfrm>
                <a:off x="5563207" y="5099084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D9359E5-19AE-5392-E51F-DB7EB6DAE403}"/>
                  </a:ext>
                </a:extLst>
              </p:cNvPr>
              <p:cNvSpPr/>
              <p:nvPr/>
            </p:nvSpPr>
            <p:spPr>
              <a:xfrm>
                <a:off x="5860720" y="5099084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6</a:t>
                </a: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BE7E8736-CCA5-D7E3-C695-276A0301683D}"/>
                  </a:ext>
                </a:extLst>
              </p:cNvPr>
              <p:cNvSpPr/>
              <p:nvPr/>
            </p:nvSpPr>
            <p:spPr>
              <a:xfrm>
                <a:off x="4363630" y="5868450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1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6" name="Rectangle 155">
                    <a:extLst>
                      <a:ext uri="{FF2B5EF4-FFF2-40B4-BE49-F238E27FC236}">
                        <a16:creationId xmlns:a16="http://schemas.microsoft.com/office/drawing/2014/main" id="{F7302026-56F1-F389-3D38-E911471405B8}"/>
                      </a:ext>
                    </a:extLst>
                  </p:cNvPr>
                  <p:cNvSpPr/>
                  <p:nvPr/>
                </p:nvSpPr>
                <p:spPr>
                  <a:xfrm>
                    <a:off x="3861042" y="5868448"/>
                    <a:ext cx="301746" cy="386235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100" b="1"/>
                  </a:p>
                </p:txBody>
              </p:sp>
            </mc:Choice>
            <mc:Fallback>
              <p:sp>
                <p:nvSpPr>
                  <p:cNvPr id="156" name="Rectangle 155">
                    <a:extLst>
                      <a:ext uri="{FF2B5EF4-FFF2-40B4-BE49-F238E27FC236}">
                        <a16:creationId xmlns:a16="http://schemas.microsoft.com/office/drawing/2014/main" id="{F7302026-56F1-F389-3D38-E911471405B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61042" y="5868448"/>
                    <a:ext cx="301746" cy="38623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A76EC2AA-B599-29FC-752B-CC55BE590D3D}"/>
                  </a:ext>
                </a:extLst>
              </p:cNvPr>
              <p:cNvSpPr/>
              <p:nvPr/>
            </p:nvSpPr>
            <p:spPr>
              <a:xfrm>
                <a:off x="4664318" y="5868449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AE73ADFA-A831-9151-EE4D-07BEA7321F20}"/>
                  </a:ext>
                </a:extLst>
              </p:cNvPr>
              <p:cNvSpPr/>
              <p:nvPr/>
            </p:nvSpPr>
            <p:spPr>
              <a:xfrm>
                <a:off x="4961831" y="5868449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3</a:t>
                </a: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C949CB18-4CC1-5B64-A652-2730927E4DE3}"/>
                  </a:ext>
                </a:extLst>
              </p:cNvPr>
              <p:cNvSpPr/>
              <p:nvPr/>
            </p:nvSpPr>
            <p:spPr>
              <a:xfrm>
                <a:off x="5262519" y="5868449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4</a:t>
                </a: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1F59EAA9-9AF1-0520-27DB-785DE24E4F7D}"/>
                  </a:ext>
                </a:extLst>
              </p:cNvPr>
              <p:cNvSpPr/>
              <p:nvPr/>
            </p:nvSpPr>
            <p:spPr>
              <a:xfrm>
                <a:off x="5563207" y="5868448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115060D-B0D8-919A-EA76-AB58695DBDB1}"/>
                  </a:ext>
                </a:extLst>
              </p:cNvPr>
              <p:cNvSpPr/>
              <p:nvPr/>
            </p:nvSpPr>
            <p:spPr>
              <a:xfrm>
                <a:off x="5860720" y="5868448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6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7BC425E5-D84E-CC2E-56CC-E1F9CE90BDF4}"/>
                  </a:ext>
                </a:extLst>
              </p:cNvPr>
              <p:cNvSpPr/>
              <p:nvPr/>
            </p:nvSpPr>
            <p:spPr>
              <a:xfrm>
                <a:off x="4363630" y="6253133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1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3" name="Rectangle 162">
                    <a:extLst>
                      <a:ext uri="{FF2B5EF4-FFF2-40B4-BE49-F238E27FC236}">
                        <a16:creationId xmlns:a16="http://schemas.microsoft.com/office/drawing/2014/main" id="{7B819567-5BC5-C99D-B6ED-EBAE36A1C76C}"/>
                      </a:ext>
                    </a:extLst>
                  </p:cNvPr>
                  <p:cNvSpPr/>
                  <p:nvPr/>
                </p:nvSpPr>
                <p:spPr>
                  <a:xfrm>
                    <a:off x="3861042" y="6253131"/>
                    <a:ext cx="301746" cy="386235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US" sz="11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1100" b="1"/>
                  </a:p>
                </p:txBody>
              </p:sp>
            </mc:Choice>
            <mc:Fallback>
              <p:sp>
                <p:nvSpPr>
                  <p:cNvPr id="163" name="Rectangle 162">
                    <a:extLst>
                      <a:ext uri="{FF2B5EF4-FFF2-40B4-BE49-F238E27FC236}">
                        <a16:creationId xmlns:a16="http://schemas.microsoft.com/office/drawing/2014/main" id="{7B819567-5BC5-C99D-B6ED-EBAE36A1C76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61042" y="6253131"/>
                    <a:ext cx="301746" cy="38623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CFB0D912-FB55-AD97-E200-B2A52E344CB7}"/>
                  </a:ext>
                </a:extLst>
              </p:cNvPr>
              <p:cNvSpPr/>
              <p:nvPr/>
            </p:nvSpPr>
            <p:spPr>
              <a:xfrm>
                <a:off x="4664318" y="6253132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D06F1FD3-4036-D2C1-895C-69CBB28F504C}"/>
                  </a:ext>
                </a:extLst>
              </p:cNvPr>
              <p:cNvSpPr/>
              <p:nvPr/>
            </p:nvSpPr>
            <p:spPr>
              <a:xfrm>
                <a:off x="4961831" y="6253132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3</a:t>
                </a: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4667F3B-B6DF-2569-5B01-73B2FC201A35}"/>
                  </a:ext>
                </a:extLst>
              </p:cNvPr>
              <p:cNvSpPr/>
              <p:nvPr/>
            </p:nvSpPr>
            <p:spPr>
              <a:xfrm>
                <a:off x="5262519" y="6253132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4</a:t>
                </a: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C77FC233-A321-DA07-9588-3D921B895306}"/>
                  </a:ext>
                </a:extLst>
              </p:cNvPr>
              <p:cNvSpPr/>
              <p:nvPr/>
            </p:nvSpPr>
            <p:spPr>
              <a:xfrm>
                <a:off x="5563207" y="6253131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921C1153-3E11-43A6-8041-FA1D172F418E}"/>
                  </a:ext>
                </a:extLst>
              </p:cNvPr>
              <p:cNvSpPr/>
              <p:nvPr/>
            </p:nvSpPr>
            <p:spPr>
              <a:xfrm>
                <a:off x="5860720" y="6253131"/>
                <a:ext cx="301746" cy="386235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6</a:t>
                </a:r>
              </a:p>
            </p:txBody>
          </p:sp>
        </p:grp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BAAF136D-F2F4-294F-62A7-BCB0D6F7F046}"/>
                </a:ext>
              </a:extLst>
            </p:cNvPr>
            <p:cNvCxnSpPr>
              <a:cxnSpLocks/>
            </p:cNvCxnSpPr>
            <p:nvPr/>
          </p:nvCxnSpPr>
          <p:spPr>
            <a:xfrm>
              <a:off x="3861042" y="5678437"/>
              <a:ext cx="2308297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709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9472-68CC-AF8A-684F-D71D6E08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87588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Overview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1522128E-33A2-26A0-EAF9-E669F7A1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24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E5BEB8-F312-A7DD-7C0E-592B13E325E7}"/>
              </a:ext>
            </a:extLst>
          </p:cNvPr>
          <p:cNvSpPr txBox="1"/>
          <p:nvPr/>
        </p:nvSpPr>
        <p:spPr>
          <a:xfrm>
            <a:off x="4902711" y="322425"/>
            <a:ext cx="71938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>
                <a:solidFill>
                  <a:schemeClr val="bg1"/>
                </a:solidFill>
              </a:rPr>
              <a:t>Research Objective</a:t>
            </a:r>
          </a:p>
          <a:p>
            <a:pPr algn="ctr"/>
            <a:r>
              <a:rPr lang="en-US" sz="2400">
                <a:solidFill>
                  <a:schemeClr val="bg1"/>
                </a:solidFill>
              </a:rPr>
              <a:t>To Study &amp; Find Deep Learning Architecture for Fisheye Omnidirectional Image Global Descriptor suitable for Robot Visual Place Recognition Task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D8B4D1-2DD5-3609-1F2C-E9FF445DEE20}"/>
              </a:ext>
            </a:extLst>
          </p:cNvPr>
          <p:cNvGrpSpPr/>
          <p:nvPr/>
        </p:nvGrpSpPr>
        <p:grpSpPr>
          <a:xfrm>
            <a:off x="349903" y="1847748"/>
            <a:ext cx="11789897" cy="1938992"/>
            <a:chOff x="349903" y="1847748"/>
            <a:chExt cx="11789897" cy="193899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B04B3D0-C577-3BA9-6961-ED10864251D3}"/>
                </a:ext>
              </a:extLst>
            </p:cNvPr>
            <p:cNvGrpSpPr/>
            <p:nvPr/>
          </p:nvGrpSpPr>
          <p:grpSpPr>
            <a:xfrm>
              <a:off x="5232702" y="2044635"/>
              <a:ext cx="6907098" cy="1178602"/>
              <a:chOff x="5134385" y="1814820"/>
              <a:chExt cx="6907098" cy="117860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53647FF-09EC-D306-F690-6D7EEDF393B1}"/>
                  </a:ext>
                </a:extLst>
              </p:cNvPr>
              <p:cNvGrpSpPr/>
              <p:nvPr/>
            </p:nvGrpSpPr>
            <p:grpSpPr>
              <a:xfrm>
                <a:off x="6377661" y="1847847"/>
                <a:ext cx="4617179" cy="1054334"/>
                <a:chOff x="376426" y="3091610"/>
                <a:chExt cx="5052691" cy="1892510"/>
              </a:xfrm>
            </p:grpSpPr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EB3E9725-E6B6-5036-5F2D-5FB524530FB7}"/>
                    </a:ext>
                  </a:extLst>
                </p:cNvPr>
                <p:cNvSpPr/>
                <p:nvPr/>
              </p:nvSpPr>
              <p:spPr>
                <a:xfrm>
                  <a:off x="376426" y="3091610"/>
                  <a:ext cx="5052691" cy="1892510"/>
                </a:xfrm>
                <a:prstGeom prst="roundRect">
                  <a:avLst/>
                </a:prstGeom>
                <a:solidFill>
                  <a:srgbClr val="843C0C"/>
                </a:solidFill>
                <a:ln w="57150"/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600" b="1">
                      <a:solidFill>
                        <a:schemeClr val="bg1"/>
                      </a:solidFill>
                    </a:rPr>
                    <a:t>GLOBAL DESCRIPTOR EXTRACTION</a:t>
                  </a:r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8E040714-1840-B7C3-42FD-302B9B3C1218}"/>
                    </a:ext>
                  </a:extLst>
                </p:cNvPr>
                <p:cNvSpPr/>
                <p:nvPr/>
              </p:nvSpPr>
              <p:spPr>
                <a:xfrm>
                  <a:off x="638895" y="3873436"/>
                  <a:ext cx="1952065" cy="921123"/>
                </a:xfrm>
                <a:prstGeom prst="roundRect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>
                      <a:solidFill>
                        <a:schemeClr val="bg1"/>
                      </a:solidFill>
                    </a:rPr>
                    <a:t>LOCAL FEATURE EXTRACTION</a:t>
                  </a:r>
                </a:p>
              </p:txBody>
            </p:sp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898197FA-C68C-C425-7DEB-51B39CD5631D}"/>
                    </a:ext>
                  </a:extLst>
                </p:cNvPr>
                <p:cNvSpPr/>
                <p:nvPr/>
              </p:nvSpPr>
              <p:spPr>
                <a:xfrm>
                  <a:off x="3219490" y="3873436"/>
                  <a:ext cx="1952065" cy="921123"/>
                </a:xfrm>
                <a:prstGeom prst="roundRect">
                  <a:avLst/>
                </a:prstGeom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>
                      <a:solidFill>
                        <a:schemeClr val="bg1"/>
                      </a:solidFill>
                    </a:rPr>
                    <a:t>FEATURE AGGREGATION</a:t>
                  </a:r>
                  <a:br>
                    <a:rPr lang="en-US" sz="1600" b="1">
                      <a:solidFill>
                        <a:schemeClr val="bg1"/>
                      </a:solidFill>
                    </a:rPr>
                  </a:br>
                  <a:r>
                    <a:rPr lang="en-US" sz="1600" b="1">
                      <a:solidFill>
                        <a:schemeClr val="bg1"/>
                      </a:solidFill>
                    </a:rPr>
                    <a:t>(POOLING)</a:t>
                  </a:r>
                </a:p>
              </p:txBody>
            </p:sp>
            <p:sp>
              <p:nvSpPr>
                <p:cNvPr id="19" name="Arrow: Right 18">
                  <a:extLst>
                    <a:ext uri="{FF2B5EF4-FFF2-40B4-BE49-F238E27FC236}">
                      <a16:creationId xmlns:a16="http://schemas.microsoft.com/office/drawing/2014/main" id="{5D668BB7-99EC-B8AF-A8F3-27BAD52C4C29}"/>
                    </a:ext>
                  </a:extLst>
                </p:cNvPr>
                <p:cNvSpPr/>
                <p:nvPr/>
              </p:nvSpPr>
              <p:spPr>
                <a:xfrm>
                  <a:off x="2698150" y="4072334"/>
                  <a:ext cx="337457" cy="500742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22" name="Picture 21" descr="A picture containing design&#10;&#10;Description automatically generated">
                <a:extLst>
                  <a:ext uri="{FF2B5EF4-FFF2-40B4-BE49-F238E27FC236}">
                    <a16:creationId xmlns:a16="http://schemas.microsoft.com/office/drawing/2014/main" id="{CA6E1595-9E19-2525-3077-22E675B51F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41809" y="1930593"/>
                <a:ext cx="899674" cy="899674"/>
              </a:xfrm>
              <a:prstGeom prst="rect">
                <a:avLst/>
              </a:prstGeom>
            </p:spPr>
          </p:pic>
          <p:pic>
            <p:nvPicPr>
              <p:cNvPr id="23" name="Picture 22" descr="A picture containing indoor, black&#10;&#10;Description automatically generated">
                <a:extLst>
                  <a:ext uri="{FF2B5EF4-FFF2-40B4-BE49-F238E27FC236}">
                    <a16:creationId xmlns:a16="http://schemas.microsoft.com/office/drawing/2014/main" id="{BAF8780F-BEB3-D1C6-C67A-355390EA63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34385" y="1814820"/>
                <a:ext cx="1198112" cy="1178602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6A00DAF-2853-E2F7-7155-95248B3CC057}"/>
                </a:ext>
              </a:extLst>
            </p:cNvPr>
            <p:cNvSpPr txBox="1"/>
            <p:nvPr/>
          </p:nvSpPr>
          <p:spPr>
            <a:xfrm>
              <a:off x="349903" y="1847748"/>
              <a:ext cx="4714765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</a:rPr>
                <a:t>1. Local Feature Extractor Part of the Pipeline </a:t>
              </a:r>
            </a:p>
            <a:p>
              <a:pPr lvl="1"/>
              <a:r>
                <a:rPr lang="en-US" sz="2400">
                  <a:solidFill>
                    <a:schemeClr val="bg1"/>
                  </a:solidFill>
                </a:rPr>
                <a:t>Does the Fine-Tuning improve the</a:t>
              </a:r>
              <a:r>
                <a:rPr lang="th-TH" sz="2400">
                  <a:solidFill>
                    <a:schemeClr val="bg1"/>
                  </a:solidFill>
                </a:rPr>
                <a:t> </a:t>
              </a:r>
              <a:r>
                <a:rPr lang="en-US" sz="2400">
                  <a:solidFill>
                    <a:schemeClr val="bg1"/>
                  </a:solidFill>
                </a:rPr>
                <a:t>performance of the Global Descriptor Extraction from Fisheye Omnidirectional Image ?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1D2FB47-C13D-47F7-E145-C1763B4230CC}"/>
              </a:ext>
            </a:extLst>
          </p:cNvPr>
          <p:cNvGrpSpPr/>
          <p:nvPr/>
        </p:nvGrpSpPr>
        <p:grpSpPr>
          <a:xfrm>
            <a:off x="330868" y="3956629"/>
            <a:ext cx="11802233" cy="2601604"/>
            <a:chOff x="330868" y="3956629"/>
            <a:chExt cx="11802233" cy="260160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A63817-0EBB-25BD-D23E-DF6F800D20F6}"/>
                </a:ext>
              </a:extLst>
            </p:cNvPr>
            <p:cNvGrpSpPr/>
            <p:nvPr/>
          </p:nvGrpSpPr>
          <p:grpSpPr>
            <a:xfrm>
              <a:off x="330868" y="4215726"/>
              <a:ext cx="11694778" cy="2342507"/>
              <a:chOff x="330868" y="4215726"/>
              <a:chExt cx="11694778" cy="2342507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87391AF-D06A-B043-6850-1D8594FA6B2C}"/>
                  </a:ext>
                </a:extLst>
              </p:cNvPr>
              <p:cNvGrpSpPr/>
              <p:nvPr/>
            </p:nvGrpSpPr>
            <p:grpSpPr>
              <a:xfrm>
                <a:off x="330868" y="4215726"/>
                <a:ext cx="11694778" cy="2069579"/>
                <a:chOff x="330868" y="4215726"/>
                <a:chExt cx="11694778" cy="2069579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2D0A484-77AC-3C2E-BC12-AFCDB34895B1}"/>
                    </a:ext>
                  </a:extLst>
                </p:cNvPr>
                <p:cNvSpPr txBox="1"/>
                <p:nvPr/>
              </p:nvSpPr>
              <p:spPr>
                <a:xfrm>
                  <a:off x="330868" y="4266659"/>
                  <a:ext cx="4616448" cy="19389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buNone/>
                  </a:pPr>
                  <a:r>
                    <a:rPr lang="en-US" sz="2400" b="1">
                      <a:solidFill>
                        <a:schemeClr val="bg1"/>
                      </a:solidFill>
                    </a:rPr>
                    <a:t>2. Environment Effect with Global Descriptor in Visual Place Recognition</a:t>
                  </a:r>
                  <a:endParaRPr lang="en-US" sz="2400">
                    <a:solidFill>
                      <a:schemeClr val="bg1"/>
                    </a:solidFill>
                  </a:endParaRPr>
                </a:p>
                <a:p>
                  <a:pPr lvl="1"/>
                  <a:r>
                    <a:rPr lang="en-US" sz="2400">
                      <a:solidFill>
                        <a:schemeClr val="bg1"/>
                      </a:solidFill>
                    </a:rPr>
                    <a:t>Viewing Direction, Dynamic Obstacle, Information Placement, Field Of View</a:t>
                  </a:r>
                </a:p>
                <a:p>
                  <a:pPr lvl="1"/>
                  <a:r>
                    <a:rPr lang="en-US" sz="2400">
                      <a:solidFill>
                        <a:schemeClr val="bg1"/>
                      </a:solidFill>
                    </a:rPr>
                    <a:t>Lighting Condition</a:t>
                  </a:r>
                </a:p>
              </p:txBody>
            </p:sp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0A6217D0-20FF-F7D3-6280-1276F4DF3F58}"/>
                    </a:ext>
                  </a:extLst>
                </p:cNvPr>
                <p:cNvSpPr/>
                <p:nvPr/>
              </p:nvSpPr>
              <p:spPr>
                <a:xfrm>
                  <a:off x="7291747" y="5125271"/>
                  <a:ext cx="2987952" cy="1054334"/>
                </a:xfrm>
                <a:prstGeom prst="roundRect">
                  <a:avLst/>
                </a:prstGeom>
                <a:solidFill>
                  <a:srgbClr val="843C0C"/>
                </a:solidFill>
                <a:ln w="57150"/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>
                      <a:solidFill>
                        <a:schemeClr val="bg1"/>
                      </a:solidFill>
                    </a:rPr>
                    <a:t>GLOBAL DESCRIPTOR EXTRACTION</a:t>
                  </a:r>
                </a:p>
              </p:txBody>
            </p:sp>
            <p:pic>
              <p:nvPicPr>
                <p:cNvPr id="33" name="Picture 32" descr="A picture containing indoor, black&#10;&#10;Description automatically generated">
                  <a:extLst>
                    <a:ext uri="{FF2B5EF4-FFF2-40B4-BE49-F238E27FC236}">
                      <a16:creationId xmlns:a16="http://schemas.microsoft.com/office/drawing/2014/main" id="{62069702-3804-D301-FE59-2DBE79AD5E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8251007">
                  <a:off x="6362870" y="5598102"/>
                  <a:ext cx="698579" cy="687203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pic>
              <p:nvPicPr>
                <p:cNvPr id="34" name="Picture 33" descr="A picture containing indoor, black&#10;&#10;Description automatically generated">
                  <a:extLst>
                    <a:ext uri="{FF2B5EF4-FFF2-40B4-BE49-F238E27FC236}">
                      <a16:creationId xmlns:a16="http://schemas.microsoft.com/office/drawing/2014/main" id="{4D984DA0-7C14-81CE-C779-7A1D304CFD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96898" y="5125270"/>
                  <a:ext cx="937399" cy="922134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pic>
              <p:nvPicPr>
                <p:cNvPr id="35" name="Picture 34" descr="A picture containing indoor, black&#10;&#10;Description automatically generated">
                  <a:extLst>
                    <a:ext uri="{FF2B5EF4-FFF2-40B4-BE49-F238E27FC236}">
                      <a16:creationId xmlns:a16="http://schemas.microsoft.com/office/drawing/2014/main" id="{A3DBD8F1-15D9-FE31-19A0-3E4B9851D3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533949" y="4266410"/>
                  <a:ext cx="698579" cy="687203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pic>
              <p:nvPicPr>
                <p:cNvPr id="36" name="Picture 35" descr="A picture containing design&#10;&#10;Description automatically generated">
                  <a:extLst>
                    <a:ext uri="{FF2B5EF4-FFF2-40B4-BE49-F238E27FC236}">
                      <a16:creationId xmlns:a16="http://schemas.microsoft.com/office/drawing/2014/main" id="{3010A78F-042A-343E-D5EF-B903F493A7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  <a14:imgEffect>
                            <a14:brightnessContrast bright="40000" contrast="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67327" y="4215726"/>
                  <a:ext cx="758319" cy="758319"/>
                </a:xfrm>
                <a:prstGeom prst="rect">
                  <a:avLst/>
                </a:prstGeom>
              </p:spPr>
            </p:pic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46C36BD7-56F2-727A-C26E-6F468EC8C5CF}"/>
                    </a:ext>
                  </a:extLst>
                </p:cNvPr>
                <p:cNvGrpSpPr/>
                <p:nvPr/>
              </p:nvGrpSpPr>
              <p:grpSpPr>
                <a:xfrm>
                  <a:off x="6183763" y="4346921"/>
                  <a:ext cx="1071788" cy="1054334"/>
                  <a:chOff x="6270420" y="4361931"/>
                  <a:chExt cx="698579" cy="687203"/>
                </a:xfrm>
              </p:grpSpPr>
              <p:pic>
                <p:nvPicPr>
                  <p:cNvPr id="32" name="Picture 31" descr="A picture containing indoor, black&#10;&#10;Description automatically generated">
                    <a:extLst>
                      <a:ext uri="{FF2B5EF4-FFF2-40B4-BE49-F238E27FC236}">
                        <a16:creationId xmlns:a16="http://schemas.microsoft.com/office/drawing/2014/main" id="{CDBCF48E-EBA1-14D1-B1CD-E1BE5B700C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270420" y="4361931"/>
                    <a:ext cx="698579" cy="68720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</p:pic>
              <p:sp>
                <p:nvSpPr>
                  <p:cNvPr id="37" name="Flowchart: Extract 36">
                    <a:extLst>
                      <a:ext uri="{FF2B5EF4-FFF2-40B4-BE49-F238E27FC236}">
                        <a16:creationId xmlns:a16="http://schemas.microsoft.com/office/drawing/2014/main" id="{9B05C019-4C53-5275-E092-55902BE1A3C5}"/>
                      </a:ext>
                    </a:extLst>
                  </p:cNvPr>
                  <p:cNvSpPr/>
                  <p:nvPr/>
                </p:nvSpPr>
                <p:spPr>
                  <a:xfrm rot="13550165">
                    <a:off x="6623619" y="4397886"/>
                    <a:ext cx="184411" cy="345770"/>
                  </a:xfrm>
                  <a:prstGeom prst="flowChartExtra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9" name="Arrow: Bent-Up 38">
                  <a:extLst>
                    <a:ext uri="{FF2B5EF4-FFF2-40B4-BE49-F238E27FC236}">
                      <a16:creationId xmlns:a16="http://schemas.microsoft.com/office/drawing/2014/main" id="{F94CC06A-7FBF-8F6E-1782-89408026B530}"/>
                    </a:ext>
                  </a:extLst>
                </p:cNvPr>
                <p:cNvSpPr/>
                <p:nvPr/>
              </p:nvSpPr>
              <p:spPr>
                <a:xfrm>
                  <a:off x="11201716" y="5028461"/>
                  <a:ext cx="698579" cy="745587"/>
                </a:xfrm>
                <a:prstGeom prst="bentUpArrow">
                  <a:avLst>
                    <a:gd name="adj1" fmla="val 31713"/>
                    <a:gd name="adj2" fmla="val 35069"/>
                    <a:gd name="adj3" fmla="val 5000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0" name="Picture 39" descr="A picture containing design&#10;&#10;Description automatically generated">
                  <a:extLst>
                    <a:ext uri="{FF2B5EF4-FFF2-40B4-BE49-F238E27FC236}">
                      <a16:creationId xmlns:a16="http://schemas.microsoft.com/office/drawing/2014/main" id="{C0766C1F-B999-AAAD-9171-24A4F29B97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  <a14:imgEffect>
                            <a14:brightnessContrast bright="40000" contrast="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509997" y="5415389"/>
                  <a:ext cx="484237" cy="484237"/>
                </a:xfrm>
                <a:prstGeom prst="rect">
                  <a:avLst/>
                </a:prstGeom>
              </p:spPr>
            </p:pic>
          </p:grpSp>
          <p:pic>
            <p:nvPicPr>
              <p:cNvPr id="5" name="Picture 4" descr="A picture containing indoor, black&#10;&#10;Description automatically generated">
                <a:extLst>
                  <a:ext uri="{FF2B5EF4-FFF2-40B4-BE49-F238E27FC236}">
                    <a16:creationId xmlns:a16="http://schemas.microsoft.com/office/drawing/2014/main" id="{B47F47F8-5E9E-E162-69D7-BA054020424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867" t="28371" r="20630" b="14126"/>
              <a:stretch/>
            </p:blipFill>
            <p:spPr>
              <a:xfrm>
                <a:off x="5528906" y="4370372"/>
                <a:ext cx="770871" cy="758318"/>
              </a:xfrm>
              <a:prstGeom prst="ellipse">
                <a:avLst/>
              </a:prstGeom>
              <a:solidFill>
                <a:schemeClr val="bg1"/>
              </a:solidFill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1CF68ED-0AD3-0156-EA20-5B651EA29244}"/>
                  </a:ext>
                </a:extLst>
              </p:cNvPr>
              <p:cNvGrpSpPr/>
              <p:nvPr/>
            </p:nvGrpSpPr>
            <p:grpSpPr>
              <a:xfrm>
                <a:off x="5412047" y="5636099"/>
                <a:ext cx="937399" cy="922134"/>
                <a:chOff x="5412047" y="5636099"/>
                <a:chExt cx="937399" cy="922134"/>
              </a:xfrm>
            </p:grpSpPr>
            <p:pic>
              <p:nvPicPr>
                <p:cNvPr id="6" name="Picture 5" descr="A picture containing indoor, black&#10;&#10;Description automatically generated">
                  <a:extLst>
                    <a:ext uri="{FF2B5EF4-FFF2-40B4-BE49-F238E27FC236}">
                      <a16:creationId xmlns:a16="http://schemas.microsoft.com/office/drawing/2014/main" id="{DE26FA56-02FC-A5A5-8417-48ECE7EFA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12047" y="5636099"/>
                  <a:ext cx="937399" cy="922134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84895330-3B35-DDEF-FED1-4B298AF148BC}"/>
                    </a:ext>
                  </a:extLst>
                </p:cNvPr>
                <p:cNvSpPr/>
                <p:nvPr/>
              </p:nvSpPr>
              <p:spPr>
                <a:xfrm>
                  <a:off x="5657390" y="5867594"/>
                  <a:ext cx="422988" cy="4591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00DEFC-A05A-6638-BCD3-8413870187BA}"/>
                </a:ext>
              </a:extLst>
            </p:cNvPr>
            <p:cNvSpPr txBox="1"/>
            <p:nvPr/>
          </p:nvSpPr>
          <p:spPr>
            <a:xfrm>
              <a:off x="10391919" y="3956629"/>
              <a:ext cx="17411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PREPROCESSED IN DB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1274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9472-68CC-AF8A-684F-D71D6E08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90308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H Sarabun New"/>
              </a:rPr>
              <a:t>Hypothesis</a:t>
            </a:r>
            <a:endParaRPr 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6A744F07-08C7-E7C5-C483-3460419E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25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0DBBD7F-BB2E-0959-6FE0-9F7835F8CBCD}"/>
              </a:ext>
            </a:extLst>
          </p:cNvPr>
          <p:cNvGrpSpPr/>
          <p:nvPr/>
        </p:nvGrpSpPr>
        <p:grpSpPr>
          <a:xfrm>
            <a:off x="6509965" y="1748034"/>
            <a:ext cx="5526924" cy="4532188"/>
            <a:chOff x="6509965" y="1748034"/>
            <a:chExt cx="5526924" cy="453218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5AEB0D-9C9B-5AAE-0977-DAF4F5A8297E}"/>
                </a:ext>
              </a:extLst>
            </p:cNvPr>
            <p:cNvSpPr/>
            <p:nvPr/>
          </p:nvSpPr>
          <p:spPr>
            <a:xfrm>
              <a:off x="6509965" y="3832712"/>
              <a:ext cx="1245486" cy="95977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/>
                <a:t>Experiment 2</a:t>
              </a:r>
            </a:p>
            <a:p>
              <a:pPr algn="ctr"/>
              <a:r>
                <a:rPr lang="en-US" b="1"/>
                <a:t>ROTATION</a:t>
              </a:r>
              <a:br>
                <a:rPr lang="en-US" b="1"/>
              </a:br>
              <a:r>
                <a:rPr lang="en-US" b="1"/>
                <a:t>INVARIANT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3333B4-8797-3106-73C1-36D3D56662E4}"/>
                </a:ext>
              </a:extLst>
            </p:cNvPr>
            <p:cNvSpPr/>
            <p:nvPr/>
          </p:nvSpPr>
          <p:spPr>
            <a:xfrm>
              <a:off x="7825457" y="3835385"/>
              <a:ext cx="1245486" cy="95977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/>
                <a:t>Experiment 3</a:t>
              </a:r>
            </a:p>
            <a:p>
              <a:pPr algn="ctr"/>
              <a:r>
                <a:rPr lang="en-US" b="1"/>
                <a:t>DYNAMIC</a:t>
              </a:r>
              <a:br>
                <a:rPr lang="en-US" b="1"/>
              </a:br>
              <a:r>
                <a:rPr lang="en-US" b="1"/>
                <a:t>OBSTACLE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38BE76-38AF-8217-6B30-48C1F567C95C}"/>
                </a:ext>
              </a:extLst>
            </p:cNvPr>
            <p:cNvSpPr/>
            <p:nvPr/>
          </p:nvSpPr>
          <p:spPr>
            <a:xfrm>
              <a:off x="9140949" y="3832712"/>
              <a:ext cx="1245486" cy="95977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/>
                <a:t>Experiment 4</a:t>
              </a:r>
              <a:br>
                <a:rPr lang="en-US" b="1"/>
              </a:br>
              <a:r>
                <a:rPr lang="en-US" b="1"/>
                <a:t>INFORMATION</a:t>
              </a:r>
              <a:br>
                <a:rPr lang="en-US" b="1"/>
              </a:br>
              <a:r>
                <a:rPr lang="en-US" b="1"/>
                <a:t>PLACEMENT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8AC15C9-2576-876C-B6B4-1B5449A3D439}"/>
                </a:ext>
              </a:extLst>
            </p:cNvPr>
            <p:cNvSpPr/>
            <p:nvPr/>
          </p:nvSpPr>
          <p:spPr>
            <a:xfrm>
              <a:off x="10456441" y="3832712"/>
              <a:ext cx="1245486" cy="95977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/>
                <a:t>Experiment5</a:t>
              </a:r>
              <a:br>
                <a:rPr lang="en-US" b="1"/>
              </a:br>
              <a:r>
                <a:rPr lang="en-US" b="1"/>
                <a:t>FIELD OF VIEW</a:t>
              </a:r>
              <a:br>
                <a:rPr lang="en-US" b="1"/>
              </a:br>
              <a:r>
                <a:rPr lang="en-US" b="1"/>
                <a:t>LIMITATION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87C51BC-E29B-08E9-BFC0-8B27A25574E8}"/>
                </a:ext>
              </a:extLst>
            </p:cNvPr>
            <p:cNvSpPr/>
            <p:nvPr/>
          </p:nvSpPr>
          <p:spPr>
            <a:xfrm>
              <a:off x="8563823" y="5166630"/>
              <a:ext cx="1566139" cy="1113592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GLOBAL DESCRIPTOR EXTRACTOR</a:t>
              </a:r>
            </a:p>
          </p:txBody>
        </p:sp>
        <p:pic>
          <p:nvPicPr>
            <p:cNvPr id="33" name="Picture 32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7CD43BFA-9743-79FA-4787-DD5057811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8554" y="5392960"/>
              <a:ext cx="660931" cy="660931"/>
            </a:xfrm>
            <a:prstGeom prst="rect">
              <a:avLst/>
            </a:prstGeom>
          </p:spPr>
        </p:pic>
        <p:pic>
          <p:nvPicPr>
            <p:cNvPr id="4" name="Picture 3" descr="A picture containing design&#10;&#10;Description automatically generated">
              <a:extLst>
                <a:ext uri="{FF2B5EF4-FFF2-40B4-BE49-F238E27FC236}">
                  <a16:creationId xmlns:a16="http://schemas.microsoft.com/office/drawing/2014/main" id="{92803610-D607-BEED-AC4F-BA7C1872F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35510" y="5405020"/>
              <a:ext cx="582339" cy="58233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9FBFC13-362C-9634-D62D-400F5D1D8463}"/>
                </a:ext>
              </a:extLst>
            </p:cNvPr>
            <p:cNvSpPr txBox="1"/>
            <p:nvPr/>
          </p:nvSpPr>
          <p:spPr>
            <a:xfrm>
              <a:off x="6509965" y="1748034"/>
              <a:ext cx="5526924" cy="15696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th-TH" sz="2400" b="1" u="sng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สมมติฐาน</a:t>
              </a:r>
              <a:r>
                <a:rPr lang="en-US" sz="2400" b="1" u="sng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PART 2</a:t>
              </a:r>
              <a:endParaRPr lang="th-TH" sz="2400" b="1" u="sng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th-TH" sz="240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ด้วยมุมมองที่กว้างของกล้อง </a:t>
              </a:r>
              <a:r>
                <a:rPr lang="en-US" sz="240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Omnidirectional </a:t>
              </a:r>
              <a:r>
                <a:rPr lang="th-TH" sz="240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การบดบังในบางส่วนจะส่งผลกระทบน้อย</a:t>
              </a:r>
              <a:r>
                <a:rPr lang="en-US" sz="240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th-TH" sz="240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กับคุณภาพของคำตอบในการใช้งาน </a:t>
              </a:r>
              <a:r>
                <a:rPr lang="en-US" sz="240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Global Descriptor Model </a:t>
              </a:r>
              <a:r>
                <a:rPr lang="th-TH" sz="240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นี้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7525F31-BE6F-5A37-6F3F-B6727128570A}"/>
              </a:ext>
            </a:extLst>
          </p:cNvPr>
          <p:cNvGrpSpPr/>
          <p:nvPr/>
        </p:nvGrpSpPr>
        <p:grpSpPr>
          <a:xfrm>
            <a:off x="375523" y="1727526"/>
            <a:ext cx="5487984" cy="4673321"/>
            <a:chOff x="375523" y="1727526"/>
            <a:chExt cx="5487984" cy="467332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D4CB7F-D136-9AAD-3468-E0B5C9720BC0}"/>
                </a:ext>
              </a:extLst>
            </p:cNvPr>
            <p:cNvSpPr/>
            <p:nvPr/>
          </p:nvSpPr>
          <p:spPr>
            <a:xfrm>
              <a:off x="2062038" y="3832712"/>
              <a:ext cx="1823734" cy="959779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/>
                <a:t>Experiment 1</a:t>
              </a:r>
              <a:br>
                <a:rPr lang="en-US" b="1"/>
              </a:br>
              <a:r>
                <a:rPr lang="en-US" b="1"/>
                <a:t>CREATE GLOBAL-OMNI</a:t>
              </a:r>
              <a:br>
                <a:rPr lang="en-US" b="1"/>
              </a:br>
              <a:r>
                <a:rPr lang="en-US" b="1"/>
                <a:t>DESCRIPTOR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A987F0-B92A-F809-5D99-7EDE74FE5A70}"/>
                </a:ext>
              </a:extLst>
            </p:cNvPr>
            <p:cNvGrpSpPr/>
            <p:nvPr/>
          </p:nvGrpSpPr>
          <p:grpSpPr>
            <a:xfrm>
              <a:off x="1058970" y="5004952"/>
              <a:ext cx="4762115" cy="1395895"/>
              <a:chOff x="3530213" y="1323618"/>
              <a:chExt cx="5907880" cy="173185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CE2A402-0028-306D-2D0A-93F4331AD802}"/>
                  </a:ext>
                </a:extLst>
              </p:cNvPr>
              <p:cNvCxnSpPr>
                <a:cxnSpLocks/>
                <a:endCxn id="31" idx="1"/>
              </p:cNvCxnSpPr>
              <p:nvPr/>
            </p:nvCxnSpPr>
            <p:spPr>
              <a:xfrm>
                <a:off x="3530213" y="2294936"/>
                <a:ext cx="391014" cy="295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C3F7E4C-010A-7E2E-122B-A4ABC091633C}"/>
                  </a:ext>
                </a:extLst>
              </p:cNvPr>
              <p:cNvGrpSpPr/>
              <p:nvPr/>
            </p:nvGrpSpPr>
            <p:grpSpPr>
              <a:xfrm>
                <a:off x="3860073" y="1323618"/>
                <a:ext cx="5578020" cy="1731855"/>
                <a:chOff x="2118180" y="675351"/>
                <a:chExt cx="5578020" cy="1731855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85EA1198-AB60-64EE-0272-6815C17720B3}"/>
                    </a:ext>
                  </a:extLst>
                </p:cNvPr>
                <p:cNvGrpSpPr/>
                <p:nvPr/>
              </p:nvGrpSpPr>
              <p:grpSpPr>
                <a:xfrm>
                  <a:off x="2118180" y="1110456"/>
                  <a:ext cx="5578020" cy="956975"/>
                  <a:chOff x="2334080" y="1962352"/>
                  <a:chExt cx="5578020" cy="956975"/>
                </a:xfrm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68DD8662-1D53-623B-2945-BB2F2993FC31}"/>
                      </a:ext>
                    </a:extLst>
                  </p:cNvPr>
                  <p:cNvGrpSpPr/>
                  <p:nvPr/>
                </p:nvGrpSpPr>
                <p:grpSpPr>
                  <a:xfrm>
                    <a:off x="2334080" y="1962352"/>
                    <a:ext cx="4510179" cy="956975"/>
                    <a:chOff x="1889177" y="1310404"/>
                    <a:chExt cx="7493000" cy="1589873"/>
                  </a:xfrm>
                </p:grpSpPr>
                <p:pic>
                  <p:nvPicPr>
                    <p:cNvPr id="30" name="Picture 29" descr="vlad_cnn.pdf">
                      <a:extLst>
                        <a:ext uri="{FF2B5EF4-FFF2-40B4-BE49-F238E27FC236}">
                          <a16:creationId xmlns:a16="http://schemas.microsoft.com/office/drawing/2014/main" id="{6C393361-C088-BCD5-9228-18130DF4303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7812"/>
                    <a:stretch/>
                  </p:blipFill>
                  <p:spPr>
                    <a:xfrm>
                      <a:off x="1889177" y="1310404"/>
                      <a:ext cx="7493000" cy="158987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</p:pic>
                <p:sp>
                  <p:nvSpPr>
                    <p:cNvPr id="31" name="Rectangle 30">
                      <a:extLst>
                        <a:ext uri="{FF2B5EF4-FFF2-40B4-BE49-F238E27FC236}">
                          <a16:creationId xmlns:a16="http://schemas.microsoft.com/office/drawing/2014/main" id="{9A0D67B4-E50C-B0D9-45AF-53AE70A108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90776" y="1550116"/>
                      <a:ext cx="3340101" cy="1312058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OMNIDIRECTIONAL</a:t>
                      </a:r>
                      <a:br>
                        <a:rPr lang="en-US" sz="120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</a:br>
                      <a:r>
                        <a:rPr lang="en-US" sz="120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LOCAL FEATURE EXTRACTOR</a:t>
                      </a:r>
                    </a:p>
                  </p:txBody>
                </p:sp>
              </p:grpSp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80EBEE20-8580-C984-ABC3-9FB056DFD24C}"/>
                      </a:ext>
                    </a:extLst>
                  </p:cNvPr>
                  <p:cNvSpPr/>
                  <p:nvPr/>
                </p:nvSpPr>
                <p:spPr>
                  <a:xfrm>
                    <a:off x="6844259" y="2033503"/>
                    <a:ext cx="1067841" cy="885824"/>
                  </a:xfrm>
                  <a:prstGeom prst="roundRect">
                    <a:avLst/>
                  </a:prstGeom>
                </p:spPr>
                <p:style>
                  <a:lnRef idx="2">
                    <a:schemeClr val="accent3">
                      <a:shade val="15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>
                        <a:solidFill>
                          <a:schemeClr val="bg1"/>
                        </a:solidFill>
                      </a:rPr>
                      <a:t>LOSS FUNCTION</a:t>
                    </a:r>
                  </a:p>
                </p:txBody>
              </p:sp>
            </p:grpSp>
            <p:sp>
              <p:nvSpPr>
                <p:cNvPr id="25" name="Arrow: Left 24">
                  <a:extLst>
                    <a:ext uri="{FF2B5EF4-FFF2-40B4-BE49-F238E27FC236}">
                      <a16:creationId xmlns:a16="http://schemas.microsoft.com/office/drawing/2014/main" id="{C4F7CD3B-F3E8-5173-B973-F3EE6F6E2B9C}"/>
                    </a:ext>
                  </a:extLst>
                </p:cNvPr>
                <p:cNvSpPr/>
                <p:nvPr/>
              </p:nvSpPr>
              <p:spPr>
                <a:xfrm>
                  <a:off x="2179335" y="2099130"/>
                  <a:ext cx="5516865" cy="308076"/>
                </a:xfrm>
                <a:prstGeom prst="leftArrow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100" b="1">
                      <a:solidFill>
                        <a:schemeClr val="bg1"/>
                      </a:solidFill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GRADIENT BACKPROPAGATION</a:t>
                  </a:r>
                </a:p>
              </p:txBody>
            </p:sp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258F53B5-20C3-B52B-220C-C293333CDB77}"/>
                    </a:ext>
                  </a:extLst>
                </p:cNvPr>
                <p:cNvSpPr/>
                <p:nvPr/>
              </p:nvSpPr>
              <p:spPr>
                <a:xfrm>
                  <a:off x="2132860" y="675351"/>
                  <a:ext cx="4495498" cy="395695"/>
                </a:xfrm>
                <a:prstGeom prst="roundRect">
                  <a:avLst/>
                </a:prstGeom>
                <a:solidFill>
                  <a:schemeClr val="accent2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>
                      <a:solidFill>
                        <a:schemeClr val="bg1"/>
                      </a:solidFill>
                    </a:rPr>
                    <a:t>GLOBAL DESCRIPTOR EXTRACTOR</a:t>
                  </a:r>
                </a:p>
              </p:txBody>
            </p:sp>
          </p:grpSp>
        </p:grpSp>
        <p:pic>
          <p:nvPicPr>
            <p:cNvPr id="13" name="Picture 12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BD1D196B-F280-603E-0172-44FA81C17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523" y="5365725"/>
              <a:ext cx="660931" cy="66093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3E1AFF-34E2-8A9B-9179-752C38DF0ED1}"/>
                </a:ext>
              </a:extLst>
            </p:cNvPr>
            <p:cNvSpPr txBox="1"/>
            <p:nvPr/>
          </p:nvSpPr>
          <p:spPr>
            <a:xfrm>
              <a:off x="375523" y="1727526"/>
              <a:ext cx="5487984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th-TH" sz="2400" b="1" u="sng">
                  <a:solidFill>
                    <a:schemeClr val="bg1"/>
                  </a:solidFill>
                </a:rPr>
                <a:t>สมมติฐาน</a:t>
              </a:r>
              <a:r>
                <a:rPr lang="en-US" sz="2400" b="1" u="sng">
                  <a:solidFill>
                    <a:schemeClr val="bg1"/>
                  </a:solidFill>
                </a:rPr>
                <a:t> PART 1</a:t>
              </a:r>
              <a:endParaRPr lang="th-TH" sz="2400" b="1" u="sng">
                <a:solidFill>
                  <a:schemeClr val="bg1"/>
                </a:solidFill>
              </a:endParaRPr>
            </a:p>
            <a:p>
              <a:pPr marL="0" indent="0">
                <a:lnSpc>
                  <a:spcPct val="100000"/>
                </a:lnSpc>
                <a:buNone/>
              </a:pPr>
              <a:r>
                <a:rPr lang="th-TH" sz="2400">
                  <a:solidFill>
                    <a:schemeClr val="bg1"/>
                  </a:solidFill>
                </a:rPr>
                <a:t>การ </a:t>
              </a:r>
              <a:r>
                <a:rPr lang="en-US" sz="2400">
                  <a:solidFill>
                    <a:schemeClr val="bg1"/>
                  </a:solidFill>
                </a:rPr>
                <a:t>Fine-Tune Local Feature Extractor (CNN)</a:t>
              </a:r>
              <a:r>
                <a:rPr lang="th-TH" sz="2400">
                  <a:solidFill>
                    <a:schemeClr val="bg1"/>
                  </a:solidFill>
                </a:rPr>
                <a:t> ด้วย </a:t>
              </a:r>
              <a:r>
                <a:rPr lang="en-US" sz="2400">
                  <a:solidFill>
                    <a:schemeClr val="bg1"/>
                  </a:solidFill>
                </a:rPr>
                <a:t>Domain </a:t>
              </a:r>
              <a:r>
                <a:rPr lang="th-TH" sz="2400">
                  <a:solidFill>
                    <a:schemeClr val="bg1"/>
                  </a:solidFill>
                </a:rPr>
                <a:t>รูปภาพ </a:t>
              </a:r>
              <a:r>
                <a:rPr lang="en-US" sz="2400">
                  <a:solidFill>
                    <a:schemeClr val="bg1"/>
                  </a:solidFill>
                </a:rPr>
                <a:t>Omnidirectional </a:t>
              </a:r>
              <a:r>
                <a:rPr lang="th-TH" sz="2400">
                  <a:solidFill>
                    <a:schemeClr val="bg1"/>
                  </a:solidFill>
                </a:rPr>
                <a:t>จะช่วยทำให้ </a:t>
              </a:r>
              <a:r>
                <a:rPr lang="en-US" sz="2400">
                  <a:solidFill>
                    <a:schemeClr val="bg1"/>
                  </a:solidFill>
                </a:rPr>
                <a:t>Global Descriptor Model </a:t>
              </a:r>
              <a:r>
                <a:rPr lang="th-TH" sz="2400">
                  <a:solidFill>
                    <a:schemeClr val="bg1"/>
                  </a:solidFill>
                </a:rPr>
                <a:t>สามารถสร้าง </a:t>
              </a:r>
              <a:r>
                <a:rPr lang="en-US" sz="2400">
                  <a:solidFill>
                    <a:schemeClr val="bg1"/>
                  </a:solidFill>
                </a:rPr>
                <a:t>Descriptor </a:t>
              </a:r>
              <a:r>
                <a:rPr lang="th-TH" sz="2400">
                  <a:solidFill>
                    <a:schemeClr val="bg1"/>
                  </a:solidFill>
                </a:rPr>
                <a:t>ที่เหมาะสมกับรูปดังกล่าวในการใช้งาน </a:t>
              </a:r>
              <a:r>
                <a:rPr lang="en-US" sz="2400">
                  <a:solidFill>
                    <a:schemeClr val="bg1"/>
                  </a:solidFill>
                </a:rPr>
                <a:t>Visual Place Recognition </a:t>
              </a:r>
              <a:r>
                <a:rPr lang="th-TH" sz="2400">
                  <a:solidFill>
                    <a:schemeClr val="bg1"/>
                  </a:solidFill>
                </a:rPr>
                <a:t>ได้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862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BB77-158F-711D-2548-29D288D2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 1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338B2769-C4E3-90BA-9E52-DCEF17D1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26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1A837A-8A13-5CF9-A14C-D7D416AB1F47}"/>
              </a:ext>
            </a:extLst>
          </p:cNvPr>
          <p:cNvSpPr txBox="1"/>
          <p:nvPr/>
        </p:nvSpPr>
        <p:spPr>
          <a:xfrm>
            <a:off x="666250" y="1393192"/>
            <a:ext cx="105923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u="sng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Omnidirectional Image Understanding in End-to-End Global Descriptor Extraction Pipeline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</a:t>
            </a:r>
            <a:r>
              <a:rPr lang="th-TH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เปรียบเทียบการใช้งาน </a:t>
            </a:r>
            <a:r>
              <a:rPr lang="en-US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Local Feature Extractor</a:t>
            </a:r>
            <a:r>
              <a:rPr lang="th-TH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รูปแบบต่างๆบนรูป </a:t>
            </a:r>
            <a:r>
              <a:rPr lang="en-US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Omnidirectional Image </a:t>
            </a:r>
            <a:r>
              <a:rPr lang="th-TH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ที่ไม่มีการ </a:t>
            </a:r>
            <a:r>
              <a:rPr lang="en-US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Fine-Tuning Local Feature Extractor </a:t>
            </a:r>
            <a:r>
              <a:rPr lang="th-TH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กับแบบที่เปิด </a:t>
            </a:r>
            <a:r>
              <a:rPr lang="en-US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Fine-Tuning</a:t>
            </a:r>
            <a:r>
              <a:rPr lang="th-TH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จาก </a:t>
            </a:r>
            <a:r>
              <a:rPr lang="en-US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NetVLAD Pipeline</a:t>
            </a:r>
            <a:endParaRPr lang="th-TH" sz="240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FD130E-CE97-12D2-47F5-BA7E288412E3}"/>
              </a:ext>
            </a:extLst>
          </p:cNvPr>
          <p:cNvGrpSpPr/>
          <p:nvPr/>
        </p:nvGrpSpPr>
        <p:grpSpPr>
          <a:xfrm>
            <a:off x="1450069" y="4438076"/>
            <a:ext cx="9587028" cy="2258390"/>
            <a:chOff x="-436156" y="2062334"/>
            <a:chExt cx="14960038" cy="3557054"/>
          </a:xfrm>
        </p:grpSpPr>
        <p:pic>
          <p:nvPicPr>
            <p:cNvPr id="4" name="Picture 3" descr="vlad_cnn.pdf">
              <a:extLst>
                <a:ext uri="{FF2B5EF4-FFF2-40B4-BE49-F238E27FC236}">
                  <a16:creationId xmlns:a16="http://schemas.microsoft.com/office/drawing/2014/main" id="{AAB630B1-F4BA-5385-CBFE-2397C0B2AE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12"/>
            <a:stretch/>
          </p:blipFill>
          <p:spPr>
            <a:xfrm>
              <a:off x="2270710" y="2062334"/>
              <a:ext cx="10610111" cy="225126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6" name="Picture 5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FD1C651D-8393-D4E1-5C05-1EA64AEF8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36156" y="2068404"/>
              <a:ext cx="2251279" cy="225127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537557-E209-01FC-8983-6E3C0EA801A4}"/>
                </a:ext>
              </a:extLst>
            </p:cNvPr>
            <p:cNvSpPr txBox="1"/>
            <p:nvPr/>
          </p:nvSpPr>
          <p:spPr>
            <a:xfrm>
              <a:off x="10060193" y="4557870"/>
              <a:ext cx="3438119" cy="581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FINE-TUNED BACK TO CNN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09473F4-78C6-0515-6075-D62BA8E546A2}"/>
                </a:ext>
              </a:extLst>
            </p:cNvPr>
            <p:cNvGrpSpPr/>
            <p:nvPr/>
          </p:nvGrpSpPr>
          <p:grpSpPr>
            <a:xfrm>
              <a:off x="1837942" y="2366788"/>
              <a:ext cx="5347384" cy="1857880"/>
              <a:chOff x="1867532" y="4527988"/>
              <a:chExt cx="5180461" cy="18578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47344C-B279-FC29-32EB-3E7975CF0B72}"/>
                  </a:ext>
                </a:extLst>
              </p:cNvPr>
              <p:cNvSpPr/>
              <p:nvPr/>
            </p:nvSpPr>
            <p:spPr>
              <a:xfrm>
                <a:off x="2394993" y="4527988"/>
                <a:ext cx="4653000" cy="1857880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OMNIDIRECTIONAL</a:t>
                </a:r>
                <a:br>
                  <a:rPr lang="en-US">
                    <a:latin typeface="TH Sarabun New" panose="020B0500040200020003" pitchFamily="34" charset="-34"/>
                    <a:cs typeface="TH Sarabun New" panose="020B0500040200020003" pitchFamily="34" charset="-34"/>
                  </a:rPr>
                </a:br>
                <a:r>
                  <a:rPr lang="en-US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LOCAL FEATURE EXTRACTOR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F246E08-685F-3CF5-D367-5F315AE2A0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7532" y="5490683"/>
                <a:ext cx="462559" cy="2"/>
              </a:xfrm>
              <a:prstGeom prst="straightConnector1">
                <a:avLst/>
              </a:prstGeom>
              <a:ln w="571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16AA1A3-3E80-386A-A7D3-D96F5DF3A8CA}"/>
                </a:ext>
              </a:extLst>
            </p:cNvPr>
            <p:cNvSpPr/>
            <p:nvPr/>
          </p:nvSpPr>
          <p:spPr>
            <a:xfrm>
              <a:off x="13364549" y="2062336"/>
              <a:ext cx="1159333" cy="2271913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LOSS</a:t>
              </a:r>
              <a:br>
                <a:rPr lang="en-US" sz="1200" b="1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</a:br>
              <a:r>
                <a:rPr lang="en-US" sz="1200" b="1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FUNCTION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D61095-925B-A5A2-930C-23E171B7D076}"/>
                </a:ext>
              </a:extLst>
            </p:cNvPr>
            <p:cNvSpPr/>
            <p:nvPr/>
          </p:nvSpPr>
          <p:spPr>
            <a:xfrm>
              <a:off x="1023310" y="4885588"/>
              <a:ext cx="1657922" cy="72003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VGG-16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2E219EA-F3AC-CB77-FFAC-730C55013CC9}"/>
                </a:ext>
              </a:extLst>
            </p:cNvPr>
            <p:cNvSpPr/>
            <p:nvPr/>
          </p:nvSpPr>
          <p:spPr>
            <a:xfrm>
              <a:off x="3069708" y="4885588"/>
              <a:ext cx="1657922" cy="72003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RESNET-18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F8DB16-E69B-92AB-1C99-CCBDE0BEE98E}"/>
                </a:ext>
              </a:extLst>
            </p:cNvPr>
            <p:cNvSpPr/>
            <p:nvPr/>
          </p:nvSpPr>
          <p:spPr>
            <a:xfrm>
              <a:off x="5450395" y="4899354"/>
              <a:ext cx="2953539" cy="72003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OWN IMPLEMENT ARCH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8C5B7D1-384A-5821-D165-A55F85CE8222}"/>
                </a:ext>
              </a:extLst>
            </p:cNvPr>
            <p:cNvSpPr txBox="1"/>
            <p:nvPr/>
          </p:nvSpPr>
          <p:spPr>
            <a:xfrm>
              <a:off x="4701520" y="4999274"/>
              <a:ext cx="748875" cy="533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. . .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108B28E5-EDE5-F425-3846-DEE5CDA08F08}"/>
                </a:ext>
              </a:extLst>
            </p:cNvPr>
            <p:cNvSpPr/>
            <p:nvPr/>
          </p:nvSpPr>
          <p:spPr>
            <a:xfrm rot="10800000">
              <a:off x="2382397" y="4239904"/>
              <a:ext cx="12141481" cy="460131"/>
            </a:xfrm>
            <a:prstGeom prst="rightArrow">
              <a:avLst>
                <a:gd name="adj1" fmla="val 50000"/>
                <a:gd name="adj2" fmla="val 17280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E1F375C-6D0A-48C7-618A-FF7569D95880}"/>
              </a:ext>
            </a:extLst>
          </p:cNvPr>
          <p:cNvCxnSpPr>
            <a:cxnSpLocks/>
          </p:cNvCxnSpPr>
          <p:nvPr/>
        </p:nvCxnSpPr>
        <p:spPr>
          <a:xfrm flipV="1">
            <a:off x="9994181" y="5141531"/>
            <a:ext cx="305979" cy="1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DA075C3-3F13-EA9B-E45D-B3D004AAB2C2}"/>
              </a:ext>
            </a:extLst>
          </p:cNvPr>
          <p:cNvSpPr txBox="1"/>
          <p:nvPr/>
        </p:nvSpPr>
        <p:spPr>
          <a:xfrm>
            <a:off x="630138" y="2851386"/>
            <a:ext cx="617577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th-TH" sz="2800" b="1" u="sng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วัดผลจาก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ตัวที่ให้ผลดีจะให้</a:t>
            </a:r>
            <a:r>
              <a:rPr lang="th-TH" sz="2400" i="1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Recall Rate @K Rank</a:t>
            </a:r>
            <a:r>
              <a:rPr lang="th-TH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ที่สูง</a:t>
            </a:r>
            <a:r>
              <a:rPr lang="en-US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, mAP </a:t>
            </a:r>
            <a:r>
              <a:rPr lang="th-TH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ที่สูง</a:t>
            </a:r>
            <a:endParaRPr lang="en-US" sz="240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ตัวที่ดีจะใช้ระยะเวลาน้อยในการประมวลผล  </a:t>
            </a:r>
          </a:p>
        </p:txBody>
      </p:sp>
    </p:spTree>
    <p:extLst>
      <p:ext uri="{BB962C8B-B14F-4D97-AF65-F5344CB8AC3E}">
        <p14:creationId xmlns:p14="http://schemas.microsoft.com/office/powerpoint/2010/main" val="2772140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BB77-158F-711D-2548-29D288D2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EEA8A-458F-3247-E62D-50B33D758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960" y="1825625"/>
            <a:ext cx="7012587" cy="4351338"/>
          </a:xfrm>
        </p:spPr>
        <p:txBody>
          <a:bodyPr/>
          <a:lstStyle/>
          <a:p>
            <a:pPr marL="0" indent="0">
              <a:buNone/>
            </a:pPr>
            <a:r>
              <a:rPr lang="th-TH" b="1" u="sng">
                <a:solidFill>
                  <a:schemeClr val="bg1"/>
                </a:solidFill>
              </a:rPr>
              <a:t>การทดลอง</a:t>
            </a:r>
            <a:r>
              <a:rPr lang="en-US" b="1" u="sng">
                <a:solidFill>
                  <a:schemeClr val="bg1"/>
                </a:solidFill>
              </a:rPr>
              <a:t> : Omnidirectional is Viewpoint Rotation Invariant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	</a:t>
            </a:r>
            <a:r>
              <a:rPr lang="th-TH">
                <a:solidFill>
                  <a:schemeClr val="bg1"/>
                </a:solidFill>
              </a:rPr>
              <a:t>การสกัด </a:t>
            </a:r>
            <a:r>
              <a:rPr lang="en-US">
                <a:solidFill>
                  <a:schemeClr val="bg1"/>
                </a:solidFill>
              </a:rPr>
              <a:t>Global Descriptor </a:t>
            </a:r>
            <a:r>
              <a:rPr lang="th-TH">
                <a:solidFill>
                  <a:schemeClr val="bg1"/>
                </a:solidFill>
              </a:rPr>
              <a:t>จากรูปในสถานที่เดียวกัน แต่มี </a:t>
            </a:r>
            <a:r>
              <a:rPr lang="en-US">
                <a:solidFill>
                  <a:schemeClr val="bg1"/>
                </a:solidFill>
              </a:rPr>
              <a:t>Viewing Direction </a:t>
            </a:r>
            <a:r>
              <a:rPr lang="th-TH">
                <a:solidFill>
                  <a:schemeClr val="bg1"/>
                </a:solidFill>
              </a:rPr>
              <a:t>คนละทิศทางกัน ควรจะให้ </a:t>
            </a:r>
            <a:r>
              <a:rPr lang="en-US">
                <a:solidFill>
                  <a:schemeClr val="bg1"/>
                </a:solidFill>
              </a:rPr>
              <a:t>Global Descriptor </a:t>
            </a:r>
            <a:r>
              <a:rPr lang="th-TH">
                <a:solidFill>
                  <a:schemeClr val="bg1"/>
                </a:solidFill>
              </a:rPr>
              <a:t>ที่ใกล้เคียงกับผลเฉลย</a:t>
            </a:r>
            <a:endParaRPr lang="th-TH" b="1" u="sng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th-TH" b="1" u="sng">
                <a:solidFill>
                  <a:schemeClr val="bg1"/>
                </a:solidFill>
              </a:rPr>
              <a:t>วัดผลจาก</a:t>
            </a:r>
          </a:p>
          <a:p>
            <a:pPr marL="0" indent="0">
              <a:buNone/>
            </a:pPr>
            <a:r>
              <a:rPr lang="th-TH" i="1">
                <a:solidFill>
                  <a:schemeClr val="bg1"/>
                </a:solidFill>
              </a:rPr>
              <a:t>	</a:t>
            </a:r>
            <a:r>
              <a:rPr lang="th-TH">
                <a:solidFill>
                  <a:schemeClr val="bg1"/>
                </a:solidFill>
              </a:rPr>
              <a:t>ค่าวัด</a:t>
            </a:r>
            <a:r>
              <a:rPr lang="en-US">
                <a:solidFill>
                  <a:schemeClr val="bg1"/>
                </a:solidFill>
              </a:rPr>
              <a:t> Recall Rate @ K </a:t>
            </a:r>
            <a:r>
              <a:rPr lang="th-TH">
                <a:solidFill>
                  <a:schemeClr val="bg1"/>
                </a:solidFill>
              </a:rPr>
              <a:t>และ </a:t>
            </a:r>
            <a:r>
              <a:rPr lang="en-US">
                <a:solidFill>
                  <a:schemeClr val="bg1"/>
                </a:solidFill>
              </a:rPr>
              <a:t>Mean Average Precision </a:t>
            </a:r>
            <a:br>
              <a:rPr lang="th-TH">
                <a:solidFill>
                  <a:schemeClr val="bg1"/>
                </a:solidFill>
              </a:rPr>
            </a:br>
            <a:r>
              <a:rPr lang="th-TH">
                <a:solidFill>
                  <a:schemeClr val="bg1"/>
                </a:solidFill>
              </a:rPr>
              <a:t>ควรจะมีค่าใกล้เคียงของเดิม เมื่อมีการลดปริมาณมุมของรูปผลเฉลยที่ใช้วัดผลใน </a:t>
            </a:r>
            <a:r>
              <a:rPr lang="en-US">
                <a:solidFill>
                  <a:schemeClr val="bg1"/>
                </a:solidFill>
              </a:rPr>
              <a:t>Place</a:t>
            </a:r>
            <a:r>
              <a:rPr lang="th-TH">
                <a:solidFill>
                  <a:schemeClr val="bg1"/>
                </a:solidFill>
              </a:rPr>
              <a:t> นั้นๆ 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E424AE-42BD-F96F-A635-E4120A7F1EBA}"/>
              </a:ext>
            </a:extLst>
          </p:cNvPr>
          <p:cNvGrpSpPr/>
          <p:nvPr/>
        </p:nvGrpSpPr>
        <p:grpSpPr>
          <a:xfrm>
            <a:off x="8339924" y="734457"/>
            <a:ext cx="3466313" cy="3415250"/>
            <a:chOff x="8310782" y="1200149"/>
            <a:chExt cx="3466313" cy="3415250"/>
          </a:xfrm>
        </p:grpSpPr>
        <p:pic>
          <p:nvPicPr>
            <p:cNvPr id="5" name="Picture 4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E6F0189C-AAB3-4636-FDED-B63E3E900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0782" y="1200149"/>
              <a:ext cx="1707625" cy="1707625"/>
            </a:xfrm>
            <a:prstGeom prst="ellipse">
              <a:avLst/>
            </a:prstGeom>
          </p:spPr>
        </p:pic>
        <p:pic>
          <p:nvPicPr>
            <p:cNvPr id="7" name="Picture 6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6D95B700-BD42-12EC-216A-67892549B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069470" y="1200149"/>
              <a:ext cx="1707625" cy="1707625"/>
            </a:xfrm>
            <a:prstGeom prst="ellipse">
              <a:avLst/>
            </a:prstGeom>
          </p:spPr>
        </p:pic>
        <p:pic>
          <p:nvPicPr>
            <p:cNvPr id="8" name="Picture 7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F4CF2A1E-3D64-3D76-E305-43541F363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069470" y="2907774"/>
              <a:ext cx="1707625" cy="1707625"/>
            </a:xfrm>
            <a:prstGeom prst="ellipse">
              <a:avLst/>
            </a:prstGeom>
          </p:spPr>
        </p:pic>
        <p:pic>
          <p:nvPicPr>
            <p:cNvPr id="9" name="Picture 8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9FD5645F-9957-BC47-BC2D-8CB7B49BC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8310782" y="2907774"/>
              <a:ext cx="1707625" cy="1707625"/>
            </a:xfrm>
            <a:prstGeom prst="ellipse">
              <a:avLst/>
            </a:prstGeom>
          </p:spPr>
        </p:pic>
      </p:grpSp>
      <p:pic>
        <p:nvPicPr>
          <p:cNvPr id="11" name="Picture 10" descr="A picture containing indoor, black&#10;&#10;Description automatically generated">
            <a:extLst>
              <a:ext uri="{FF2B5EF4-FFF2-40B4-BE49-F238E27FC236}">
                <a16:creationId xmlns:a16="http://schemas.microsoft.com/office/drawing/2014/main" id="{BFB86CEB-4B03-7B07-9249-998191A78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799" y="4820956"/>
            <a:ext cx="1707625" cy="1707625"/>
          </a:xfrm>
          <a:prstGeom prst="ellipse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81F11109-E35C-29D9-7532-5819D11B0436}"/>
              </a:ext>
            </a:extLst>
          </p:cNvPr>
          <p:cNvSpPr/>
          <p:nvPr/>
        </p:nvSpPr>
        <p:spPr>
          <a:xfrm>
            <a:off x="9773229" y="4069562"/>
            <a:ext cx="548640" cy="6652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B59867C6-7F8B-6B12-DD51-C89A2D97A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27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4" name="Picture 3" descr="A picture containing design&#10;&#10;Description automatically generated">
            <a:extLst>
              <a:ext uri="{FF2B5EF4-FFF2-40B4-BE49-F238E27FC236}">
                <a16:creationId xmlns:a16="http://schemas.microsoft.com/office/drawing/2014/main" id="{69C11F30-B9E6-F326-9EE5-B73F80267E7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653" y="1924087"/>
            <a:ext cx="620415" cy="620414"/>
          </a:xfrm>
          <a:prstGeom prst="rect">
            <a:avLst/>
          </a:prstGeom>
        </p:spPr>
      </p:pic>
      <p:pic>
        <p:nvPicPr>
          <p:cNvPr id="13" name="Picture 12" descr="A picture containing design&#10;&#10;Description automatically generated">
            <a:extLst>
              <a:ext uri="{FF2B5EF4-FFF2-40B4-BE49-F238E27FC236}">
                <a16:creationId xmlns:a16="http://schemas.microsoft.com/office/drawing/2014/main" id="{C6D3DA5D-7115-B4FD-7545-2B513F152A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652" y="3554711"/>
            <a:ext cx="620415" cy="620414"/>
          </a:xfrm>
          <a:prstGeom prst="rect">
            <a:avLst/>
          </a:prstGeom>
        </p:spPr>
      </p:pic>
      <p:pic>
        <p:nvPicPr>
          <p:cNvPr id="14" name="Picture 13" descr="A picture containing design&#10;&#10;Description automatically generated">
            <a:extLst>
              <a:ext uri="{FF2B5EF4-FFF2-40B4-BE49-F238E27FC236}">
                <a16:creationId xmlns:a16="http://schemas.microsoft.com/office/drawing/2014/main" id="{05C40BC6-5C40-4CBD-9906-572A25CF164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6029" y="1924087"/>
            <a:ext cx="620415" cy="620414"/>
          </a:xfrm>
          <a:prstGeom prst="rect">
            <a:avLst/>
          </a:prstGeom>
        </p:spPr>
      </p:pic>
      <p:pic>
        <p:nvPicPr>
          <p:cNvPr id="15" name="Picture 14" descr="A picture containing design&#10;&#10;Description automatically generated">
            <a:extLst>
              <a:ext uri="{FF2B5EF4-FFF2-40B4-BE49-F238E27FC236}">
                <a16:creationId xmlns:a16="http://schemas.microsoft.com/office/drawing/2014/main" id="{3E31A20C-7030-D40C-3CF1-A9EFB96EB53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6028" y="3750036"/>
            <a:ext cx="620415" cy="620414"/>
          </a:xfrm>
          <a:prstGeom prst="rect">
            <a:avLst/>
          </a:prstGeom>
        </p:spPr>
      </p:pic>
      <p:pic>
        <p:nvPicPr>
          <p:cNvPr id="16" name="Picture 15" descr="A picture containing design&#10;&#10;Description automatically generated">
            <a:extLst>
              <a:ext uri="{FF2B5EF4-FFF2-40B4-BE49-F238E27FC236}">
                <a16:creationId xmlns:a16="http://schemas.microsoft.com/office/drawing/2014/main" id="{DE373C7D-0CB1-BAC6-96F2-75FDCDDC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86" y="5129271"/>
            <a:ext cx="620415" cy="6204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37CC1CC-2024-B2D6-CEF3-0D0533795283}"/>
              </a:ext>
            </a:extLst>
          </p:cNvPr>
          <p:cNvSpPr txBox="1"/>
          <p:nvPr/>
        </p:nvSpPr>
        <p:spPr>
          <a:xfrm>
            <a:off x="10295433" y="4235821"/>
            <a:ext cx="1072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SIMILAR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7CE416-E5F5-F5C5-7D88-E2CE9313A19E}"/>
              </a:ext>
            </a:extLst>
          </p:cNvPr>
          <p:cNvSpPr txBox="1"/>
          <p:nvPr/>
        </p:nvSpPr>
        <p:spPr>
          <a:xfrm>
            <a:off x="9532590" y="196867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A1AAC8-FF41-9F7D-836D-61A4D2C42416}"/>
              </a:ext>
            </a:extLst>
          </p:cNvPr>
          <p:cNvSpPr txBox="1"/>
          <p:nvPr/>
        </p:nvSpPr>
        <p:spPr>
          <a:xfrm>
            <a:off x="10861357" y="5796390"/>
            <a:ext cx="49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</a:t>
            </a:r>
          </a:p>
        </p:txBody>
      </p:sp>
    </p:spTree>
    <p:extLst>
      <p:ext uri="{BB962C8B-B14F-4D97-AF65-F5344CB8AC3E}">
        <p14:creationId xmlns:p14="http://schemas.microsoft.com/office/powerpoint/2010/main" val="1247510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BB77-158F-711D-2548-29D288D2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EEA8A-458F-3247-E62D-50B33D758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00596" cy="4351338"/>
          </a:xfrm>
        </p:spPr>
        <p:txBody>
          <a:bodyPr/>
          <a:lstStyle/>
          <a:p>
            <a:pPr marL="0" indent="0">
              <a:buNone/>
            </a:pPr>
            <a:r>
              <a:rPr lang="th-TH" b="1" u="sng">
                <a:solidFill>
                  <a:schemeClr val="bg1"/>
                </a:solidFill>
              </a:rPr>
              <a:t>การทดลอง</a:t>
            </a:r>
            <a:r>
              <a:rPr lang="en-US" b="1" u="sng">
                <a:solidFill>
                  <a:schemeClr val="bg1"/>
                </a:solidFill>
              </a:rPr>
              <a:t> : Dynamic Object Tolerance of Omnidirectional FOV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	</a:t>
            </a:r>
            <a:r>
              <a:rPr lang="th-TH">
                <a:solidFill>
                  <a:schemeClr val="bg1"/>
                </a:solidFill>
              </a:rPr>
              <a:t>ในการทดลองนี้จะทดลองบดบังการมองเห็นของกล้องในบางส่วน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th-TH">
                <a:solidFill>
                  <a:schemeClr val="bg1"/>
                </a:solidFill>
              </a:rPr>
              <a:t>โดยจะบดบังในลักษณะของการบังรอบๆกล้อง โดยเทียบจากการบดบังจากคน ซึ่งจะมีสัดส่วนเล็กๆ และทำการสุ่มตำแหน่งรอบๆ  </a:t>
            </a: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b="1" u="sng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th-TH" b="1" u="sng">
                <a:solidFill>
                  <a:schemeClr val="bg1"/>
                </a:solidFill>
              </a:rPr>
              <a:t>วัดผลจาก</a:t>
            </a:r>
          </a:p>
          <a:p>
            <a:pPr marL="0" indent="0">
              <a:buNone/>
            </a:pPr>
            <a:r>
              <a:rPr lang="th-TH" i="1">
                <a:solidFill>
                  <a:schemeClr val="bg1"/>
                </a:solidFill>
              </a:rPr>
              <a:t>	</a:t>
            </a:r>
            <a:r>
              <a:rPr lang="th-TH">
                <a:solidFill>
                  <a:schemeClr val="bg1"/>
                </a:solidFill>
              </a:rPr>
              <a:t>ค่า </a:t>
            </a:r>
            <a:r>
              <a:rPr lang="en-US">
                <a:solidFill>
                  <a:schemeClr val="bg1"/>
                </a:solidFill>
              </a:rPr>
              <a:t>Recall Rate @ K , mAP </a:t>
            </a:r>
            <a:r>
              <a:rPr lang="th-TH">
                <a:solidFill>
                  <a:schemeClr val="bg1"/>
                </a:solidFill>
              </a:rPr>
              <a:t>ควรจะมีค่าใกล้เคียงเดิม เมื่อบดบังการมองเห็น ใน </a:t>
            </a:r>
            <a:r>
              <a:rPr lang="en-US">
                <a:solidFill>
                  <a:schemeClr val="bg1"/>
                </a:solidFill>
              </a:rPr>
              <a:t>Place</a:t>
            </a:r>
            <a:r>
              <a:rPr lang="th-TH">
                <a:solidFill>
                  <a:schemeClr val="bg1"/>
                </a:solidFill>
              </a:rPr>
              <a:t> นั้นๆ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6" name="Picture 15" descr="A close-up of a room&#10;&#10;Description automatically generated with low confidence">
            <a:extLst>
              <a:ext uri="{FF2B5EF4-FFF2-40B4-BE49-F238E27FC236}">
                <a16:creationId xmlns:a16="http://schemas.microsoft.com/office/drawing/2014/main" id="{AD9C7532-004A-B29F-4F97-F7227BF1E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522" y="57929"/>
            <a:ext cx="3055533" cy="305553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41965D3-D776-8973-448B-1B6176BAA28D}"/>
              </a:ext>
            </a:extLst>
          </p:cNvPr>
          <p:cNvGrpSpPr/>
          <p:nvPr/>
        </p:nvGrpSpPr>
        <p:grpSpPr>
          <a:xfrm>
            <a:off x="8739521" y="3204957"/>
            <a:ext cx="3055533" cy="3102543"/>
            <a:chOff x="8739521" y="3181104"/>
            <a:chExt cx="3055533" cy="3102543"/>
          </a:xfrm>
        </p:grpSpPr>
        <p:pic>
          <p:nvPicPr>
            <p:cNvPr id="18" name="Picture 17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4C1FD274-760B-C8B9-A8CC-91D50400A1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245" t="22642" r="50" b="22075"/>
            <a:stretch/>
          </p:blipFill>
          <p:spPr>
            <a:xfrm>
              <a:off x="8739521" y="3181104"/>
              <a:ext cx="3055533" cy="3102543"/>
            </a:xfrm>
            <a:prstGeom prst="rect">
              <a:avLst/>
            </a:prstGeom>
          </p:spPr>
        </p:pic>
        <p:sp>
          <p:nvSpPr>
            <p:cNvPr id="5" name="Flowchart: Extract 4">
              <a:extLst>
                <a:ext uri="{FF2B5EF4-FFF2-40B4-BE49-F238E27FC236}">
                  <a16:creationId xmlns:a16="http://schemas.microsoft.com/office/drawing/2014/main" id="{C3ACDF19-FC53-FB3C-2DB6-E6F6C03FF36D}"/>
                </a:ext>
              </a:extLst>
            </p:cNvPr>
            <p:cNvSpPr/>
            <p:nvPr/>
          </p:nvSpPr>
          <p:spPr>
            <a:xfrm rot="13550165">
              <a:off x="10489469" y="3485819"/>
              <a:ext cx="764275" cy="1433015"/>
            </a:xfrm>
            <a:prstGeom prst="flowChartExtra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334F87DB-F711-F0F4-4623-E3B2003C8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28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61234-9FD3-FE79-2BE0-E0444DD05D7D}"/>
              </a:ext>
            </a:extLst>
          </p:cNvPr>
          <p:cNvSpPr txBox="1"/>
          <p:nvPr/>
        </p:nvSpPr>
        <p:spPr>
          <a:xfrm>
            <a:off x="9362231" y="6276851"/>
            <a:ext cx="18101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 MASK</a:t>
            </a:r>
          </a:p>
        </p:txBody>
      </p:sp>
    </p:spTree>
    <p:extLst>
      <p:ext uri="{BB962C8B-B14F-4D97-AF65-F5344CB8AC3E}">
        <p14:creationId xmlns:p14="http://schemas.microsoft.com/office/powerpoint/2010/main" val="2094542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BB77-158F-711D-2548-29D288D24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7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EEA8A-458F-3247-E62D-50B33D758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418729" cy="4351338"/>
          </a:xfrm>
        </p:spPr>
        <p:txBody>
          <a:bodyPr/>
          <a:lstStyle/>
          <a:p>
            <a:pPr marL="0" indent="0">
              <a:buNone/>
            </a:pPr>
            <a:r>
              <a:rPr lang="th-TH" b="1" u="sng">
                <a:solidFill>
                  <a:schemeClr val="bg1"/>
                </a:solidFill>
              </a:rPr>
              <a:t>การทดลอง</a:t>
            </a:r>
            <a:r>
              <a:rPr lang="en-US" b="1" u="sng">
                <a:solidFill>
                  <a:schemeClr val="bg1"/>
                </a:solidFill>
              </a:rPr>
              <a:t> : Information used in Global Descriptor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	</a:t>
            </a:r>
            <a:r>
              <a:rPr lang="th-TH">
                <a:solidFill>
                  <a:schemeClr val="bg1"/>
                </a:solidFill>
              </a:rPr>
              <a:t>ในการทดลองนี้จะทดลองบดบังการมองเห็นของกล้องในบางส่วน เพื่อทดสอบเรื่องของตำแหน่งของ </a:t>
            </a:r>
            <a:r>
              <a:rPr lang="en-US">
                <a:solidFill>
                  <a:schemeClr val="bg1"/>
                </a:solidFill>
              </a:rPr>
              <a:t>Information</a:t>
            </a:r>
            <a:r>
              <a:rPr lang="th-TH">
                <a:solidFill>
                  <a:schemeClr val="bg1"/>
                </a:solidFill>
              </a:rPr>
              <a:t> ที่ใช้สร้าง</a:t>
            </a:r>
            <a:r>
              <a:rPr lang="en-US">
                <a:solidFill>
                  <a:schemeClr val="bg1"/>
                </a:solidFill>
              </a:rPr>
              <a:t> Global Descriptor</a:t>
            </a:r>
            <a:endParaRPr lang="th-TH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th-TH">
                <a:solidFill>
                  <a:schemeClr val="bg1"/>
                </a:solidFill>
              </a:rPr>
              <a:t>	</a:t>
            </a: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th-TH" b="1" u="sng">
                <a:solidFill>
                  <a:schemeClr val="bg1"/>
                </a:solidFill>
              </a:rPr>
              <a:t>วัดผลจาก</a:t>
            </a:r>
          </a:p>
          <a:p>
            <a:pPr marL="0" indent="0">
              <a:buNone/>
            </a:pPr>
            <a:r>
              <a:rPr lang="th-TH" i="1">
                <a:solidFill>
                  <a:schemeClr val="bg1"/>
                </a:solidFill>
              </a:rPr>
              <a:t>	</a:t>
            </a:r>
            <a:r>
              <a:rPr lang="th-TH">
                <a:solidFill>
                  <a:schemeClr val="bg1"/>
                </a:solidFill>
              </a:rPr>
              <a:t>ค่า </a:t>
            </a:r>
            <a:r>
              <a:rPr lang="en-US">
                <a:solidFill>
                  <a:schemeClr val="bg1"/>
                </a:solidFill>
              </a:rPr>
              <a:t>Recall Rate @ K , mAP </a:t>
            </a:r>
            <a:r>
              <a:rPr lang="th-TH">
                <a:solidFill>
                  <a:schemeClr val="bg1"/>
                </a:solidFill>
              </a:rPr>
              <a:t>ควรจะมีค่าลดลง หากมีการบดบังในส่วนสำคัญที่ใช้สร้าง </a:t>
            </a:r>
            <a:r>
              <a:rPr lang="en-US">
                <a:solidFill>
                  <a:schemeClr val="bg1"/>
                </a:solidFill>
              </a:rPr>
              <a:t>Global Descriptor</a:t>
            </a:r>
          </a:p>
        </p:txBody>
      </p:sp>
      <p:pic>
        <p:nvPicPr>
          <p:cNvPr id="5" name="Picture 4" descr="A picture containing indoor, black&#10;&#10;Description automatically generated">
            <a:extLst>
              <a:ext uri="{FF2B5EF4-FFF2-40B4-BE49-F238E27FC236}">
                <a16:creationId xmlns:a16="http://schemas.microsoft.com/office/drawing/2014/main" id="{E6F0189C-AAB3-4636-FDED-B63E3E900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196" y="373336"/>
            <a:ext cx="1707625" cy="1707625"/>
          </a:xfrm>
          <a:prstGeom prst="ellipse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FD2D1D8-4F25-DB8E-0DA1-9BB776CCCB5C}"/>
              </a:ext>
            </a:extLst>
          </p:cNvPr>
          <p:cNvGrpSpPr/>
          <p:nvPr/>
        </p:nvGrpSpPr>
        <p:grpSpPr>
          <a:xfrm>
            <a:off x="8260227" y="2247015"/>
            <a:ext cx="1780162" cy="1819072"/>
            <a:chOff x="8337149" y="3444505"/>
            <a:chExt cx="1780162" cy="1819072"/>
          </a:xfrm>
        </p:grpSpPr>
        <p:pic>
          <p:nvPicPr>
            <p:cNvPr id="15" name="Picture 14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7070B730-A7BA-C6EA-8CDA-70236A76D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6387" y="3475514"/>
              <a:ext cx="1707625" cy="1707625"/>
            </a:xfrm>
            <a:prstGeom prst="ellipse">
              <a:avLst/>
            </a:prstGeom>
          </p:spPr>
        </p:pic>
        <p:sp>
          <p:nvSpPr>
            <p:cNvPr id="21" name="Circle: Hollow 20">
              <a:extLst>
                <a:ext uri="{FF2B5EF4-FFF2-40B4-BE49-F238E27FC236}">
                  <a16:creationId xmlns:a16="http://schemas.microsoft.com/office/drawing/2014/main" id="{0155E0D1-B20D-541F-8172-07D2ED24B422}"/>
                </a:ext>
              </a:extLst>
            </p:cNvPr>
            <p:cNvSpPr/>
            <p:nvPr/>
          </p:nvSpPr>
          <p:spPr>
            <a:xfrm>
              <a:off x="8337149" y="3444505"/>
              <a:ext cx="1780162" cy="1819072"/>
            </a:xfrm>
            <a:prstGeom prst="donut">
              <a:avLst>
                <a:gd name="adj" fmla="val 1514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A18B9E-67AE-5A91-4DC0-548BE55F681F}"/>
              </a:ext>
            </a:extLst>
          </p:cNvPr>
          <p:cNvGrpSpPr/>
          <p:nvPr/>
        </p:nvGrpSpPr>
        <p:grpSpPr>
          <a:xfrm>
            <a:off x="8238795" y="4158262"/>
            <a:ext cx="1780162" cy="1819072"/>
            <a:chOff x="10063996" y="3465841"/>
            <a:chExt cx="1780162" cy="1819072"/>
          </a:xfrm>
        </p:grpSpPr>
        <p:pic>
          <p:nvPicPr>
            <p:cNvPr id="16" name="Picture 15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B44F4F3D-36C0-E1AA-F918-B54A62B4B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0265" y="3521565"/>
              <a:ext cx="1707625" cy="1707625"/>
            </a:xfrm>
            <a:prstGeom prst="ellipse">
              <a:avLst/>
            </a:prstGeom>
          </p:spPr>
        </p:pic>
        <p:sp>
          <p:nvSpPr>
            <p:cNvPr id="22" name="Circle: Hollow 21">
              <a:extLst>
                <a:ext uri="{FF2B5EF4-FFF2-40B4-BE49-F238E27FC236}">
                  <a16:creationId xmlns:a16="http://schemas.microsoft.com/office/drawing/2014/main" id="{8FE33136-6609-60BA-6749-A08D7F5F7191}"/>
                </a:ext>
              </a:extLst>
            </p:cNvPr>
            <p:cNvSpPr/>
            <p:nvPr/>
          </p:nvSpPr>
          <p:spPr>
            <a:xfrm>
              <a:off x="10063996" y="3465841"/>
              <a:ext cx="1780162" cy="1819072"/>
            </a:xfrm>
            <a:prstGeom prst="donut">
              <a:avLst>
                <a:gd name="adj" fmla="val 2811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0B34D14-3932-145D-B1D3-2344CD5C05B4}"/>
              </a:ext>
            </a:extLst>
          </p:cNvPr>
          <p:cNvGrpSpPr/>
          <p:nvPr/>
        </p:nvGrpSpPr>
        <p:grpSpPr>
          <a:xfrm>
            <a:off x="10288070" y="4213986"/>
            <a:ext cx="1707625" cy="1707625"/>
            <a:chOff x="10288070" y="4213986"/>
            <a:chExt cx="1707625" cy="1707625"/>
          </a:xfrm>
        </p:grpSpPr>
        <p:pic>
          <p:nvPicPr>
            <p:cNvPr id="14" name="Picture 13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883D5D0D-A693-69A3-AB07-F28B72B89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8070" y="4213986"/>
              <a:ext cx="1707625" cy="1707625"/>
            </a:xfrm>
            <a:prstGeom prst="ellipse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19C7803-917D-0D93-9577-C5F5ECCB90A3}"/>
                </a:ext>
              </a:extLst>
            </p:cNvPr>
            <p:cNvSpPr/>
            <p:nvPr/>
          </p:nvSpPr>
          <p:spPr>
            <a:xfrm>
              <a:off x="10910132" y="4874150"/>
              <a:ext cx="443668" cy="44411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2BAA46-10D2-1CC6-1529-DBF1420D38DF}"/>
              </a:ext>
            </a:extLst>
          </p:cNvPr>
          <p:cNvGrpSpPr/>
          <p:nvPr/>
        </p:nvGrpSpPr>
        <p:grpSpPr>
          <a:xfrm>
            <a:off x="10288070" y="447215"/>
            <a:ext cx="1707625" cy="1707625"/>
            <a:chOff x="10288070" y="2358462"/>
            <a:chExt cx="1707625" cy="1707625"/>
          </a:xfrm>
        </p:grpSpPr>
        <p:pic>
          <p:nvPicPr>
            <p:cNvPr id="26" name="Picture 25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6D8D6564-C984-DC3D-6CE6-DBCDD03CB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8070" y="2358462"/>
              <a:ext cx="1707625" cy="1707625"/>
            </a:xfrm>
            <a:prstGeom prst="ellipse">
              <a:avLst/>
            </a:prstGeom>
          </p:spPr>
        </p:pic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0FF48ED-5A14-FCDC-B29E-2DF2CBA977A3}"/>
                </a:ext>
              </a:extLst>
            </p:cNvPr>
            <p:cNvSpPr/>
            <p:nvPr/>
          </p:nvSpPr>
          <p:spPr>
            <a:xfrm>
              <a:off x="10503155" y="2569068"/>
              <a:ext cx="1256824" cy="127208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A3CAA2-0146-7169-4A56-43C1908264EB}"/>
              </a:ext>
            </a:extLst>
          </p:cNvPr>
          <p:cNvGrpSpPr/>
          <p:nvPr/>
        </p:nvGrpSpPr>
        <p:grpSpPr>
          <a:xfrm>
            <a:off x="10288070" y="2355000"/>
            <a:ext cx="1707625" cy="1707625"/>
            <a:chOff x="10288070" y="2358462"/>
            <a:chExt cx="1707625" cy="1707625"/>
          </a:xfrm>
        </p:grpSpPr>
        <p:pic>
          <p:nvPicPr>
            <p:cNvPr id="30" name="Picture 29" descr="A picture containing indoor, black&#10;&#10;Description automatically generated">
              <a:extLst>
                <a:ext uri="{FF2B5EF4-FFF2-40B4-BE49-F238E27FC236}">
                  <a16:creationId xmlns:a16="http://schemas.microsoft.com/office/drawing/2014/main" id="{068FC9E2-ED79-D5A9-A303-4A7598C2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8070" y="2358462"/>
              <a:ext cx="1707625" cy="1707625"/>
            </a:xfrm>
            <a:prstGeom prst="ellipse">
              <a:avLst/>
            </a:prstGeom>
          </p:spPr>
        </p:pic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9F02D1D-22DF-3D6A-9F9F-22FB6B5411B4}"/>
                </a:ext>
              </a:extLst>
            </p:cNvPr>
            <p:cNvSpPr/>
            <p:nvPr/>
          </p:nvSpPr>
          <p:spPr>
            <a:xfrm>
              <a:off x="10725791" y="2818466"/>
              <a:ext cx="821703" cy="8225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FAAF2BC2-6935-6381-5316-C30106455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29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3428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BB77-158F-711D-2548-29D288D24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7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EEA8A-458F-3247-E62D-50B33D758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418729" cy="3596229"/>
          </a:xfrm>
        </p:spPr>
        <p:txBody>
          <a:bodyPr/>
          <a:lstStyle/>
          <a:p>
            <a:pPr marL="0" indent="0">
              <a:buNone/>
            </a:pPr>
            <a:r>
              <a:rPr lang="th-TH" b="1" u="sng">
                <a:solidFill>
                  <a:schemeClr val="bg1"/>
                </a:solidFill>
              </a:rPr>
              <a:t>การทดลอง</a:t>
            </a:r>
            <a:r>
              <a:rPr lang="en-US" b="1" u="sng">
                <a:solidFill>
                  <a:schemeClr val="bg1"/>
                </a:solidFill>
              </a:rPr>
              <a:t> : Limitation of the FOV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	</a:t>
            </a:r>
            <a:r>
              <a:rPr lang="th-TH">
                <a:solidFill>
                  <a:schemeClr val="bg1"/>
                </a:solidFill>
              </a:rPr>
              <a:t>ในการทดลองนี้จะจำลองขนาดของมุมกล้องที่ใช้งานในการทำ </a:t>
            </a:r>
            <a:r>
              <a:rPr lang="en-US">
                <a:solidFill>
                  <a:schemeClr val="bg1"/>
                </a:solidFill>
              </a:rPr>
              <a:t>Global Descriptor</a:t>
            </a:r>
            <a:r>
              <a:rPr lang="th-TH">
                <a:solidFill>
                  <a:schemeClr val="bg1"/>
                </a:solidFill>
              </a:rPr>
              <a:t> ในขนาดที่แตกต่างกัน </a:t>
            </a:r>
          </a:p>
          <a:p>
            <a:pPr marL="0" indent="0">
              <a:buNone/>
            </a:pPr>
            <a:endParaRPr lang="en-US" b="1" u="sng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th-TH" b="1" u="sng">
                <a:solidFill>
                  <a:schemeClr val="bg1"/>
                </a:solidFill>
              </a:rPr>
              <a:t>วัดผลจาก</a:t>
            </a:r>
          </a:p>
          <a:p>
            <a:pPr marL="0" indent="0">
              <a:buNone/>
            </a:pPr>
            <a:r>
              <a:rPr lang="th-TH" i="1">
                <a:solidFill>
                  <a:schemeClr val="bg1"/>
                </a:solidFill>
              </a:rPr>
              <a:t>	</a:t>
            </a:r>
            <a:r>
              <a:rPr lang="th-TH">
                <a:solidFill>
                  <a:schemeClr val="bg1"/>
                </a:solidFill>
              </a:rPr>
              <a:t>ค่า </a:t>
            </a:r>
            <a:r>
              <a:rPr lang="en-US">
                <a:solidFill>
                  <a:schemeClr val="bg1"/>
                </a:solidFill>
              </a:rPr>
              <a:t>Recall Rate @ K , mAP </a:t>
            </a:r>
            <a:r>
              <a:rPr lang="th-TH">
                <a:solidFill>
                  <a:schemeClr val="bg1"/>
                </a:solidFill>
              </a:rPr>
              <a:t>ควรจะมีค่าเปลี่ยนแปลงไปตามคุณภาพของการสร้าง </a:t>
            </a:r>
            <a:r>
              <a:rPr lang="en-US">
                <a:solidFill>
                  <a:schemeClr val="bg1"/>
                </a:solidFill>
              </a:rPr>
              <a:t>Global Descriptor </a:t>
            </a:r>
            <a:r>
              <a:rPr lang="th-TH">
                <a:solidFill>
                  <a:schemeClr val="bg1"/>
                </a:solidFill>
              </a:rPr>
              <a:t>จากสิ่งแวดล้อมที่เห็น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 descr="A picture containing indoor, black&#10;&#10;Description automatically generated">
            <a:extLst>
              <a:ext uri="{FF2B5EF4-FFF2-40B4-BE49-F238E27FC236}">
                <a16:creationId xmlns:a16="http://schemas.microsoft.com/office/drawing/2014/main" id="{E6F0189C-AAB3-4636-FDED-B63E3E900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398" y="1380822"/>
            <a:ext cx="1707625" cy="1707625"/>
          </a:xfrm>
          <a:prstGeom prst="ellipse">
            <a:avLst/>
          </a:prstGeom>
        </p:spPr>
      </p:pic>
      <p:pic>
        <p:nvPicPr>
          <p:cNvPr id="16" name="Picture 15" descr="A picture containing indoor, black&#10;&#10;Description automatically generated">
            <a:extLst>
              <a:ext uri="{FF2B5EF4-FFF2-40B4-BE49-F238E27FC236}">
                <a16:creationId xmlns:a16="http://schemas.microsoft.com/office/drawing/2014/main" id="{B44F4F3D-36C0-E1AA-F918-B54A62B4BA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95" t="24056" r="26418" b="28857"/>
          <a:stretch/>
        </p:blipFill>
        <p:spPr>
          <a:xfrm>
            <a:off x="10541335" y="3969949"/>
            <a:ext cx="1299900" cy="1299900"/>
          </a:xfrm>
          <a:prstGeom prst="ellipse">
            <a:avLst/>
          </a:prstGeom>
        </p:spPr>
      </p:pic>
      <p:pic>
        <p:nvPicPr>
          <p:cNvPr id="9" name="Picture 8" descr="A picture containing indoor, black&#10;&#10;Description automatically generated">
            <a:extLst>
              <a:ext uri="{FF2B5EF4-FFF2-40B4-BE49-F238E27FC236}">
                <a16:creationId xmlns:a16="http://schemas.microsoft.com/office/drawing/2014/main" id="{4BF3A5FB-1FCE-F16E-14AB-CCB303F17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4295" y="3942844"/>
            <a:ext cx="1299900" cy="1299900"/>
          </a:xfrm>
          <a:prstGeom prst="ellipse">
            <a:avLst/>
          </a:prstGeom>
        </p:spPr>
      </p:pic>
      <p:pic>
        <p:nvPicPr>
          <p:cNvPr id="10" name="Picture 9" descr="A picture containing indoor, black&#10;&#10;Description automatically generated">
            <a:extLst>
              <a:ext uri="{FF2B5EF4-FFF2-40B4-BE49-F238E27FC236}">
                <a16:creationId xmlns:a16="http://schemas.microsoft.com/office/drawing/2014/main" id="{28F6F307-77B8-2512-F5CB-5710EB385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474" y="1388421"/>
            <a:ext cx="1707625" cy="1707625"/>
          </a:xfrm>
          <a:prstGeom prst="ellipse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EC3629A4-9BC2-506C-355D-E07E8F2A6712}"/>
              </a:ext>
            </a:extLst>
          </p:cNvPr>
          <p:cNvSpPr/>
          <p:nvPr/>
        </p:nvSpPr>
        <p:spPr>
          <a:xfrm>
            <a:off x="10857331" y="3321794"/>
            <a:ext cx="667909" cy="4224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531394C-ED87-F03D-BE5B-9E1D7A569DF4}"/>
              </a:ext>
            </a:extLst>
          </p:cNvPr>
          <p:cNvSpPr/>
          <p:nvPr/>
        </p:nvSpPr>
        <p:spPr>
          <a:xfrm>
            <a:off x="9010291" y="3321794"/>
            <a:ext cx="667909" cy="4224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C7F98420-7DDB-C155-EEF6-B70B79227BF6}"/>
              </a:ext>
            </a:extLst>
          </p:cNvPr>
          <p:cNvSpPr/>
          <p:nvPr/>
        </p:nvSpPr>
        <p:spPr>
          <a:xfrm>
            <a:off x="8499398" y="1380821"/>
            <a:ext cx="1707625" cy="1707625"/>
          </a:xfrm>
          <a:prstGeom prst="donut">
            <a:avLst>
              <a:gd name="adj" fmla="val 239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ircle: Hollow 7">
            <a:extLst>
              <a:ext uri="{FF2B5EF4-FFF2-40B4-BE49-F238E27FC236}">
                <a16:creationId xmlns:a16="http://schemas.microsoft.com/office/drawing/2014/main" id="{FD8E45D5-2111-DB37-AFC4-972464C4F95D}"/>
              </a:ext>
            </a:extLst>
          </p:cNvPr>
          <p:cNvSpPr/>
          <p:nvPr/>
        </p:nvSpPr>
        <p:spPr>
          <a:xfrm>
            <a:off x="10796588" y="1847536"/>
            <a:ext cx="789394" cy="789394"/>
          </a:xfrm>
          <a:prstGeom prst="donut">
            <a:avLst>
              <a:gd name="adj" fmla="val 2392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3F139A8-35EF-88B6-9A66-04CC53CC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30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27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E4BF-353A-A170-6E62-5902B92E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PLANNING</a:t>
            </a:r>
          </a:p>
        </p:txBody>
      </p:sp>
      <p:pic>
        <p:nvPicPr>
          <p:cNvPr id="2050" name="Picture 2" descr="R2d2, star wars Icon in Star Wars - color Icons">
            <a:extLst>
              <a:ext uri="{FF2B5EF4-FFF2-40B4-BE49-F238E27FC236}">
                <a16:creationId xmlns:a16="http://schemas.microsoft.com/office/drawing/2014/main" id="{A12E834C-19F5-254D-5428-DA00C9605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06"/>
          <a:stretch/>
        </p:blipFill>
        <p:spPr bwMode="auto">
          <a:xfrm>
            <a:off x="4542638" y="5207000"/>
            <a:ext cx="3106724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2A902EF-37EA-0E01-3421-D25CC76B4D99}"/>
              </a:ext>
            </a:extLst>
          </p:cNvPr>
          <p:cNvSpPr/>
          <p:nvPr/>
        </p:nvSpPr>
        <p:spPr>
          <a:xfrm>
            <a:off x="231006" y="4091781"/>
            <a:ext cx="4635634" cy="1651001"/>
          </a:xfrm>
          <a:prstGeom prst="wedgeRoundRectCallout">
            <a:avLst>
              <a:gd name="adj1" fmla="val 56170"/>
              <a:gd name="adj2" fmla="val 35029"/>
              <a:gd name="adj3" fmla="val 16667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Notebook icon">
            <a:extLst>
              <a:ext uri="{FF2B5EF4-FFF2-40B4-BE49-F238E27FC236}">
                <a16:creationId xmlns:a16="http://schemas.microsoft.com/office/drawing/2014/main" id="{FE983532-1D9D-A273-C897-CCCBA5E26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27" y="4374207"/>
            <a:ext cx="1086148" cy="108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antt chart icon">
            <a:extLst>
              <a:ext uri="{FF2B5EF4-FFF2-40B4-BE49-F238E27FC236}">
                <a16:creationId xmlns:a16="http://schemas.microsoft.com/office/drawing/2014/main" id="{4B0FAD34-A67B-60A1-625A-F35B338B4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961" y="4316424"/>
            <a:ext cx="1188751" cy="118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lock icon">
            <a:extLst>
              <a:ext uri="{FF2B5EF4-FFF2-40B4-BE49-F238E27FC236}">
                <a16:creationId xmlns:a16="http://schemas.microsoft.com/office/drawing/2014/main" id="{4CED40ED-CA25-86C7-9002-A8A3D20D3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660" y="4346840"/>
            <a:ext cx="1113515" cy="1113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9AE0C180-5084-1381-E652-2F7829C1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31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711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E63205-4C23-7CE4-EFDD-6046CD18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PLANNING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1B687CB-0C51-8F49-95E6-AB1BF1264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4779642"/>
              </p:ext>
            </p:extLst>
          </p:nvPr>
        </p:nvGraphicFramePr>
        <p:xfrm>
          <a:off x="481622" y="1292073"/>
          <a:ext cx="11209506" cy="5086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6234">
                  <a:extLst>
                    <a:ext uri="{9D8B030D-6E8A-4147-A177-3AD203B41FA5}">
                      <a16:colId xmlns:a16="http://schemas.microsoft.com/office/drawing/2014/main" val="1044128424"/>
                    </a:ext>
                  </a:extLst>
                </a:gridCol>
                <a:gridCol w="984159">
                  <a:extLst>
                    <a:ext uri="{9D8B030D-6E8A-4147-A177-3AD203B41FA5}">
                      <a16:colId xmlns:a16="http://schemas.microsoft.com/office/drawing/2014/main" val="3218124402"/>
                    </a:ext>
                  </a:extLst>
                </a:gridCol>
                <a:gridCol w="984159">
                  <a:extLst>
                    <a:ext uri="{9D8B030D-6E8A-4147-A177-3AD203B41FA5}">
                      <a16:colId xmlns:a16="http://schemas.microsoft.com/office/drawing/2014/main" val="1025691510"/>
                    </a:ext>
                  </a:extLst>
                </a:gridCol>
                <a:gridCol w="984159">
                  <a:extLst>
                    <a:ext uri="{9D8B030D-6E8A-4147-A177-3AD203B41FA5}">
                      <a16:colId xmlns:a16="http://schemas.microsoft.com/office/drawing/2014/main" val="1810102491"/>
                    </a:ext>
                  </a:extLst>
                </a:gridCol>
                <a:gridCol w="984159">
                  <a:extLst>
                    <a:ext uri="{9D8B030D-6E8A-4147-A177-3AD203B41FA5}">
                      <a16:colId xmlns:a16="http://schemas.microsoft.com/office/drawing/2014/main" val="2714749094"/>
                    </a:ext>
                  </a:extLst>
                </a:gridCol>
                <a:gridCol w="984159">
                  <a:extLst>
                    <a:ext uri="{9D8B030D-6E8A-4147-A177-3AD203B41FA5}">
                      <a16:colId xmlns:a16="http://schemas.microsoft.com/office/drawing/2014/main" val="2130976870"/>
                    </a:ext>
                  </a:extLst>
                </a:gridCol>
                <a:gridCol w="984159">
                  <a:extLst>
                    <a:ext uri="{9D8B030D-6E8A-4147-A177-3AD203B41FA5}">
                      <a16:colId xmlns:a16="http://schemas.microsoft.com/office/drawing/2014/main" val="3927134625"/>
                    </a:ext>
                  </a:extLst>
                </a:gridCol>
                <a:gridCol w="984159">
                  <a:extLst>
                    <a:ext uri="{9D8B030D-6E8A-4147-A177-3AD203B41FA5}">
                      <a16:colId xmlns:a16="http://schemas.microsoft.com/office/drawing/2014/main" val="3869014889"/>
                    </a:ext>
                  </a:extLst>
                </a:gridCol>
                <a:gridCol w="984159">
                  <a:extLst>
                    <a:ext uri="{9D8B030D-6E8A-4147-A177-3AD203B41FA5}">
                      <a16:colId xmlns:a16="http://schemas.microsoft.com/office/drawing/2014/main" val="749224822"/>
                    </a:ext>
                  </a:extLst>
                </a:gridCol>
              </a:tblGrid>
              <a:tr h="57839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JUNE</a:t>
                      </a:r>
                    </a:p>
                  </a:txBody>
                  <a:tcPr anchor="ctr">
                    <a:lnR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JULY</a:t>
                      </a:r>
                    </a:p>
                  </a:txBody>
                  <a:tcPr anchor="ctr">
                    <a:lnL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AUG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162128"/>
                  </a:ext>
                </a:extLst>
              </a:tr>
              <a:tr h="578395">
                <a:tc>
                  <a:txBody>
                    <a:bodyPr/>
                    <a:lstStyle/>
                    <a:p>
                      <a:pPr algn="ctr"/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ศึกษาเกี่ยวกับ </a:t>
                      </a:r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Visual Place Recognition Pipeline, Global Description </a:t>
                      </a:r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เบื้องต้น</a:t>
                      </a:r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R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L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854821"/>
                  </a:ext>
                </a:extLst>
              </a:tr>
              <a:tr h="578395">
                <a:tc>
                  <a:txBody>
                    <a:bodyPr/>
                    <a:lstStyle/>
                    <a:p>
                      <a:pPr algn="ctr"/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ทำการทดลอง </a:t>
                      </a:r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Preliminary </a:t>
                      </a:r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กับชุดข้อมูลอย่างง่าย</a:t>
                      </a:r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R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L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439260"/>
                  </a:ext>
                </a:extLst>
              </a:tr>
              <a:tr h="5783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ศึกษาเพิ่มเติมเกี่ยวกับ </a:t>
                      </a:r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Local Feature Extraction for Omnidirectional Image </a:t>
                      </a:r>
                      <a:b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</a:br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และ ออกแบบโครงสร้าง</a:t>
                      </a:r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Model Encoder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R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L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070974"/>
                  </a:ext>
                </a:extLst>
              </a:tr>
              <a:tr h="578395">
                <a:tc>
                  <a:txBody>
                    <a:bodyPr/>
                    <a:lstStyle/>
                    <a:p>
                      <a:pPr algn="ctr"/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ทำการเก็บชุดข้อมูลในสภาพสิ่งแวดล้อมต่างๆ</a:t>
                      </a:r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R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L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602760"/>
                  </a:ext>
                </a:extLst>
              </a:tr>
              <a:tr h="578395">
                <a:tc>
                  <a:txBody>
                    <a:bodyPr/>
                    <a:lstStyle/>
                    <a:p>
                      <a:pPr algn="ctr"/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ทำการสร้าง </a:t>
                      </a:r>
                      <a:r>
                        <a:rPr lang="en-US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Pipeline </a:t>
                      </a:r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ที่ใช้สำหรับการทดลอง</a:t>
                      </a:r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R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L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09139"/>
                  </a:ext>
                </a:extLst>
              </a:tr>
              <a:tr h="5783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ทำการทดลอง</a:t>
                      </a:r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algn="ctr"/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วัดผล และ สรุปผลการทดลอง</a:t>
                      </a:r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R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L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19125"/>
                  </a:ext>
                </a:extLst>
              </a:tr>
              <a:tr h="5783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ปรับปรุงแก้ไข</a:t>
                      </a:r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R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lnL w="57150" cap="flat" cmpd="sng" algn="ctr">
                      <a:solidFill>
                        <a:srgbClr val="00B0F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096736"/>
                  </a:ext>
                </a:extLst>
              </a:tr>
            </a:tbl>
          </a:graphicData>
        </a:graphic>
      </p:graphicFrame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30B5937-2044-5C27-2E17-493FFAD8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32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17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2F07-9A86-3A00-39E5-12B0C1EB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65078"/>
            <a:ext cx="10515600" cy="2852737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724A9-E5FC-5823-0775-CFCDD33E3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844803"/>
            <a:ext cx="10515600" cy="1500187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 &amp; A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48B053F6-DF64-6E9E-CC41-4D5CA51C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6400847"/>
            <a:ext cx="685800" cy="45715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pPr algn="ctr"/>
            <a:fld id="{330EA680-D336-4FF7-8B7A-9848BB0A1C32}" type="slidenum">
              <a:rPr lang="en-US" b="1" smtClean="0">
                <a:solidFill>
                  <a:schemeClr val="bg1"/>
                </a:solidFill>
              </a:rPr>
              <a:pPr algn="ctr"/>
              <a:t>33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5" name="Picture 2" descr="R2d2, star wars Icon in Star Wars - color Icons">
            <a:extLst>
              <a:ext uri="{FF2B5EF4-FFF2-40B4-BE49-F238E27FC236}">
                <a16:creationId xmlns:a16="http://schemas.microsoft.com/office/drawing/2014/main" id="{F3283FAD-A4A4-95BE-6194-106B086048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06"/>
          <a:stretch/>
        </p:blipFill>
        <p:spPr bwMode="auto">
          <a:xfrm>
            <a:off x="4542638" y="5207000"/>
            <a:ext cx="3106724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6815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6A52A1-3AAE-A401-0457-E8A008DF8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FOOTNOTES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31A7E-6934-2768-23D8-9D79D41DB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Better Understanding and Explanation :)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DDCFED-79C5-D23C-01FC-20AF087E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02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E8CE9A-19CB-05CD-0BC6-4677F576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Global Descriptor Extraction – Bag of Visual Words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EC730E-AC6A-1C2C-67DB-17127D41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/>
              <a:t>ต้นตำรับมาจากงานทางด้าน </a:t>
            </a:r>
            <a:r>
              <a:rPr lang="en-US"/>
              <a:t>Natural Language Processing</a:t>
            </a:r>
            <a:r>
              <a:rPr lang="th-TH"/>
              <a:t> </a:t>
            </a:r>
            <a:br>
              <a:rPr lang="th-TH"/>
            </a:br>
            <a:r>
              <a:rPr lang="th-TH"/>
              <a:t>ในการอธิบายเอกสาร</a:t>
            </a:r>
            <a:r>
              <a:rPr lang="en-US"/>
              <a:t> (Document) </a:t>
            </a:r>
            <a:r>
              <a:rPr lang="th-TH"/>
              <a:t>ว่ามีความคล้ายกัน มากน้อยแค่ไหน </a:t>
            </a:r>
            <a:br>
              <a:rPr lang="th-TH"/>
            </a:br>
            <a:r>
              <a:rPr lang="th-TH"/>
              <a:t>โดยใช้การสกัดคำ(</a:t>
            </a:r>
            <a:r>
              <a:rPr lang="en-US"/>
              <a:t>Word) </a:t>
            </a:r>
            <a:r>
              <a:rPr lang="th-TH"/>
              <a:t>ที่มีความสำคัญในเอกสารทั้งหมด </a:t>
            </a:r>
            <a:br>
              <a:rPr lang="th-TH"/>
            </a:br>
            <a:r>
              <a:rPr lang="th-TH"/>
              <a:t>มาเป็นตัวช่วยชี้วัดในการเปรียบเทียบความคล้าย ระหว่างเอกสารแต่ละใบ</a:t>
            </a:r>
          </a:p>
          <a:p>
            <a:r>
              <a:rPr lang="th-TH"/>
              <a:t>ในการทำงานกับรูปจะมีการสร้าง </a:t>
            </a:r>
            <a:r>
              <a:rPr lang="en-US"/>
              <a:t>Word </a:t>
            </a:r>
            <a:r>
              <a:rPr lang="th-TH"/>
              <a:t>เช่นเดียวกัน เรียกว่า </a:t>
            </a:r>
            <a:r>
              <a:rPr lang="en-US"/>
              <a:t>Visual Word</a:t>
            </a:r>
            <a:br>
              <a:rPr lang="th-TH"/>
            </a:br>
            <a:r>
              <a:rPr lang="th-TH"/>
              <a:t>มักจะเป็น </a:t>
            </a:r>
            <a:r>
              <a:rPr lang="en-US"/>
              <a:t>Patch </a:t>
            </a:r>
            <a:r>
              <a:rPr lang="th-TH"/>
              <a:t>หรือ </a:t>
            </a:r>
            <a:r>
              <a:rPr lang="en-US"/>
              <a:t>Local Feature </a:t>
            </a:r>
            <a:r>
              <a:rPr lang="th-TH"/>
              <a:t>ที่มีคำอธิบาย</a:t>
            </a:r>
            <a:r>
              <a:rPr lang="en-US"/>
              <a:t>(Description) </a:t>
            </a:r>
            <a:r>
              <a:rPr lang="th-TH"/>
              <a:t>ประจำตัว</a:t>
            </a:r>
          </a:p>
          <a:p>
            <a:r>
              <a:rPr lang="th-TH"/>
              <a:t>ใช้วิธีการ </a:t>
            </a:r>
            <a:r>
              <a:rPr lang="en-US"/>
              <a:t>Grouping </a:t>
            </a:r>
            <a:r>
              <a:rPr lang="th-TH"/>
              <a:t>ด้วย </a:t>
            </a:r>
            <a:r>
              <a:rPr lang="en-US"/>
              <a:t>Clustering Algorithm </a:t>
            </a:r>
            <a:r>
              <a:rPr lang="th-TH"/>
              <a:t>เพื่อหาตัวแทน</a:t>
            </a:r>
          </a:p>
          <a:p>
            <a:r>
              <a:rPr lang="th-TH"/>
              <a:t>ใช้ตัวแทนของ </a:t>
            </a:r>
            <a:r>
              <a:rPr lang="en-US"/>
              <a:t>Visual Word </a:t>
            </a:r>
            <a:r>
              <a:rPr lang="th-TH"/>
              <a:t>หลายๆตัวแทน ในการอธิบายรูปภาพ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E9612D-A940-3FE1-2C6F-95CE7A5A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242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A740-CCF0-AA5C-CBA7-522FAB7D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 Place Recognition -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BC9D4-DB41-2E28-5E1F-2867DA363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029" y="1547092"/>
            <a:ext cx="3551862" cy="2436330"/>
          </a:xfr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/>
              <a:t>RECALL</a:t>
            </a:r>
          </a:p>
          <a:p>
            <a:r>
              <a:rPr lang="th-TH" sz="2000"/>
              <a:t>ความสามารถในการแยกแยะ </a:t>
            </a:r>
            <a:r>
              <a:rPr lang="en-US" sz="2000"/>
              <a:t>Target Group </a:t>
            </a:r>
            <a:r>
              <a:rPr lang="th-TH" sz="2000"/>
              <a:t>กับ </a:t>
            </a:r>
            <a:r>
              <a:rPr lang="en-US" sz="2000"/>
              <a:t>Not Target Group</a:t>
            </a:r>
            <a:r>
              <a:rPr lang="th-TH" sz="2000"/>
              <a:t> ว่าแยกเก่งขนาดไหน</a:t>
            </a:r>
          </a:p>
          <a:p>
            <a:r>
              <a:rPr lang="th-TH" sz="2000"/>
              <a:t>เพิ่ม Recall = เพิ่มความครอบคลุมในการเกี่ยวข้อมูลที่ถูกต้องมาพิจารณาเยอะขึ้น (แม้ว่าจะรวมตัวที่ทายผิดมาด้วย)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FCEB23-D993-FB4F-9FA1-0EFAA1310582}"/>
              </a:ext>
            </a:extLst>
          </p:cNvPr>
          <p:cNvSpPr txBox="1">
            <a:spLocks/>
          </p:cNvSpPr>
          <p:nvPr/>
        </p:nvSpPr>
        <p:spPr>
          <a:xfrm>
            <a:off x="4276360" y="1545395"/>
            <a:ext cx="3551862" cy="243633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PRECISION</a:t>
            </a:r>
          </a:p>
          <a:p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ในบรรดาของที่เราคิดว่าทายถูก ที่จริงแล้วทายถูกครบหรือเปล่า ? หรือมองว่า ตอบถูกได้ครบถ้วนขนาดไหน ?</a:t>
            </a:r>
            <a:endParaRPr lang="en-US" sz="2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 Precision = ทำให้คัดตัวที่ทายผิดออกไปเยอะขึ้น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4B9DD1-3B93-22C6-BCCD-99A6A89E536B}"/>
              </a:ext>
            </a:extLst>
          </p:cNvPr>
          <p:cNvSpPr txBox="1">
            <a:spLocks/>
          </p:cNvSpPr>
          <p:nvPr/>
        </p:nvSpPr>
        <p:spPr>
          <a:xfrm>
            <a:off x="511029" y="4056545"/>
            <a:ext cx="3551862" cy="243633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ACCURACY</a:t>
            </a:r>
          </a:p>
          <a:p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ความแม่นยำ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–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ให้ผลที่ถูกต้องจริงๆ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เป็นเท่าไรจากคำตอบที่เกิดขึ้นทั้งหมด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(ถูกคือ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Detect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ไม่ถูก ก็ไม่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Detect)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41D18CE-826F-2167-7F1C-F8E92E1BA66C}"/>
              </a:ext>
            </a:extLst>
          </p:cNvPr>
          <p:cNvSpPr txBox="1">
            <a:spLocks/>
          </p:cNvSpPr>
          <p:nvPr/>
        </p:nvSpPr>
        <p:spPr>
          <a:xfrm>
            <a:off x="4276360" y="4054848"/>
            <a:ext cx="3551862" cy="243633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F1 – Score</a:t>
            </a:r>
          </a:p>
          <a:p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Harmonic Mean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ระหว่าง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Precision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Recall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ไว้วัดภาพรวม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Model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1763E81-C221-175E-5FBB-FD7CCBAA6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163" y="-3503"/>
            <a:ext cx="3777674" cy="686500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A9EE0-DC99-DD9E-D6EA-8528A2D1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75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A740-CCF0-AA5C-CBA7-522FAB7D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 Place Recognition - Evaluation</a:t>
            </a:r>
          </a:p>
        </p:txBody>
      </p:sp>
      <p:pic>
        <p:nvPicPr>
          <p:cNvPr id="6" name="Picture 8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54D7493F-F6C6-FEB3-259D-3F2D12BFD7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504" t="23218" r="22565" b="53132"/>
          <a:stretch/>
        </p:blipFill>
        <p:spPr>
          <a:xfrm>
            <a:off x="8648238" y="4487060"/>
            <a:ext cx="2425997" cy="191696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E01C425-277B-E018-F1BC-E929B4A97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029" y="1547092"/>
            <a:ext cx="10839034" cy="2436330"/>
          </a:xfrm>
          <a:ln w="28575">
            <a:solidFill>
              <a:srgbClr val="70AD47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err="1"/>
              <a:t>เพิ่ม</a:t>
            </a:r>
            <a:r>
              <a:rPr lang="en-US" b="1"/>
              <a:t> RECALL</a:t>
            </a:r>
          </a:p>
          <a:p>
            <a:r>
              <a:rPr lang="th-TH" sz="2000"/>
              <a:t>ความสามารถในการแยกแยะ </a:t>
            </a:r>
            <a:r>
              <a:rPr lang="en-US" sz="2000"/>
              <a:t>Target Group </a:t>
            </a:r>
            <a:br>
              <a:rPr lang="en-US" sz="2000"/>
            </a:br>
            <a:r>
              <a:rPr lang="th-TH" sz="2000"/>
              <a:t>กับ </a:t>
            </a:r>
            <a:r>
              <a:rPr lang="en-US" sz="2000"/>
              <a:t>Not Target Group</a:t>
            </a:r>
            <a:r>
              <a:rPr lang="th-TH" sz="2000"/>
              <a:t> ว่าแยกเก่งขนาดไหน</a:t>
            </a:r>
          </a:p>
          <a:p>
            <a:r>
              <a:rPr lang="th-TH" sz="2000"/>
              <a:t>เพิ่ม </a:t>
            </a:r>
            <a:r>
              <a:rPr lang="en-US" sz="2000"/>
              <a:t>Recall</a:t>
            </a:r>
            <a:r>
              <a:rPr lang="th-TH" sz="2000"/>
              <a:t> = เพิ่มความครอบคลุม</a:t>
            </a:r>
            <a:br>
              <a:rPr lang="th-TH" sz="2000"/>
            </a:br>
            <a:r>
              <a:rPr lang="th-TH" sz="2000"/>
              <a:t>ในการ </a:t>
            </a:r>
            <a:r>
              <a:rPr lang="en-US" sz="2000" b="1"/>
              <a:t>Detect</a:t>
            </a:r>
            <a:r>
              <a:rPr lang="th-TH" sz="2000" b="1"/>
              <a:t> ข้อมูลที่ถูกต้องมาพิจารณาเยอะขึ้น</a:t>
            </a:r>
            <a:r>
              <a:rPr lang="th-TH" sz="2000"/>
              <a:t> </a:t>
            </a:r>
            <a:br>
              <a:rPr lang="th-TH" sz="2000"/>
            </a:br>
            <a:r>
              <a:rPr lang="th-TH" sz="2000"/>
              <a:t>(แม้ว่าจะรวมตัวที่ทายผิดมาด้วย)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C07D7C7-3977-4A90-2473-FEF30CAEA012}"/>
              </a:ext>
            </a:extLst>
          </p:cNvPr>
          <p:cNvSpPr txBox="1">
            <a:spLocks/>
          </p:cNvSpPr>
          <p:nvPr/>
        </p:nvSpPr>
        <p:spPr>
          <a:xfrm>
            <a:off x="510153" y="4050360"/>
            <a:ext cx="10839034" cy="2436330"/>
          </a:xfrm>
          <a:prstGeom prst="rect">
            <a:avLst/>
          </a:prstGeom>
          <a:ln w="28575">
            <a:solidFill>
              <a:srgbClr val="FFC000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 PRECISION</a:t>
            </a:r>
          </a:p>
          <a:p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ในบรรดาของที่เราคิดว่าทายถูก </a:t>
            </a:r>
            <a:b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ที่จริงแล้วทายถูกครบหรือเปล่า ? </a:t>
            </a:r>
            <a:b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หรือมองว่า ตอบถูกได้ครบถ้วนขนาดไหน ?</a:t>
            </a:r>
            <a:endParaRPr lang="en-US" sz="2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 Precision = ทำให้</a:t>
            </a:r>
            <a:r>
              <a:rPr lang="th-TH" sz="2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คัดตัวที่ทายผิดออกไปเยอะขึ้น</a:t>
            </a:r>
          </a:p>
        </p:txBody>
      </p:sp>
      <p:pic>
        <p:nvPicPr>
          <p:cNvPr id="17" name="Picture 8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E44CE49B-D113-752F-2BC7-17C957EC11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36" t="23351" r="56484" b="55135"/>
          <a:stretch/>
        </p:blipFill>
        <p:spPr>
          <a:xfrm>
            <a:off x="5111570" y="1965176"/>
            <a:ext cx="2221162" cy="1743757"/>
          </a:xfrm>
          <a:prstGeom prst="rect">
            <a:avLst/>
          </a:prstGeom>
        </p:spPr>
      </p:pic>
      <p:pic>
        <p:nvPicPr>
          <p:cNvPr id="18" name="Picture 8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99477D2F-9DB9-D7DF-AA18-D75D35E57A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694" t="56216" r="57245" b="18811"/>
          <a:stretch/>
        </p:blipFill>
        <p:spPr>
          <a:xfrm>
            <a:off x="8674537" y="1925323"/>
            <a:ext cx="2329767" cy="2024153"/>
          </a:xfrm>
          <a:prstGeom prst="rect">
            <a:avLst/>
          </a:prstGeom>
        </p:spPr>
      </p:pic>
      <p:pic>
        <p:nvPicPr>
          <p:cNvPr id="19" name="Picture 8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8852DB2F-05F4-3351-5C70-8FEB4AE9D7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125" t="58648" r="57652" b="35377"/>
          <a:stretch/>
        </p:blipFill>
        <p:spPr>
          <a:xfrm>
            <a:off x="7956330" y="445115"/>
            <a:ext cx="691908" cy="94651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D2002AA-93D7-9CAE-339C-5ABAC9CE12EE}"/>
              </a:ext>
            </a:extLst>
          </p:cNvPr>
          <p:cNvSpPr txBox="1"/>
          <p:nvPr/>
        </p:nvSpPr>
        <p:spPr>
          <a:xfrm>
            <a:off x="8434551" y="73572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b="1">
                <a:latin typeface="TH Sarabun New" panose="020B0500040200020003" pitchFamily="34" charset="-34"/>
                <a:cs typeface="TH Sarabun New" panose="020B0500040200020003" pitchFamily="34" charset="-34"/>
              </a:rPr>
              <a:t>สนใจกล่องสีแดง </a:t>
            </a:r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= True Positive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E072E89-7BE9-1A62-D0A0-139B1371BB7D}"/>
              </a:ext>
            </a:extLst>
          </p:cNvPr>
          <p:cNvCxnSpPr/>
          <p:nvPr/>
        </p:nvCxnSpPr>
        <p:spPr>
          <a:xfrm>
            <a:off x="7673009" y="2872655"/>
            <a:ext cx="884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B5333CB-1F1D-B9DA-708C-AF632E558529}"/>
              </a:ext>
            </a:extLst>
          </p:cNvPr>
          <p:cNvSpPr txBox="1"/>
          <p:nvPr/>
        </p:nvSpPr>
        <p:spPr>
          <a:xfrm>
            <a:off x="7793737" y="2375389"/>
            <a:ext cx="643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latin typeface="TH Sarabun New" panose="020B0500040200020003" pitchFamily="34" charset="-34"/>
                <a:cs typeface="TH Sarabun New" panose="020B0500040200020003" pitchFamily="34" charset="-34"/>
              </a:rPr>
              <a:t>INCREASE</a:t>
            </a:r>
            <a:br>
              <a:rPr lang="en-US" sz="1200" b="1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1200" b="1">
                <a:latin typeface="TH Sarabun New" panose="020B0500040200020003" pitchFamily="34" charset="-34"/>
                <a:cs typeface="TH Sarabun New" panose="020B0500040200020003" pitchFamily="34" charset="-34"/>
              </a:rPr>
              <a:t>RECALL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5C38C0-7536-2CD3-D518-DA508D33929F}"/>
              </a:ext>
            </a:extLst>
          </p:cNvPr>
          <p:cNvCxnSpPr/>
          <p:nvPr/>
        </p:nvCxnSpPr>
        <p:spPr>
          <a:xfrm>
            <a:off x="7591061" y="5577341"/>
            <a:ext cx="884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975FD0-0FE4-BAE0-8572-72E12C548295}"/>
              </a:ext>
            </a:extLst>
          </p:cNvPr>
          <p:cNvSpPr txBox="1"/>
          <p:nvPr/>
        </p:nvSpPr>
        <p:spPr>
          <a:xfrm>
            <a:off x="7690950" y="5080075"/>
            <a:ext cx="684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latin typeface="TH Sarabun New" panose="020B0500040200020003" pitchFamily="34" charset="-34"/>
                <a:cs typeface="TH Sarabun New" panose="020B0500040200020003" pitchFamily="34" charset="-34"/>
              </a:rPr>
              <a:t>INCREASE</a:t>
            </a:r>
            <a:br>
              <a:rPr lang="en-US" sz="1200" b="1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1200" b="1">
                <a:latin typeface="TH Sarabun New" panose="020B0500040200020003" pitchFamily="34" charset="-34"/>
                <a:cs typeface="TH Sarabun New" panose="020B0500040200020003" pitchFamily="34" charset="-34"/>
              </a:rPr>
              <a:t>PRECISION</a:t>
            </a:r>
          </a:p>
        </p:txBody>
      </p:sp>
      <p:pic>
        <p:nvPicPr>
          <p:cNvPr id="9" name="Picture 8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F98C4E71-C1D0-C240-3215-3ADFF7A90C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36" t="23351" r="56484" b="55135"/>
          <a:stretch/>
        </p:blipFill>
        <p:spPr>
          <a:xfrm>
            <a:off x="5111570" y="4509118"/>
            <a:ext cx="2221162" cy="174375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97EC00-3A09-E2C4-252C-3C031034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78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CC9A-A8A4-4BEB-4B9B-80DEA202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 @ K in Visual Place Recognition </a:t>
            </a:r>
            <a:br>
              <a:rPr lang="en-US"/>
            </a:br>
            <a:r>
              <a:rPr lang="en-US"/>
              <a:t>VS Information Retrieval </a:t>
            </a:r>
            <a:r>
              <a:rPr lang="th-TH"/>
              <a:t>ไม่เหมือนกันเฉยเลย เมื่อ </a:t>
            </a:r>
            <a:r>
              <a:rPr lang="en-US"/>
              <a:t>Candidate = 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39366-5EE2-281E-CF99-924D00FA0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Information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882A2-0BC2-D2F1-544A-BE5305BC2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1661976"/>
          </a:xfrm>
        </p:spPr>
        <p:txBody>
          <a:bodyPr/>
          <a:lstStyle/>
          <a:p>
            <a:r>
              <a:rPr lang="en-US"/>
              <a:t>Recall </a:t>
            </a:r>
            <a:r>
              <a:rPr lang="th-TH"/>
              <a:t>ตาม </a:t>
            </a:r>
            <a:r>
              <a:rPr lang="en-US"/>
              <a:t>Information Retrieval </a:t>
            </a:r>
            <a:r>
              <a:rPr lang="th-TH"/>
              <a:t>จะคิดตามอัตราส่วนของ </a:t>
            </a:r>
            <a:br>
              <a:rPr lang="th-TH"/>
            </a:br>
            <a:r>
              <a:rPr lang="th-TH"/>
              <a:t>ตัวถูกที่เราเจอ </a:t>
            </a:r>
            <a:r>
              <a:rPr lang="en-US"/>
              <a:t>So </a:t>
            </a:r>
            <a:r>
              <a:rPr lang="en-US" err="1"/>
              <a:t>Far@Rank</a:t>
            </a:r>
            <a:r>
              <a:rPr lang="en-US"/>
              <a:t> K / </a:t>
            </a:r>
            <a:r>
              <a:rPr lang="th-TH"/>
              <a:t>ปริมาณตัวถูกที่ควรจะเจอทั้งหมดในบรรดา </a:t>
            </a:r>
            <a:r>
              <a:rPr lang="en-US"/>
              <a:t>N </a:t>
            </a:r>
            <a:r>
              <a:rPr lang="th-TH"/>
              <a:t>ตัว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7A1271-65FD-FA1A-983C-BCA245E13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0397" y="1681163"/>
            <a:ext cx="5183188" cy="823912"/>
          </a:xfrm>
        </p:spPr>
        <p:txBody>
          <a:bodyPr/>
          <a:lstStyle/>
          <a:p>
            <a:r>
              <a:rPr lang="en-US">
                <a:solidFill>
                  <a:srgbClr val="92D050"/>
                </a:solidFill>
              </a:rPr>
              <a:t>Visual Place Recognition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F31132-577C-9981-C0B5-F01F8BA37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0397" y="2505075"/>
            <a:ext cx="5183188" cy="1661976"/>
          </a:xfrm>
        </p:spPr>
        <p:txBody>
          <a:bodyPr/>
          <a:lstStyle/>
          <a:p>
            <a:r>
              <a:rPr lang="th-TH"/>
              <a:t>แต่ในงาน </a:t>
            </a:r>
            <a:r>
              <a:rPr lang="en-US"/>
              <a:t>Visual Place Recognition </a:t>
            </a:r>
            <a:r>
              <a:rPr lang="th-TH"/>
              <a:t>จะถือว่า  </a:t>
            </a:r>
            <a:r>
              <a:rPr lang="en-US"/>
              <a:t>Query </a:t>
            </a:r>
            <a:r>
              <a:rPr lang="th-TH"/>
              <a:t>นี้ ตอบถูก </a:t>
            </a:r>
            <a:r>
              <a:rPr lang="en-US"/>
              <a:t>= 1.0 </a:t>
            </a:r>
            <a:r>
              <a:rPr lang="th-TH"/>
              <a:t>เลย ถ้าเจอคำตอบในบรรดา </a:t>
            </a:r>
            <a:r>
              <a:rPr lang="en-US"/>
              <a:t>Rank K </a:t>
            </a:r>
            <a:r>
              <a:rPr lang="th-TH"/>
              <a:t>แค่ 1 ตัวถูก ก็พอ 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42DD5-524D-3E8B-AA11-637CF584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D9B18925-F794-699A-4CA8-6A674734E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624" y="3879987"/>
            <a:ext cx="5454179" cy="1463188"/>
          </a:xfrm>
          <a:prstGeom prst="rect">
            <a:avLst/>
          </a:prstGeom>
        </p:spPr>
      </p:pic>
      <p:pic>
        <p:nvPicPr>
          <p:cNvPr id="11" name="Picture 10">
            <a:hlinkClick r:id="rId5"/>
            <a:extLst>
              <a:ext uri="{FF2B5EF4-FFF2-40B4-BE49-F238E27FC236}">
                <a16:creationId xmlns:a16="http://schemas.microsoft.com/office/drawing/2014/main" id="{2EF3D6F0-C2F5-9C6B-EAC0-36997D9DE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486" y="5358526"/>
            <a:ext cx="5053010" cy="11343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BC80CB-914B-2491-4843-B277B14283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18" y="4167051"/>
            <a:ext cx="3741478" cy="25740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C94F26-1044-43E9-6A70-02DF00ECE2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696" y="4825910"/>
            <a:ext cx="2396285" cy="184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246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 Sarabun New ALL">
      <a:majorFont>
        <a:latin typeface="TH Sarabun New"/>
        <a:ea typeface=""/>
        <a:cs typeface="TH Sarabun New"/>
      </a:majorFont>
      <a:minorFont>
        <a:latin typeface="TH Sarabun New"/>
        <a:ea typeface=""/>
        <a:cs typeface="TH Sarabun New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3790</Words>
  <Application>Microsoft Office PowerPoint</Application>
  <PresentationFormat>Widescreen</PresentationFormat>
  <Paragraphs>578</Paragraphs>
  <Slides>38</Slides>
  <Notes>30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Cambria Math</vt:lpstr>
      <vt:lpstr>TH Sarabun New</vt:lpstr>
      <vt:lpstr>TH SarabunPSK</vt:lpstr>
      <vt:lpstr>office theme</vt:lpstr>
      <vt:lpstr>VISUAL PLACE RECOGNITION FOR AN INDOOR MOBILE ROBOT USING AN OMNIDIRECTIONAL CAMERA</vt:lpstr>
      <vt:lpstr>INTRODUCTION</vt:lpstr>
      <vt:lpstr>PowerPoint Presentation</vt:lpstr>
      <vt:lpstr>WIDER VISUAL CONTEXT - LOCALIZATION</vt:lpstr>
      <vt:lpstr>WHERE ARE WE ?</vt:lpstr>
      <vt:lpstr>Problem Statement</vt:lpstr>
      <vt:lpstr>RELATED WORKS (LITERATURE REVIEW)</vt:lpstr>
      <vt:lpstr>VISUAL PLACE RECOGNITION</vt:lpstr>
      <vt:lpstr>VISUAL PLACE RECOGNITION PIPELINE</vt:lpstr>
      <vt:lpstr>Related Work Neural Network-Based Long-Term Place Recognition from Omni-Images</vt:lpstr>
      <vt:lpstr>Related Work Leveraging Deep Visual Descriptors for Hierarchical Efficient Localization</vt:lpstr>
      <vt:lpstr>Related Work CFVL: A Coarse-to-Fine Vehicle Localizer with Omnidirectional Perception across Severe Appearance Variations</vt:lpstr>
      <vt:lpstr>Global Descriptor</vt:lpstr>
      <vt:lpstr>NetVLAD – Trainable VLAD</vt:lpstr>
      <vt:lpstr>NetVLAD – Structure &amp; Loss Function</vt:lpstr>
      <vt:lpstr>Literature Review Overview</vt:lpstr>
      <vt:lpstr>Research Objective</vt:lpstr>
      <vt:lpstr>METHODOLOGY</vt:lpstr>
      <vt:lpstr>Scope</vt:lpstr>
      <vt:lpstr>Dataset Example</vt:lpstr>
      <vt:lpstr>Preliminary Experiment</vt:lpstr>
      <vt:lpstr>PowerPoint Presentation</vt:lpstr>
      <vt:lpstr>Evaluation – Visual Place Recognition (Information Retrieval)</vt:lpstr>
      <vt:lpstr>Research Overview</vt:lpstr>
      <vt:lpstr>Hypothesis</vt:lpstr>
      <vt:lpstr>Experiment 1</vt:lpstr>
      <vt:lpstr>Experiment 2</vt:lpstr>
      <vt:lpstr>Experiment 3</vt:lpstr>
      <vt:lpstr>Experiment 4</vt:lpstr>
      <vt:lpstr>Experiment 5</vt:lpstr>
      <vt:lpstr>PLANNING</vt:lpstr>
      <vt:lpstr>PLANNING</vt:lpstr>
      <vt:lpstr>THANK YOU</vt:lpstr>
      <vt:lpstr>FOOTNOTES</vt:lpstr>
      <vt:lpstr>Global Descriptor Extraction – Bag of Visual Words</vt:lpstr>
      <vt:lpstr>Visual Place Recognition - Evaluation</vt:lpstr>
      <vt:lpstr>Visual Place Recognition - Evaluation</vt:lpstr>
      <vt:lpstr>Recall @ K in Visual Place Recognition  VS Information Retrieval ไม่เหมือนกันเฉยเลย เมื่อ Candidate = 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Theppasith Nisitsukcharoen</dc:creator>
  <cp:lastModifiedBy>Theppasith Nisitsukcharoen</cp:lastModifiedBy>
  <cp:revision>1</cp:revision>
  <dcterms:created xsi:type="dcterms:W3CDTF">2013-07-15T20:26:40Z</dcterms:created>
  <dcterms:modified xsi:type="dcterms:W3CDTF">2025-06-24T00:17:03Z</dcterms:modified>
</cp:coreProperties>
</file>